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3da0915ae9456c" /><Relationship Type="http://schemas.openxmlformats.org/officeDocument/2006/relationships/extended-properties" Target="/docProps/app.xml" Id="R4ddb6731c5394eed" /><Relationship Type="http://schemas.openxmlformats.org/officeDocument/2006/relationships/officeDocument" Target="/ppt/presentation.xml" Id="R24c994c1c6ca4c6a" /></Relationships>
</file>

<file path=ppt/presentation.xml><?xml version="1.0" encoding="utf-8"?>
<p:presentation xmlns:p="http://schemas.openxmlformats.org/presentationml/2006/main">
  <p:sldMasterIdLst>
    <p:sldMasterId xmlns:r="http://schemas.openxmlformats.org/officeDocument/2006/relationships" id="2147483648" r:id="R7c82ed5dacdf4ee2"/>
  </p:sldMasterIdLst>
  <p:notesMasterIdLst>
    <p:notesMasterId xmlns:r="http://schemas.openxmlformats.org/officeDocument/2006/relationships" r:id="Rc6491179baac4731"/>
  </p:notesMasterIdLst>
  <p:sldIdLst>
    <p:sldId xmlns:r="http://schemas.openxmlformats.org/officeDocument/2006/relationships" id="256" r:id="R96a71879de0243be"/>
    <p:sldId xmlns:r="http://schemas.openxmlformats.org/officeDocument/2006/relationships" id="257" r:id="R358d82fa986d4322"/>
    <p:sldId xmlns:r="http://schemas.openxmlformats.org/officeDocument/2006/relationships" id="258" r:id="R58766a31063c40ff"/>
    <p:sldId xmlns:r="http://schemas.openxmlformats.org/officeDocument/2006/relationships" id="259" r:id="R0d66ab0ee85f4f27"/>
    <p:sldId xmlns:r="http://schemas.openxmlformats.org/officeDocument/2006/relationships" id="260" r:id="R3e1caf0ee30e4a38"/>
    <p:sldId xmlns:r="http://schemas.openxmlformats.org/officeDocument/2006/relationships" id="261" r:id="Rc9e2d17ea23d49f2"/>
    <p:sldId xmlns:r="http://schemas.openxmlformats.org/officeDocument/2006/relationships" id="262" r:id="R104ec6ee9c334a97"/>
    <p:sldId xmlns:r="http://schemas.openxmlformats.org/officeDocument/2006/relationships" id="263" r:id="R56668e4b537b492d"/>
    <p:sldId xmlns:r="http://schemas.openxmlformats.org/officeDocument/2006/relationships" id="264" r:id="Rc0d8d6e012f94a70"/>
    <p:sldId xmlns:r="http://schemas.openxmlformats.org/officeDocument/2006/relationships" id="265" r:id="Rd6beabbfda5e4bb7"/>
    <p:sldId xmlns:r="http://schemas.openxmlformats.org/officeDocument/2006/relationships" id="266" r:id="Rc841613697d34c55"/>
    <p:sldId xmlns:r="http://schemas.openxmlformats.org/officeDocument/2006/relationships" id="267" r:id="R05edc500e2ec4183"/>
    <p:sldId xmlns:r="http://schemas.openxmlformats.org/officeDocument/2006/relationships" id="268" r:id="R16a03d6e0e514513"/>
    <p:sldId xmlns:r="http://schemas.openxmlformats.org/officeDocument/2006/relationships" id="269" r:id="R175c89a7b43542df"/>
    <p:sldId xmlns:r="http://schemas.openxmlformats.org/officeDocument/2006/relationships" id="270" r:id="Rda449a5bfd214e89"/>
    <p:sldId xmlns:r="http://schemas.openxmlformats.org/officeDocument/2006/relationships" id="271" r:id="R817de379c2424859"/>
    <p:sldId xmlns:r="http://schemas.openxmlformats.org/officeDocument/2006/relationships" id="272" r:id="Rc431ee77e5ed4d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3104813da544bd" /><Relationship Type="http://schemas.openxmlformats.org/officeDocument/2006/relationships/slideMaster" Target="/ppt/slideMasters/slideMaster1.xml" Id="R7c82ed5dacdf4ee2" /><Relationship Type="http://schemas.openxmlformats.org/officeDocument/2006/relationships/notesMaster" Target="/ppt/notesMasters/notesMaster1.xml" Id="Rc6491179baac4731" /><Relationship Type="http://schemas.openxmlformats.org/officeDocument/2006/relationships/presProps" Target="/ppt/presProps.xml" Id="R55973c0039374c86" /><Relationship Type="http://schemas.openxmlformats.org/officeDocument/2006/relationships/tableStyles" Target="/ppt/tableStyles.xml" Id="R4ec003ce892848f5" /><Relationship Type="http://schemas.openxmlformats.org/officeDocument/2006/relationships/slide" Target="/ppt/slides/slide1.xml" Id="R96a71879de0243be" /><Relationship Type="http://schemas.openxmlformats.org/officeDocument/2006/relationships/slide" Target="/ppt/slides/slide2.xml" Id="R358d82fa986d4322" /><Relationship Type="http://schemas.openxmlformats.org/officeDocument/2006/relationships/slide" Target="/ppt/slides/slide3.xml" Id="R58766a31063c40ff" /><Relationship Type="http://schemas.openxmlformats.org/officeDocument/2006/relationships/slide" Target="/ppt/slides/slide4.xml" Id="R0d66ab0ee85f4f27" /><Relationship Type="http://schemas.openxmlformats.org/officeDocument/2006/relationships/slide" Target="/ppt/slides/slide5.xml" Id="R3e1caf0ee30e4a38" /><Relationship Type="http://schemas.openxmlformats.org/officeDocument/2006/relationships/slide" Target="/ppt/slides/slide6.xml" Id="Rc9e2d17ea23d49f2" /><Relationship Type="http://schemas.openxmlformats.org/officeDocument/2006/relationships/slide" Target="/ppt/slides/slide7.xml" Id="R104ec6ee9c334a97" /><Relationship Type="http://schemas.openxmlformats.org/officeDocument/2006/relationships/slide" Target="/ppt/slides/slide8.xml" Id="R56668e4b537b492d" /><Relationship Type="http://schemas.openxmlformats.org/officeDocument/2006/relationships/slide" Target="/ppt/slides/slide9.xml" Id="Rc0d8d6e012f94a70" /><Relationship Type="http://schemas.openxmlformats.org/officeDocument/2006/relationships/slide" Target="/ppt/slides/slide10.xml" Id="Rd6beabbfda5e4bb7" /><Relationship Type="http://schemas.openxmlformats.org/officeDocument/2006/relationships/slide" Target="/ppt/slides/slide11.xml" Id="Rc841613697d34c55" /><Relationship Type="http://schemas.openxmlformats.org/officeDocument/2006/relationships/slide" Target="/ppt/slides/slide12.xml" Id="R05edc500e2ec4183" /><Relationship Type="http://schemas.openxmlformats.org/officeDocument/2006/relationships/slide" Target="/ppt/slides/slide13.xml" Id="R16a03d6e0e514513" /><Relationship Type="http://schemas.openxmlformats.org/officeDocument/2006/relationships/slide" Target="/ppt/slides/slide14.xml" Id="R175c89a7b43542df" /><Relationship Type="http://schemas.openxmlformats.org/officeDocument/2006/relationships/slide" Target="/ppt/slides/slide15.xml" Id="Rda449a5bfd214e89" /><Relationship Type="http://schemas.openxmlformats.org/officeDocument/2006/relationships/slide" Target="/ppt/slides/slide16.xml" Id="R817de379c2424859" /><Relationship Type="http://schemas.openxmlformats.org/officeDocument/2006/relationships/slide" Target="/ppt/slides/slide17.xml" Id="Rc431ee77e5ed4d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5a4cb1f3954b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58ebbb54d94ad0" /><Relationship Type="http://schemas.openxmlformats.org/officeDocument/2006/relationships/notesMaster" Target="/ppt/notesMasters/notesMaster1.xml" Id="R98d4670757c247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032300d141d492b" /><Relationship Type="http://schemas.openxmlformats.org/officeDocument/2006/relationships/notesMaster" Target="/ppt/notesMasters/notesMaster1.xml" Id="Rfc328b93eb6340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c9e0b1776d4533" /><Relationship Type="http://schemas.openxmlformats.org/officeDocument/2006/relationships/notesMaster" Target="/ppt/notesMasters/notesMaster1.xml" Id="R8d8dfac5f4ae4e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eef0b21c1f461b" /><Relationship Type="http://schemas.openxmlformats.org/officeDocument/2006/relationships/notesMaster" Target="/ppt/notesMasters/notesMaster1.xml" Id="Ra2325e363a1944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eaffcaa2a84bff" /><Relationship Type="http://schemas.openxmlformats.org/officeDocument/2006/relationships/notesMaster" Target="/ppt/notesMasters/notesMaster1.xml" Id="R78bbc17f5ed943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d8d0b0eca4421e" /><Relationship Type="http://schemas.openxmlformats.org/officeDocument/2006/relationships/notesMaster" Target="/ppt/notesMasters/notesMaster1.xml" Id="Rdb3d6345cbd14b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5ad2712d8d4a3a" /><Relationship Type="http://schemas.openxmlformats.org/officeDocument/2006/relationships/notesMaster" Target="/ppt/notesMasters/notesMaster1.xml" Id="R4cfb5d2dfc6048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1e441b11b643bb" /><Relationship Type="http://schemas.openxmlformats.org/officeDocument/2006/relationships/notesMaster" Target="/ppt/notesMasters/notesMaster1.xml" Id="R3a517872ccfc46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6402e082e9493d" /><Relationship Type="http://schemas.openxmlformats.org/officeDocument/2006/relationships/notesMaster" Target="/ppt/notesMasters/notesMaster1.xml" Id="R551a5c3372654f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a4ef10a99364e5c" /><Relationship Type="http://schemas.openxmlformats.org/officeDocument/2006/relationships/notesMaster" Target="/ppt/notesMasters/notesMaster1.xml" Id="R9caac0b94eaf4c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17a84402ef4de9" /><Relationship Type="http://schemas.openxmlformats.org/officeDocument/2006/relationships/notesMaster" Target="/ppt/notesMasters/notesMaster1.xml" Id="Rb0f79fc78918447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cc10d89c254a7e" /><Relationship Type="http://schemas.openxmlformats.org/officeDocument/2006/relationships/notesMaster" Target="/ppt/notesMasters/notesMaster1.xml" Id="Rfa669ec85c65436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7ccb015ca5494a" /><Relationship Type="http://schemas.openxmlformats.org/officeDocument/2006/relationships/notesMaster" Target="/ppt/notesMasters/notesMaster1.xml" Id="R5d1c9ef3a95443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8119b41d524cfc" /><Relationship Type="http://schemas.openxmlformats.org/officeDocument/2006/relationships/notesMaster" Target="/ppt/notesMasters/notesMaster1.xml" Id="R45a72284b7f045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6c719b619e4c1c" /><Relationship Type="http://schemas.openxmlformats.org/officeDocument/2006/relationships/notesMaster" Target="/ppt/notesMasters/notesMaster1.xml" Id="R4cf223d08a38434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d274530d38c4f1f" /><Relationship Type="http://schemas.openxmlformats.org/officeDocument/2006/relationships/notesMaster" Target="/ppt/notesMasters/notesMaster1.xml" Id="R132a6e623ddd4bf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e48b2786af441d3" /><Relationship Type="http://schemas.openxmlformats.org/officeDocument/2006/relationships/notesMaster" Target="/ppt/notesMasters/notesMaster1.xml" Id="R24659005107247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title follows the submitted Review 0 screenshot. Student name, roll number and team are intentionally blank because these details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is four-option Java MCQs. Messages and in-app reminders support participants. Each role is authorized on the server. Requirements source: user-provided project specification and GUVI Review 1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docs/ARCHITECTURE.md, SecurityConfig.java, ApiController.java, PlatformService.java, ReportWebConfiguration.java. Both request paths use the same authorized service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src/main/resources/schema.sql. Diagram summarizes key relationships; reminders reference app_users and quizzes, not attempts. Additional user references: attempts.participant_id and reviewed_by, messages.sender_id/recipient_id. All relationships and 8 tables are documented in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excerpts: JdbcStore.insert and PlatformService attempt locking. JdbcTemplate manages JDBC connections/resources and bound queries. schema.sql works with H2 and PostgreSQL; the CI postgres job executes the integration suite against PostgreSQL 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ScoringPolicy.java, MultipleChoiceScoringPolicy.java, QuizScore.java, ReportFormatter.java, TextReportFormatter.java, JdbcStore.java, PerformanceReportServlet.java. These are injected or called by real application paths. Explain exact pass comparison separately from rounded display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application screenshot with local sample data. PerformanceReportServlet.doGet is registered by ReportWebConfiguration. ReportFormatter&lt;Map&lt;String,Object&gt;&gt; produces the text download. Real HTTP tests cover authorized export, anonymous 401, wrong owner 403 and invalid path 404.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captured from the running local app at desktop 1440×1000 and mobile 390×844. Passwords are BCrypt hashed. Public registration always creates a Participant. Creators and other administrators are created by an administrator. Cloud bootstrap uses private environment configuration and disables sample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running app with local sample data. The interface uses ivory, forest and terracotta, editorial typography, and a Three.js cup/books scene. Mobile navigation, touch-sized controls, reduced-motion handling and WebGL fallback are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creator preview for the saved JVM draft. Creator can create/edit own content, submit for admin approval, review participant scores and send messages. Content with attempts cannot be rewritten, preserving historical answer meanings. Rejected content can be revised and resubmitted.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 accounts, including a signup verification account. User deletion is implemented as deactivation to preserve result history. Security changes invalidate existing sessions after the transaction commits. Admin approval, performance and system-alert views are also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sample-data screenshot; displayed results are demonstration records and local test attempts, not a student study or measured learning improvement. Automatic score remains available when a creator adds a manual score and feedback. Leaderboard uses the best completed result per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local mvn test: PlatformIntegrationTest 15, AdminBootstrapTest 2, QuizScoreTest 2, ReportServletIntegrationTest 2; zero failures/errors. CI run: https://github.com/muskanbuilds11/java-online-quiz-platform/actions/runs/38771151801 (H2 and postgres succeeded). Scheduler settles expired attempts every 15 seconds; request-time checks enforce the exact server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user-provided GUVI marking rubric screenshot (codex-clipboard-d167d5dd-661d-44c3-a671-510c4ceb896e.png), Java Web Based Projects section. Maximum = 8 + 10 + 8 + 7 = 33. These are maximum available marks, not awarded or guaranteed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repository: https://github.com/muskanbuilds11/java-online-quiz-platform . Local directory D:/Java-Based-Online-Quiz-Platform. README gives sample account details for local review, run commands and configuration. These credentials are disabled by default in the cloud profile. Presentation and repository must be submitted through the review portal by the student; no portal submission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optional local sample accounts only. Open http://127.0.0.1:8080/ and use Sign in. Sample credentials are documented in README and are disabled by default in the cloud profile. Real deployment credentials must be privately configured; do not reuse these demo passwords for a public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URL intentionally blank. Free hosting research: https://render.com/docs/free and https://neon.com/pricing . Render free web services can sleep after inactivity and have ephemeral local storage; use external PostgreSQL instead of H2 files. Free services have usage limits and are suitable for a project demonstration. Do not claim this project is hosted until a deployment succeeds. See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4d0401cc1c45e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be97424528441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04e4b7448e344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f228b2c32f481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13d39d982f41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52b1d63705146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4DD062-AF33-4B01-8733-EA08218A172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EA105C-3CAC-47D3-B533-A7538F21F5A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C628B9A-977B-4B3F-9D73-C4AA3D2B5E9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FA8844-1C42-4AE7-9F21-D016550E92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D0ED68A-BCA5-4E64-BB01-BBEC22BAC7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B3185B9-7AC7-408A-B36B-17F1207D8B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695CBF-C045-44AD-A024-3680EFBB19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796BF7E-2907-41B4-8365-DFA112B497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2749D7-BC6B-4111-BC4B-1141429A56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3E5165-CEDB-4298-99B4-3A34F63D2F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49fae18df246fd" /><Relationship Type="http://schemas.openxmlformats.org/officeDocument/2006/relationships/slideLayout" Target="/ppt/slideLayouts/slideLayout1.xml" Id="R6886aa3a559e4284" /><Relationship Type="http://schemas.openxmlformats.org/officeDocument/2006/relationships/slideLayout" Target="/ppt/slideLayouts/slideLayout2.xml" Id="Re9de69a3e4874d31" /><Relationship Type="http://schemas.openxmlformats.org/officeDocument/2006/relationships/slideLayout" Target="/ppt/slideLayouts/slideLayout3.xml" Id="R81ecece9debe4d6c" /><Relationship Type="http://schemas.openxmlformats.org/officeDocument/2006/relationships/slideLayout" Target="/ppt/slideLayouts/slideLayout4.xml" Id="Ra5897eaff16341b7" /><Relationship Type="http://schemas.openxmlformats.org/officeDocument/2006/relationships/slideLayout" Target="/ppt/slideLayouts/slideLayout5.xml" Id="R777995d81e864783" /><Relationship Type="http://schemas.openxmlformats.org/officeDocument/2006/relationships/slideLayout" Target="/ppt/slideLayouts/slideLayout6.xml" Id="R2767ade4d7164f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86aa3a559e4284"/>
    <p:sldLayoutId xmlns:r="http://schemas.openxmlformats.org/officeDocument/2006/relationships" id="2147483650" r:id="Re9de69a3e4874d31"/>
    <p:sldLayoutId xmlns:r="http://schemas.openxmlformats.org/officeDocument/2006/relationships" id="2147483651" r:id="R81ecece9debe4d6c"/>
    <p:sldLayoutId xmlns:r="http://schemas.openxmlformats.org/officeDocument/2006/relationships" id="2147483652" r:id="Ra5897eaff16341b7"/>
    <p:sldLayoutId xmlns:r="http://schemas.openxmlformats.org/officeDocument/2006/relationships" id="2147483653" r:id="R777995d81e864783"/>
    <p:sldLayoutId xmlns:r="http://schemas.openxmlformats.org/officeDocument/2006/relationships" id="2147483654" r:id="R2767ade4d7164f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06b16bf5e484b2e" /><Relationship Type="http://schemas.openxmlformats.org/officeDocument/2006/relationships/notesSlide" Target="/ppt/notesSlides/notesSlide1.xml" Id="Rd169e396da3240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13403e9c87d4b91" /><Relationship Type="http://schemas.openxmlformats.org/officeDocument/2006/relationships/notesSlide" Target="/ppt/notesSlides/notesSlide2.xml" Id="R1a8866f95ce14d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646a97ce0f34fa5" /><Relationship Type="http://schemas.openxmlformats.org/officeDocument/2006/relationships/notesSlide" Target="/ppt/notesSlides/notesSlide3.xml" Id="R82c54a32987d48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36513a6661e4bc4" /><Relationship Type="http://schemas.openxmlformats.org/officeDocument/2006/relationships/notesSlide" Target="/ppt/notesSlides/notesSlide4.xml" Id="R6228168f3ed442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74b68c7cd04d1f" /><Relationship Type="http://schemas.openxmlformats.org/officeDocument/2006/relationships/notesSlide" Target="/ppt/notesSlides/notesSlide5.xml" Id="Rf7e9b73d45494b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af0c9a81cd14ea0" /><Relationship Type="http://schemas.openxmlformats.org/officeDocument/2006/relationships/notesSlide" Target="/ppt/notesSlides/notesSlide6.xml" Id="R44043adc98ea4c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429f89ceef4f1c" /><Relationship Type="http://schemas.openxmlformats.org/officeDocument/2006/relationships/image" Target="/ppt/media/image.jpeg" Id="Rf91d8290ef824420" /><Relationship Type="http://schemas.openxmlformats.org/officeDocument/2006/relationships/notesSlide" Target="/ppt/notesSlides/notesSlide7.xml" Id="R9409852ea8c248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e86c8b575a4a1e" /><Relationship Type="http://schemas.openxmlformats.org/officeDocument/2006/relationships/image" Target="/ppt/media/image2.jpeg" Id="Re43903f1247b4db1" /><Relationship Type="http://schemas.openxmlformats.org/officeDocument/2006/relationships/image" Target="/ppt/media/image3.jpeg" Id="Rdec12de8444a465b" /><Relationship Type="http://schemas.openxmlformats.org/officeDocument/2006/relationships/notesSlide" Target="/ppt/notesSlides/notesSlide8.xml" Id="R7979e7bfd27747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c9a8302479e45a7" /><Relationship Type="http://schemas.openxmlformats.org/officeDocument/2006/relationships/image" Target="/ppt/media/image4.jpeg" Id="Rb748791944844647" /><Relationship Type="http://schemas.openxmlformats.org/officeDocument/2006/relationships/image" Target="/ppt/media/image5.jpeg" Id="Rd980bfa5fe794789" /><Relationship Type="http://schemas.openxmlformats.org/officeDocument/2006/relationships/notesSlide" Target="/ppt/notesSlides/notesSlide9.xml" Id="R84b5ffee212946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bdd185a11f408e" /><Relationship Type="http://schemas.openxmlformats.org/officeDocument/2006/relationships/image" Target="/ppt/media/image6.jpeg" Id="Rcce83117c56f4d19" /><Relationship Type="http://schemas.openxmlformats.org/officeDocument/2006/relationships/notesSlide" Target="/ppt/notesSlides/notesSlide10.xml" Id="Rd3b5ee12698148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ff5cfd9464544d9" /><Relationship Type="http://schemas.openxmlformats.org/officeDocument/2006/relationships/image" Target="/ppt/media/image7.jpeg" Id="Rda7c6a3fe30b4869" /><Relationship Type="http://schemas.openxmlformats.org/officeDocument/2006/relationships/notesSlide" Target="/ppt/notesSlides/notesSlide11.xml" Id="R4ddd7ffc29dd4c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ab19bb061f4f41" /><Relationship Type="http://schemas.openxmlformats.org/officeDocument/2006/relationships/image" Target="/ppt/media/image8.jpeg" Id="R6b53e39edb91492e" /><Relationship Type="http://schemas.openxmlformats.org/officeDocument/2006/relationships/notesSlide" Target="/ppt/notesSlides/notesSlide12.xml" Id="Rc412aa4251b045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61bcd0b1a6d4204" /><Relationship Type="http://schemas.openxmlformats.org/officeDocument/2006/relationships/notesSlide" Target="/ppt/notesSlides/notesSlide13.xml" Id="Rc28e00c3b3bd43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5631bf583e4375" /><Relationship Type="http://schemas.openxmlformats.org/officeDocument/2006/relationships/notesSlide" Target="/ppt/notesSlides/notesSlide14.xml" Id="Red872532fcf94c7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ae1e5848e194fe2" /><Relationship Type="http://schemas.openxmlformats.org/officeDocument/2006/relationships/notesSlide" Target="/ppt/notesSlides/notesSlide15.xml" Id="Rbb665047560846f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d029885ce9c41e6" /><Relationship Type="http://schemas.openxmlformats.org/officeDocument/2006/relationships/notesSlide" Target="/ppt/notesSlides/notesSlide16.xml" Id="R42e91f24da1b4a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7caeda53e234698" /><Relationship Type="http://schemas.openxmlformats.org/officeDocument/2006/relationships/notesSlide" Target="/ppt/notesSlides/notesSlide17.xml" Id="R8662386d70854ac0" /></Relationships>
</file>

<file path=ppt/slides/slide1.xml><?xml version="1.0" encoding="utf-8"?>
<p:sld xmlns:p="http://schemas.openxmlformats.org/presentationml/2006/main">
  <p:cSld>
    <p:bg>
      <p:bgPr>
        <a:solidFill xmlns:a="http://schemas.openxmlformats.org/drawingml/2006/main">
          <a:srgbClr val="253F3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B26374-FF7B-4544-AF7D-15FE17DC6F36}"/>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E2E8D8"/>
                </a:solidFill>
                <a:latin typeface="Arial"/>
                <a:ea typeface="Arial"/>
                <a:cs typeface="Arial"/>
              </a:defRPr>
            </a:defPPr>
          </a:lstStyle>
          <a:p xmlns:a="http://schemas.openxmlformats.org/drawingml/2006/main">
            <a:pPr>
              <a:defRPr sz="1425" b="1">
                <a:solidFill>
                  <a:srgbClr val="E2E8D8"/>
                </a:solidFill>
                <a:latin typeface="Arial"/>
                <a:ea typeface="Arial"/>
                <a:cs typeface="Arial"/>
              </a:defRPr>
            </a:pPr>
            <a:r>
              <a:rPr sz="1425" b="1">
                <a:solidFill>
                  <a:srgbClr val="E2E8D8"/>
                </a:solidFill>
                <a:latin typeface="Arial"/>
                <a:ea typeface="Arial"/>
                <a:cs typeface="Arial"/>
              </a:rPr>
              <a:t>JAVA WEB PROJECT  /  REVIEW 1</a:t>
            </a:r>
          </a:p>
        </p:txBody>
      </p:sp>
      <p:sp>
        <p:nvSpPr>
          <p:cNvPr id="2" name="">
            <a:extLst xmlns:a="http://schemas.openxmlformats.org/drawingml/2006/main">
              <a:ext uri="{FF2B5EF4-FFF2-40B4-BE49-F238E27FC236}">
                <a16:creationId xmlns:a16="http://schemas.microsoft.com/office/drawing/2014/main" id="{68DEE4CF-89C1-4221-8499-1F5ABBFD861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QUIZNOVA  /  JAVA PRACTICE STUDIO</a:t>
            </a:r>
          </a:p>
        </p:txBody>
      </p:sp>
      <p:sp>
        <p:nvSpPr>
          <p:cNvPr id="3" name="">
            <a:extLst xmlns:a="http://schemas.openxmlformats.org/drawingml/2006/main">
              <a:ext uri="{FF2B5EF4-FFF2-40B4-BE49-F238E27FC236}">
                <a16:creationId xmlns:a16="http://schemas.microsoft.com/office/drawing/2014/main" id="{30897945-0268-4A6E-BEA8-0C63066E8A41}"/>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C14C56DA-1B27-456E-91F8-B26814CF4FE9}"/>
              </a:ext>
            </a:extLst>
          </p:cNvPr>
          <p:cNvSpPr>
            <a:spLocks xmlns:a="http://schemas.openxmlformats.org/drawingml/2006/main" noGrp="1"/>
          </p:cNvSpPr>
          <p:nvPr/>
        </p:nvSpPr>
        <p:spPr>
          <a:xfrm xmlns:a="http://schemas.openxmlformats.org/drawingml/2006/main">
            <a:off x="609600" y="15525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0">
                <a:solidFill>
                  <a:srgbClr val="F5F2E9"/>
                </a:solidFill>
                <a:latin typeface="Georgia"/>
                <a:ea typeface="Georgia"/>
                <a:cs typeface="Georgia"/>
              </a:defRPr>
            </a:defPPr>
          </a:lstStyle>
          <a:p xmlns:a="http://schemas.openxmlformats.org/drawingml/2006/main">
            <a:pPr>
              <a:defRPr sz="7050" b="0">
                <a:solidFill>
                  <a:srgbClr val="F5F2E9"/>
                </a:solidFill>
                <a:latin typeface="Georgia"/>
                <a:ea typeface="Georgia"/>
                <a:cs typeface="Georgia"/>
              </a:defRPr>
            </a:pPr>
            <a:r>
              <a:rPr sz="7050" b="0">
                <a:solidFill>
                  <a:srgbClr val="F5F2E9"/>
                </a:solidFill>
                <a:latin typeface="Georgia"/>
                <a:ea typeface="Georgia"/>
                <a:cs typeface="Georgia"/>
              </a:rPr>
              <a:t>QuizNova</a:t>
            </a:r>
          </a:p>
        </p:txBody>
      </p:sp>
      <p:sp>
        <p:nvSpPr>
          <p:cNvPr id="5" name="">
            <a:extLst xmlns:a="http://schemas.openxmlformats.org/drawingml/2006/main">
              <a:ext uri="{FF2B5EF4-FFF2-40B4-BE49-F238E27FC236}">
                <a16:creationId xmlns:a16="http://schemas.microsoft.com/office/drawing/2014/main" id="{1B5CE880-C1DD-4557-976C-2A5201FDEAFE}"/>
              </a:ext>
            </a:extLst>
          </p:cNvPr>
          <p:cNvSpPr>
            <a:spLocks xmlns:a="http://schemas.openxmlformats.org/drawingml/2006/main" noGrp="1"/>
          </p:cNvSpPr>
          <p:nvPr/>
        </p:nvSpPr>
        <p:spPr>
          <a:xfrm xmlns:a="http://schemas.openxmlformats.org/drawingml/2006/main">
            <a:off x="647700" y="2857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5F2E9"/>
                </a:solidFill>
                <a:latin typeface="Georgia"/>
                <a:ea typeface="Georgia"/>
                <a:cs typeface="Georgia"/>
              </a:defRPr>
            </a:defPPr>
          </a:lstStyle>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Java-Based Online Quiz and</a:t>
            </a:r>
          </a:p>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Performance Management System</a:t>
            </a:r>
          </a:p>
        </p:txBody>
      </p:sp>
      <p:sp>
        <p:nvSpPr>
          <p:cNvPr id="6" name="">
            <a:extLst xmlns:a="http://schemas.openxmlformats.org/drawingml/2006/main">
              <a:ext uri="{FF2B5EF4-FFF2-40B4-BE49-F238E27FC236}">
                <a16:creationId xmlns:a16="http://schemas.microsoft.com/office/drawing/2014/main" id="{E0B4DB1E-4712-4216-B539-4D897C8671B9}"/>
              </a:ext>
            </a:extLst>
          </p:cNvPr>
          <p:cNvSpPr>
            <a:spLocks xmlns:a="http://schemas.openxmlformats.org/drawingml/2006/main" noGrp="1"/>
          </p:cNvSpPr>
          <p:nvPr/>
        </p:nvSpPr>
        <p:spPr>
          <a:xfrm xmlns:a="http://schemas.openxmlformats.org/drawingml/2006/main">
            <a:off x="6667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Student name:</a:t>
            </a:r>
          </a:p>
        </p:txBody>
      </p:sp>
      <p:sp>
        <p:nvSpPr>
          <p:cNvPr id="7" name="">
            <a:extLst xmlns:a="http://schemas.openxmlformats.org/drawingml/2006/main">
              <a:ext uri="{FF2B5EF4-FFF2-40B4-BE49-F238E27FC236}">
                <a16:creationId xmlns:a16="http://schemas.microsoft.com/office/drawing/2014/main" id="{98574446-6BF6-47DC-9A54-F2EDC4CD5E7F}"/>
              </a:ext>
            </a:extLst>
          </p:cNvPr>
          <p:cNvSpPr>
            <a:spLocks xmlns:a="http://schemas.openxmlformats.org/drawingml/2006/main" noGrp="1"/>
          </p:cNvSpPr>
          <p:nvPr/>
        </p:nvSpPr>
        <p:spPr>
          <a:xfrm xmlns:a="http://schemas.openxmlformats.org/drawingml/2006/main">
            <a:off x="61912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Roll number:</a:t>
            </a:r>
          </a:p>
        </p:txBody>
      </p:sp>
      <p:sp>
        <p:nvSpPr>
          <p:cNvPr id="8" name="">
            <a:extLst xmlns:a="http://schemas.openxmlformats.org/drawingml/2006/main">
              <a:ext uri="{FF2B5EF4-FFF2-40B4-BE49-F238E27FC236}">
                <a16:creationId xmlns:a16="http://schemas.microsoft.com/office/drawing/2014/main" id="{2D2021EE-6D5B-4CE2-9D9D-8C466E6EFE38}"/>
              </a:ext>
            </a:extLst>
          </p:cNvPr>
          <p:cNvSpPr>
            <a:spLocks xmlns:a="http://schemas.openxmlformats.org/drawingml/2006/main" noGrp="1"/>
          </p:cNvSpPr>
          <p:nvPr/>
        </p:nvSpPr>
        <p:spPr>
          <a:xfrm xmlns:a="http://schemas.openxmlformats.org/drawingml/2006/main">
            <a:off x="666750" y="56007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Team:</a:t>
            </a:r>
          </a:p>
        </p:txBody>
      </p:sp>
    </p:spTree>
    <p:extLst>
      <p:ext uri="{BB962C8B-B14F-4D97-AF65-F5344CB8AC3E}">
        <p14:creationId xmlns:p14="http://schemas.microsoft.com/office/powerpoint/2010/main" val="924175461"/>
      </p:ext>
    </p:extLst>
  </p:cSld>
</p:sld>
</file>

<file path=ppt/slides/slide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F47EDBD-62AB-412A-8870-7D7D2D9FBF3F}"/>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1</a:t>
            </a:r>
          </a:p>
        </p:txBody>
      </p:sp>
      <p:sp>
        <p:nvSpPr>
          <p:cNvPr id="2" name="">
            <a:extLst xmlns:a="http://schemas.openxmlformats.org/drawingml/2006/main">
              <a:ext uri="{FF2B5EF4-FFF2-40B4-BE49-F238E27FC236}">
                <a16:creationId xmlns:a16="http://schemas.microsoft.com/office/drawing/2014/main" id="{F939950D-8136-40C0-9FDE-96C63EFE086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Problem and project scope</a:t>
            </a:r>
          </a:p>
        </p:txBody>
      </p:sp>
      <p:sp>
        <p:nvSpPr>
          <p:cNvPr id="3" name="">
            <a:extLst xmlns:a="http://schemas.openxmlformats.org/drawingml/2006/main">
              <a:ext uri="{FF2B5EF4-FFF2-40B4-BE49-F238E27FC236}">
                <a16:creationId xmlns:a16="http://schemas.microsoft.com/office/drawing/2014/main" id="{822B5EF6-2960-4682-B8C4-74D4EC986F47}"/>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709E6F6D-EDAF-4B25-B537-8DFE31202E8A}"/>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B27B707D-E8E6-41D6-93AE-B129FBBE2593}"/>
              </a:ext>
            </a:extLst>
          </p:cNvPr>
          <p:cNvSpPr>
            <a:spLocks xmlns:a="http://schemas.openxmlformats.org/drawingml/2006/main" noGrp="1"/>
          </p:cNvSpPr>
          <p:nvPr/>
        </p:nvSpPr>
        <p:spPr>
          <a:xfrm xmlns:a="http://schemas.openxmlformats.org/drawingml/2006/main">
            <a:off x="609600"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253F33"/>
                </a:solidFill>
                <a:latin typeface="Georgia"/>
                <a:ea typeface="Georgia"/>
                <a:cs typeface="Georgia"/>
              </a:defRPr>
            </a:defPPr>
          </a:lstStyle>
          <a:p xmlns:a="http://schemas.openxmlformats.org/drawingml/2006/main">
            <a:pPr>
              <a:defRPr sz="2400" b="0">
                <a:solidFill>
                  <a:srgbClr val="253F33"/>
                </a:solidFill>
                <a:latin typeface="Georgia"/>
                <a:ea typeface="Georgia"/>
                <a:cs typeface="Georgia"/>
              </a:defRPr>
            </a:pPr>
            <a:r>
              <a:rPr sz="2400" b="0">
                <a:solidFill>
                  <a:srgbClr val="253F33"/>
                </a:solidFill>
                <a:latin typeface="Georgia"/>
                <a:ea typeface="Georgia"/>
                <a:cs typeface="Georgia"/>
              </a:rPr>
              <a:t>Java practice needs a reliable timer, useful feedback and controlled publishing.</a:t>
            </a:r>
          </a:p>
        </p:txBody>
      </p:sp>
      <p:sp>
        <p:nvSpPr>
          <p:cNvPr id="6" name="">
            <a:extLst xmlns:a="http://schemas.openxmlformats.org/drawingml/2006/main">
              <a:ext uri="{FF2B5EF4-FFF2-40B4-BE49-F238E27FC236}">
                <a16:creationId xmlns:a16="http://schemas.microsoft.com/office/drawing/2014/main" id="{DBDB057B-61B4-4CAE-B260-F4D058DB4043}"/>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Participant</a:t>
            </a:r>
          </a:p>
        </p:txBody>
      </p:sp>
      <p:sp>
        <p:nvSpPr>
          <p:cNvPr id="7" name="">
            <a:extLst xmlns:a="http://schemas.openxmlformats.org/drawingml/2006/main">
              <a:ext uri="{FF2B5EF4-FFF2-40B4-BE49-F238E27FC236}">
                <a16:creationId xmlns:a16="http://schemas.microsoft.com/office/drawing/2014/main" id="{7ACB29D9-414A-4B30-817D-2B74EC2DAFAB}"/>
              </a:ext>
            </a:extLst>
          </p:cNvPr>
          <p:cNvSpPr>
            <a:spLocks xmlns:a="http://schemas.openxmlformats.org/drawingml/2006/main" noGrp="1"/>
          </p:cNvSpPr>
          <p:nvPr/>
        </p:nvSpPr>
        <p:spPr>
          <a:xfrm xmlns:a="http://schemas.openxmlformats.org/drawingml/2006/main">
            <a:off x="609600" y="3190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take approved quizzes, review answers and track performance.</a:t>
            </a:r>
          </a:p>
        </p:txBody>
      </p:sp>
      <p:sp>
        <p:nvSpPr>
          <p:cNvPr id="8" name="">
            <a:extLst xmlns:a="http://schemas.openxmlformats.org/drawingml/2006/main">
              <a:ext uri="{FF2B5EF4-FFF2-40B4-BE49-F238E27FC236}">
                <a16:creationId xmlns:a16="http://schemas.microsoft.com/office/drawing/2014/main" id="{AD0590D6-416A-414E-B4CC-CBC2B27640E3}"/>
              </a:ext>
            </a:extLst>
          </p:cNvPr>
          <p:cNvSpPr>
            <a:spLocks xmlns:a="http://schemas.openxmlformats.org/drawingml/2006/main" noGrp="1"/>
          </p:cNvSpPr>
          <p:nvPr/>
        </p:nvSpPr>
        <p:spPr>
          <a:xfrm xmlns:a="http://schemas.openxmlformats.org/drawingml/2006/main">
            <a:off x="609600" y="3810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Quiz creator</a:t>
            </a:r>
          </a:p>
        </p:txBody>
      </p:sp>
      <p:sp>
        <p:nvSpPr>
          <p:cNvPr id="9" name="">
            <a:extLst xmlns:a="http://schemas.openxmlformats.org/drawingml/2006/main">
              <a:ext uri="{FF2B5EF4-FFF2-40B4-BE49-F238E27FC236}">
                <a16:creationId xmlns:a16="http://schemas.microsoft.com/office/drawing/2014/main" id="{71347DBD-DCB6-4D69-839C-F23BA1C6DD75}"/>
              </a:ext>
            </a:extLst>
          </p:cNvPr>
          <p:cNvSpPr>
            <a:spLocks xmlns:a="http://schemas.openxmlformats.org/drawingml/2006/main" noGrp="1"/>
          </p:cNvSpPr>
          <p:nvPr/>
        </p:nvSpPr>
        <p:spPr>
          <a:xfrm xmlns:a="http://schemas.openxmlformats.org/drawingml/2006/main">
            <a:off x="609600" y="4191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Prepare questions and explanations, submit content and review results.</a:t>
            </a:r>
          </a:p>
        </p:txBody>
      </p:sp>
      <p:sp>
        <p:nvSpPr>
          <p:cNvPr id="10" name="">
            <a:extLst xmlns:a="http://schemas.openxmlformats.org/drawingml/2006/main">
              <a:ext uri="{FF2B5EF4-FFF2-40B4-BE49-F238E27FC236}">
                <a16:creationId xmlns:a16="http://schemas.microsoft.com/office/drawing/2014/main" id="{B4CBE94B-B12B-4545-8CD3-0D5EE401FA3B}"/>
              </a:ext>
            </a:extLst>
          </p:cNvPr>
          <p:cNvSpPr>
            <a:spLocks xmlns:a="http://schemas.openxmlformats.org/drawingml/2006/main" noGrp="1"/>
          </p:cNvSpPr>
          <p:nvPr/>
        </p:nvSpPr>
        <p:spPr>
          <a:xfrm xmlns:a="http://schemas.openxmlformats.org/drawingml/2006/main">
            <a:off x="609600" y="481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Administrator</a:t>
            </a:r>
          </a:p>
        </p:txBody>
      </p:sp>
      <p:sp>
        <p:nvSpPr>
          <p:cNvPr id="11" name="">
            <a:extLst xmlns:a="http://schemas.openxmlformats.org/drawingml/2006/main">
              <a:ext uri="{FF2B5EF4-FFF2-40B4-BE49-F238E27FC236}">
                <a16:creationId xmlns:a16="http://schemas.microsoft.com/office/drawing/2014/main" id="{4489CA5A-90CD-4524-8EC7-2E0EE300BA2B}"/>
              </a:ext>
            </a:extLst>
          </p:cNvPr>
          <p:cNvSpPr>
            <a:spLocks xmlns:a="http://schemas.openxmlformats.org/drawingml/2006/main" noGrp="1"/>
          </p:cNvSpPr>
          <p:nvPr/>
        </p:nvSpPr>
        <p:spPr>
          <a:xfrm xmlns:a="http://schemas.openxmlformats.org/drawingml/2006/main">
            <a:off x="609600" y="5191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Manage accounts and roles, approve content and configure the platform.</a:t>
            </a:r>
          </a:p>
        </p:txBody>
      </p:sp>
    </p:spTree>
    <p:extLst>
      <p:ext uri="{BB962C8B-B14F-4D97-AF65-F5344CB8AC3E}">
        <p14:creationId xmlns:p14="http://schemas.microsoft.com/office/powerpoint/2010/main" val="1687105784"/>
      </p:ext>
    </p:extLst>
  </p:cSld>
</p:sld>
</file>

<file path=ppt/slides/slide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19701E96-7C63-4A11-9F0D-7DA94D7ECE7C}"/>
              </a:ext>
            </a:extLst>
          </p:cNvPr>
          <p:cNvCxnSpPr>
            <a:stCxn xmlns:a="http://schemas.openxmlformats.org/drawingml/2006/main" id="9" idx="3"/>
            <a:endCxn xmlns:a="http://schemas.openxmlformats.org/drawingml/2006/main" id="10" idx="1"/>
          </p:cNvCxnSpPr>
          <p:nvPr/>
        </p:nvCxnSpPr>
        <p:spPr>
          <a:xfrm xmlns:a="http://schemas.openxmlformats.org/drawingml/2006/main">
            <a:off x="5372100" y="5143500"/>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32239288-4B83-4065-A0C2-42E1B532C130}"/>
              </a:ext>
            </a:extLst>
          </p:cNvPr>
          <p:cNvCxnSpPr>
            <a:stCxn xmlns:a="http://schemas.openxmlformats.org/drawingml/2006/main" id="8" idx="1"/>
            <a:endCxn xmlns:a="http://schemas.openxmlformats.org/drawingml/2006/main" id="9" idx="3"/>
          </p:cNvCxnSpPr>
          <p:nvPr/>
        </p:nvCxnSpPr>
        <p:spPr>
          <a:xfrm xmlns:a="http://schemas.openxmlformats.org/drawingml/2006/main" flipH="1">
            <a:off x="5372100" y="3619500"/>
            <a:ext cx="1447800" cy="152400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B36155F0-2135-41D5-A4F5-226582A40F56}"/>
              </a:ext>
            </a:extLst>
          </p:cNvPr>
          <p:cNvCxnSpPr>
            <a:stCxn xmlns:a="http://schemas.openxmlformats.org/drawingml/2006/main" id="7" idx="2"/>
            <a:endCxn xmlns:a="http://schemas.openxmlformats.org/drawingml/2006/main" id="9" idx="0"/>
          </p:cNvCxnSpPr>
          <p:nvPr/>
        </p:nvCxnSpPr>
        <p:spPr>
          <a:xfrm xmlns:a="http://schemas.openxmlformats.org/drawingml/2006/main">
            <a:off x="2990850" y="4000500"/>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A85DA14F-CD12-4A9A-9B64-7AE726621A8E}"/>
              </a:ext>
            </a:extLst>
          </p:cNvPr>
          <p:cNvCxnSpPr>
            <a:stCxn xmlns:a="http://schemas.openxmlformats.org/drawingml/2006/main" id="6" idx="2"/>
            <a:endCxn xmlns:a="http://schemas.openxmlformats.org/drawingml/2006/main" id="8" idx="0"/>
          </p:cNvCxnSpPr>
          <p:nvPr/>
        </p:nvCxnSpPr>
        <p:spPr>
          <a:xfrm xmlns:a="http://schemas.openxmlformats.org/drawingml/2006/main">
            <a:off x="9201150" y="2524125"/>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2" name="">
            <a:extLst xmlns:a="http://schemas.openxmlformats.org/drawingml/2006/main">
              <a:ext uri="{FF2B5EF4-FFF2-40B4-BE49-F238E27FC236}">
                <a16:creationId xmlns:a16="http://schemas.microsoft.com/office/drawing/2014/main" id="{174048FD-FB74-40FD-9F89-892087EA813F}"/>
              </a:ext>
            </a:extLst>
          </p:cNvPr>
          <p:cNvCxnSpPr>
            <a:stCxn xmlns:a="http://schemas.openxmlformats.org/drawingml/2006/main" id="6" idx="1"/>
            <a:endCxn xmlns:a="http://schemas.openxmlformats.org/drawingml/2006/main" id="7" idx="0"/>
          </p:cNvCxnSpPr>
          <p:nvPr/>
        </p:nvCxnSpPr>
        <p:spPr>
          <a:xfrm xmlns:a="http://schemas.openxmlformats.org/drawingml/2006/main" flipH="1">
            <a:off x="2990850" y="2143125"/>
            <a:ext cx="3829050" cy="1095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1" name="">
            <a:extLst xmlns:a="http://schemas.openxmlformats.org/drawingml/2006/main">
              <a:ext uri="{FF2B5EF4-FFF2-40B4-BE49-F238E27FC236}">
                <a16:creationId xmlns:a16="http://schemas.microsoft.com/office/drawing/2014/main" id="{8B722F6E-7991-497D-BD55-9B6A66118419}"/>
              </a:ext>
            </a:extLst>
          </p:cNvPr>
          <p:cNvCxnSpPr>
            <a:stCxn xmlns:a="http://schemas.openxmlformats.org/drawingml/2006/main" id="5" idx="3"/>
            <a:endCxn xmlns:a="http://schemas.openxmlformats.org/drawingml/2006/main" id="6" idx="1"/>
          </p:cNvCxnSpPr>
          <p:nvPr/>
        </p:nvCxnSpPr>
        <p:spPr>
          <a:xfrm xmlns:a="http://schemas.openxmlformats.org/drawingml/2006/main">
            <a:off x="5372100" y="2143125"/>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17" name="">
            <a:extLst xmlns:a="http://schemas.openxmlformats.org/drawingml/2006/main">
              <a:ext uri="{FF2B5EF4-FFF2-40B4-BE49-F238E27FC236}">
                <a16:creationId xmlns:a16="http://schemas.microsoft.com/office/drawing/2014/main" id="{9CA3B858-B337-4D55-8FB7-85BBD155B0D8}"/>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SOLUTION DESIGN</a:t>
            </a:r>
          </a:p>
        </p:txBody>
      </p:sp>
      <p:sp>
        <p:nvSpPr>
          <p:cNvPr id="2" name="">
            <a:extLst xmlns:a="http://schemas.openxmlformats.org/drawingml/2006/main">
              <a:ext uri="{FF2B5EF4-FFF2-40B4-BE49-F238E27FC236}">
                <a16:creationId xmlns:a16="http://schemas.microsoft.com/office/drawing/2014/main" id="{6E0B9825-909A-4119-8D91-316401588565}"/>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Application architecture</a:t>
            </a:r>
          </a:p>
        </p:txBody>
      </p:sp>
      <p:sp>
        <p:nvSpPr>
          <p:cNvPr id="3" name="">
            <a:extLst xmlns:a="http://schemas.openxmlformats.org/drawingml/2006/main">
              <a:ext uri="{FF2B5EF4-FFF2-40B4-BE49-F238E27FC236}">
                <a16:creationId xmlns:a16="http://schemas.microsoft.com/office/drawing/2014/main" id="{21A7DEA3-A69D-4531-BF71-622D89071D63}"/>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AB750B9-B491-4EE4-B124-F794735B87B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4C084FA2-3B6C-43BF-B6DF-ECCB48157942}"/>
              </a:ext>
            </a:extLst>
          </p:cNvPr>
          <p:cNvSpPr>
            <a:spLocks xmlns:a="http://schemas.openxmlformats.org/drawingml/2006/main" noGrp="1"/>
          </p:cNvSpPr>
          <p:nvPr/>
        </p:nvSpPr>
        <p:spPr>
          <a:xfrm xmlns:a="http://schemas.openxmlformats.org/drawingml/2006/main">
            <a:off x="6096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Responsive browser UI</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HTML, CSS, JavaScript, Three.js</a:t>
            </a:r>
          </a:p>
        </p:txBody>
      </p:sp>
      <p:sp>
        <p:nvSpPr>
          <p:cNvPr id="6" name="">
            <a:extLst xmlns:a="http://schemas.openxmlformats.org/drawingml/2006/main">
              <a:ext uri="{FF2B5EF4-FFF2-40B4-BE49-F238E27FC236}">
                <a16:creationId xmlns:a16="http://schemas.microsoft.com/office/drawing/2014/main" id="{D25E672B-960D-4581-B746-012C9C3DBA02}"/>
              </a:ext>
            </a:extLst>
          </p:cNvPr>
          <p:cNvSpPr>
            <a:spLocks xmlns:a="http://schemas.openxmlformats.org/drawingml/2006/main" noGrp="1"/>
          </p:cNvSpPr>
          <p:nvPr/>
        </p:nvSpPr>
        <p:spPr>
          <a:xfrm xmlns:a="http://schemas.openxmlformats.org/drawingml/2006/main">
            <a:off x="68199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Embedded Tomcat + Spring Security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Session, CSRF, role checks</a:t>
            </a:r>
          </a:p>
        </p:txBody>
      </p:sp>
      <p:sp>
        <p:nvSpPr>
          <p:cNvPr id="7" name="">
            <a:extLst xmlns:a="http://schemas.openxmlformats.org/drawingml/2006/main">
              <a:ext uri="{FF2B5EF4-FFF2-40B4-BE49-F238E27FC236}">
                <a16:creationId xmlns:a16="http://schemas.microsoft.com/office/drawing/2014/main" id="{831A7ED7-E60D-44BD-A5C7-233BF049F1B6}"/>
              </a:ext>
            </a:extLst>
          </p:cNvPr>
          <p:cNvSpPr>
            <a:spLocks xmlns:a="http://schemas.openxmlformats.org/drawingml/2006/main" noGrp="1"/>
          </p:cNvSpPr>
          <p:nvPr/>
        </p:nvSpPr>
        <p:spPr>
          <a:xfrm xmlns:a="http://schemas.openxmlformats.org/drawingml/2006/main">
            <a:off x="6096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REST controller</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DispatcherServlet</a:t>
            </a:r>
          </a:p>
        </p:txBody>
      </p:sp>
      <p:sp>
        <p:nvSpPr>
          <p:cNvPr id="8" name="">
            <a:extLst xmlns:a="http://schemas.openxmlformats.org/drawingml/2006/main">
              <a:ext uri="{FF2B5EF4-FFF2-40B4-BE49-F238E27FC236}">
                <a16:creationId xmlns:a16="http://schemas.microsoft.com/office/drawing/2014/main" id="{8DA79A66-9B3A-4958-8648-EE04B8E328D4}"/>
              </a:ext>
            </a:extLst>
          </p:cNvPr>
          <p:cNvSpPr>
            <a:spLocks xmlns:a="http://schemas.openxmlformats.org/drawingml/2006/main" noGrp="1"/>
          </p:cNvSpPr>
          <p:nvPr/>
        </p:nvSpPr>
        <p:spPr>
          <a:xfrm xmlns:a="http://schemas.openxmlformats.org/drawingml/2006/main">
            <a:off x="68199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PerformanceReportServlet</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GET /reports/attempts/{id}</a:t>
            </a:r>
          </a:p>
        </p:txBody>
      </p:sp>
      <p:sp>
        <p:nvSpPr>
          <p:cNvPr id="9" name="">
            <a:extLst xmlns:a="http://schemas.openxmlformats.org/drawingml/2006/main">
              <a:ext uri="{FF2B5EF4-FFF2-40B4-BE49-F238E27FC236}">
                <a16:creationId xmlns:a16="http://schemas.microsoft.com/office/drawing/2014/main" id="{14D49347-4688-45E6-841C-E93BFB4C3731}"/>
              </a:ext>
            </a:extLst>
          </p:cNvPr>
          <p:cNvSpPr>
            <a:spLocks xmlns:a="http://schemas.openxmlformats.org/drawingml/2006/main" noGrp="1"/>
          </p:cNvSpPr>
          <p:nvPr/>
        </p:nvSpPr>
        <p:spPr>
          <a:xfrm xmlns:a="http://schemas.openxmlformats.org/drawingml/2006/main">
            <a:off x="6096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PlatformService + scoring policy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Rules, transactions and ownership</a:t>
            </a:r>
          </a:p>
        </p:txBody>
      </p:sp>
      <p:sp>
        <p:nvSpPr>
          <p:cNvPr id="10" name="">
            <a:extLst xmlns:a="http://schemas.openxmlformats.org/drawingml/2006/main">
              <a:ext uri="{FF2B5EF4-FFF2-40B4-BE49-F238E27FC236}">
                <a16:creationId xmlns:a16="http://schemas.microsoft.com/office/drawing/2014/main" id="{951EAF6B-B18D-4227-87BB-D0CAB00A3CEC}"/>
              </a:ext>
            </a:extLst>
          </p:cNvPr>
          <p:cNvSpPr>
            <a:spLocks xmlns:a="http://schemas.openxmlformats.org/drawingml/2006/main" noGrp="1"/>
          </p:cNvSpPr>
          <p:nvPr/>
        </p:nvSpPr>
        <p:spPr>
          <a:xfrm xmlns:a="http://schemas.openxmlformats.org/drawingml/2006/main">
            <a:off x="68199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JdbcStore → database</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H2 locally / PostgreSQL in cloud</a:t>
            </a:r>
          </a:p>
        </p:txBody>
      </p:sp>
    </p:spTree>
    <p:extLst>
      <p:ext uri="{BB962C8B-B14F-4D97-AF65-F5344CB8AC3E}">
        <p14:creationId xmlns:p14="http://schemas.microsoft.com/office/powerpoint/2010/main" val="2102242652"/>
      </p:ext>
    </p:extLst>
  </p:cSld>
</p:sld>
</file>

<file path=ppt/slides/slide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D652B94A-F07F-417D-AB02-6C5FE184A282}"/>
              </a:ext>
            </a:extLst>
          </p:cNvPr>
          <p:cNvCxnSpPr>
            <a:stCxn xmlns:a="http://schemas.openxmlformats.org/drawingml/2006/main" id="5" idx="3"/>
            <a:endCxn xmlns:a="http://schemas.openxmlformats.org/drawingml/2006/main" id="8" idx="1"/>
          </p:cNvCxnSpPr>
          <p:nvPr/>
        </p:nvCxnSpPr>
        <p:spPr>
          <a:xfrm xmlns:a="http://schemas.openxmlformats.org/drawingml/2006/main">
            <a:off x="3657600" y="2181225"/>
            <a:ext cx="914400" cy="157162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8" name="">
            <a:extLst xmlns:a="http://schemas.openxmlformats.org/drawingml/2006/main">
              <a:ext uri="{FF2B5EF4-FFF2-40B4-BE49-F238E27FC236}">
                <a16:creationId xmlns:a16="http://schemas.microsoft.com/office/drawing/2014/main" id="{020EAE63-9EF4-4515-B2C2-42FDD0E501DD}"/>
              </a:ext>
            </a:extLst>
          </p:cNvPr>
          <p:cNvCxnSpPr>
            <a:stCxn xmlns:a="http://schemas.openxmlformats.org/drawingml/2006/main" id="5" idx="2"/>
            <a:endCxn xmlns:a="http://schemas.openxmlformats.org/drawingml/2006/main" id="10" idx="0"/>
          </p:cNvCxnSpPr>
          <p:nvPr/>
        </p:nvCxnSpPr>
        <p:spPr>
          <a:xfrm xmlns:a="http://schemas.openxmlformats.org/drawingml/2006/main">
            <a:off x="21336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7" name="">
            <a:extLst xmlns:a="http://schemas.openxmlformats.org/drawingml/2006/main">
              <a:ext uri="{FF2B5EF4-FFF2-40B4-BE49-F238E27FC236}">
                <a16:creationId xmlns:a16="http://schemas.microsoft.com/office/drawing/2014/main" id="{A677AF46-0825-4063-97E9-104B307B042A}"/>
              </a:ext>
            </a:extLst>
          </p:cNvPr>
          <p:cNvCxnSpPr>
            <a:stCxn xmlns:a="http://schemas.openxmlformats.org/drawingml/2006/main" id="7" idx="2"/>
            <a:endCxn xmlns:a="http://schemas.openxmlformats.org/drawingml/2006/main" id="9" idx="0"/>
          </p:cNvCxnSpPr>
          <p:nvPr/>
        </p:nvCxnSpPr>
        <p:spPr>
          <a:xfrm xmlns:a="http://schemas.openxmlformats.org/drawingml/2006/main">
            <a:off x="100584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6" name="">
            <a:extLst xmlns:a="http://schemas.openxmlformats.org/drawingml/2006/main">
              <a:ext uri="{FF2B5EF4-FFF2-40B4-BE49-F238E27FC236}">
                <a16:creationId xmlns:a16="http://schemas.microsoft.com/office/drawing/2014/main" id="{1601B8A8-38B8-40BC-BB91-BBCA26B92B54}"/>
              </a:ext>
            </a:extLst>
          </p:cNvPr>
          <p:cNvCxnSpPr>
            <a:stCxn xmlns:a="http://schemas.openxmlformats.org/drawingml/2006/main" id="8" idx="3"/>
            <a:endCxn xmlns:a="http://schemas.openxmlformats.org/drawingml/2006/main" id="9" idx="1"/>
          </p:cNvCxnSpPr>
          <p:nvPr/>
        </p:nvCxnSpPr>
        <p:spPr>
          <a:xfrm xmlns:a="http://schemas.openxmlformats.org/drawingml/2006/main">
            <a:off x="7620000" y="3752850"/>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7451C75B-2C99-455F-98A7-6C0B415E1BFF}"/>
              </a:ext>
            </a:extLst>
          </p:cNvPr>
          <p:cNvCxnSpPr>
            <a:stCxn xmlns:a="http://schemas.openxmlformats.org/drawingml/2006/main" id="6" idx="2"/>
            <a:endCxn xmlns:a="http://schemas.openxmlformats.org/drawingml/2006/main" id="8" idx="0"/>
          </p:cNvCxnSpPr>
          <p:nvPr/>
        </p:nvCxnSpPr>
        <p:spPr>
          <a:xfrm xmlns:a="http://schemas.openxmlformats.org/drawingml/2006/main">
            <a:off x="60960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CF9426D3-3858-461B-8870-6866E8282DDB}"/>
              </a:ext>
            </a:extLst>
          </p:cNvPr>
          <p:cNvCxnSpPr>
            <a:stCxn xmlns:a="http://schemas.openxmlformats.org/drawingml/2006/main" id="6" idx="3"/>
            <a:endCxn xmlns:a="http://schemas.openxmlformats.org/drawingml/2006/main" id="7" idx="1"/>
          </p:cNvCxnSpPr>
          <p:nvPr/>
        </p:nvCxnSpPr>
        <p:spPr>
          <a:xfrm xmlns:a="http://schemas.openxmlformats.org/drawingml/2006/main">
            <a:off x="76200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1E07372F-C1AA-450D-BC9A-1DD340208AA0}"/>
              </a:ext>
            </a:extLst>
          </p:cNvPr>
          <p:cNvCxnSpPr>
            <a:stCxn xmlns:a="http://schemas.openxmlformats.org/drawingml/2006/main" id="5" idx="3"/>
            <a:endCxn xmlns:a="http://schemas.openxmlformats.org/drawingml/2006/main" id="6" idx="1"/>
          </p:cNvCxnSpPr>
          <p:nvPr/>
        </p:nvCxnSpPr>
        <p:spPr>
          <a:xfrm xmlns:a="http://schemas.openxmlformats.org/drawingml/2006/main">
            <a:off x="36576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21" name="">
            <a:extLst xmlns:a="http://schemas.openxmlformats.org/drawingml/2006/main">
              <a:ext uri="{FF2B5EF4-FFF2-40B4-BE49-F238E27FC236}">
                <a16:creationId xmlns:a16="http://schemas.microsoft.com/office/drawing/2014/main" id="{4EF69A2E-5545-4811-9FED-ECFAE8A9825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DESIGN</a:t>
            </a:r>
          </a:p>
        </p:txBody>
      </p:sp>
      <p:sp>
        <p:nvSpPr>
          <p:cNvPr id="2" name="">
            <a:extLst xmlns:a="http://schemas.openxmlformats.org/drawingml/2006/main">
              <a:ext uri="{FF2B5EF4-FFF2-40B4-BE49-F238E27FC236}">
                <a16:creationId xmlns:a16="http://schemas.microsoft.com/office/drawing/2014/main" id="{379B7D99-9DAE-44FA-97BF-09A243896C94}"/>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Database relationships</a:t>
            </a:r>
          </a:p>
        </p:txBody>
      </p:sp>
      <p:sp>
        <p:nvSpPr>
          <p:cNvPr id="3" name="">
            <a:extLst xmlns:a="http://schemas.openxmlformats.org/drawingml/2006/main">
              <a:ext uri="{FF2B5EF4-FFF2-40B4-BE49-F238E27FC236}">
                <a16:creationId xmlns:a16="http://schemas.microsoft.com/office/drawing/2014/main" id="{0DCB0A56-A821-44BE-A0EF-8265536F7BF6}"/>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DF6C542-0697-4C54-B3F2-AB073CB45190}"/>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266EC22D-2E4E-4C31-A6C1-1F8D0E7A8E3D}"/>
              </a:ext>
            </a:extLst>
          </p:cNvPr>
          <p:cNvSpPr>
            <a:spLocks xmlns:a="http://schemas.openxmlformats.org/drawingml/2006/main" noGrp="1"/>
          </p:cNvSpPr>
          <p:nvPr/>
        </p:nvSpPr>
        <p:spPr>
          <a:xfrm xmlns:a="http://schemas.openxmlformats.org/drawingml/2006/main">
            <a:off x="6096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app_users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email UNIQUE</a:t>
            </a:r>
          </a:p>
        </p:txBody>
      </p:sp>
      <p:sp>
        <p:nvSpPr>
          <p:cNvPr id="6" name="">
            <a:extLst xmlns:a="http://schemas.openxmlformats.org/drawingml/2006/main">
              <a:ext uri="{FF2B5EF4-FFF2-40B4-BE49-F238E27FC236}">
                <a16:creationId xmlns:a16="http://schemas.microsoft.com/office/drawing/2014/main" id="{97730043-8E3D-452E-8CFD-C5B5E8A1A27E}"/>
              </a:ext>
            </a:extLst>
          </p:cNvPr>
          <p:cNvSpPr>
            <a:spLocks xmlns:a="http://schemas.openxmlformats.org/drawingml/2006/main" noGrp="1"/>
          </p:cNvSpPr>
          <p:nvPr/>
        </p:nvSpPr>
        <p:spPr>
          <a:xfrm xmlns:a="http://schemas.openxmlformats.org/drawingml/2006/main">
            <a:off x="45720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quizzes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creator_id FK</a:t>
            </a:r>
          </a:p>
        </p:txBody>
      </p:sp>
      <p:sp>
        <p:nvSpPr>
          <p:cNvPr id="7" name="">
            <a:extLst xmlns:a="http://schemas.openxmlformats.org/drawingml/2006/main">
              <a:ext uri="{FF2B5EF4-FFF2-40B4-BE49-F238E27FC236}">
                <a16:creationId xmlns:a16="http://schemas.microsoft.com/office/drawing/2014/main" id="{6F6429F5-8037-45AB-8AAA-FC31A682D22E}"/>
              </a:ext>
            </a:extLst>
          </p:cNvPr>
          <p:cNvSpPr>
            <a:spLocks xmlns:a="http://schemas.openxmlformats.org/drawingml/2006/main" noGrp="1"/>
          </p:cNvSpPr>
          <p:nvPr/>
        </p:nvSpPr>
        <p:spPr>
          <a:xfrm xmlns:a="http://schemas.openxmlformats.org/drawingml/2006/main">
            <a:off x="85344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questions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quiz_id FK</a:t>
            </a:r>
          </a:p>
        </p:txBody>
      </p:sp>
      <p:sp>
        <p:nvSpPr>
          <p:cNvPr id="8" name="">
            <a:extLst xmlns:a="http://schemas.openxmlformats.org/drawingml/2006/main">
              <a:ext uri="{FF2B5EF4-FFF2-40B4-BE49-F238E27FC236}">
                <a16:creationId xmlns:a16="http://schemas.microsoft.com/office/drawing/2014/main" id="{8D50A499-CC59-4008-852B-42C30A2DFC40}"/>
              </a:ext>
            </a:extLst>
          </p:cNvPr>
          <p:cNvSpPr>
            <a:spLocks xmlns:a="http://schemas.openxmlformats.org/drawingml/2006/main" noGrp="1"/>
          </p:cNvSpPr>
          <p:nvPr/>
        </p:nvSpPr>
        <p:spPr>
          <a:xfrm xmlns:a="http://schemas.openxmlformats.org/drawingml/2006/main">
            <a:off x="45720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 · deadline</a:t>
            </a:r>
          </a:p>
        </p:txBody>
      </p:sp>
      <p:sp>
        <p:nvSpPr>
          <p:cNvPr id="9" name="">
            <a:extLst xmlns:a="http://schemas.openxmlformats.org/drawingml/2006/main">
              <a:ext uri="{FF2B5EF4-FFF2-40B4-BE49-F238E27FC236}">
                <a16:creationId xmlns:a16="http://schemas.microsoft.com/office/drawing/2014/main" id="{8C44B5FA-5FCF-4670-B998-87A8954E7368}"/>
              </a:ext>
            </a:extLst>
          </p:cNvPr>
          <p:cNvSpPr>
            <a:spLocks xmlns:a="http://schemas.openxmlformats.org/drawingml/2006/main" noGrp="1"/>
          </p:cNvSpPr>
          <p:nvPr/>
        </p:nvSpPr>
        <p:spPr>
          <a:xfrm xmlns:a="http://schemas.openxmlformats.org/drawingml/2006/main">
            <a:off x="85344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answers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 + question PK/FKs</a:t>
            </a:r>
          </a:p>
        </p:txBody>
      </p:sp>
      <p:sp>
        <p:nvSpPr>
          <p:cNvPr id="10" name="">
            <a:extLst xmlns:a="http://schemas.openxmlformats.org/drawingml/2006/main">
              <a:ext uri="{FF2B5EF4-FFF2-40B4-BE49-F238E27FC236}">
                <a16:creationId xmlns:a16="http://schemas.microsoft.com/office/drawing/2014/main" id="{EE4C8D79-0AF6-48F3-A4EA-D831EAF5F352}"/>
              </a:ext>
            </a:extLst>
          </p:cNvPr>
          <p:cNvSpPr>
            <a:spLocks xmlns:a="http://schemas.openxmlformats.org/drawingml/2006/main" noGrp="1"/>
          </p:cNvSpPr>
          <p:nvPr/>
        </p:nvSpPr>
        <p:spPr>
          <a:xfrm xmlns:a="http://schemas.openxmlformats.org/drawingml/2006/main">
            <a:off x="6096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messages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sender/recipient FKs</a:t>
            </a:r>
          </a:p>
        </p:txBody>
      </p:sp>
      <p:sp>
        <p:nvSpPr>
          <p:cNvPr id="11" name="">
            <a:extLst xmlns:a="http://schemas.openxmlformats.org/drawingml/2006/main">
              <a:ext uri="{FF2B5EF4-FFF2-40B4-BE49-F238E27FC236}">
                <a16:creationId xmlns:a16="http://schemas.microsoft.com/office/drawing/2014/main" id="{FB0351CC-CCC9-4176-9231-EAFAC2B77394}"/>
              </a:ext>
            </a:extLst>
          </p:cNvPr>
          <p:cNvSpPr>
            <a:spLocks xmlns:a="http://schemas.openxmlformats.org/drawingml/2006/main" noGrp="1"/>
          </p:cNvSpPr>
          <p:nvPr/>
        </p:nvSpPr>
        <p:spPr>
          <a:xfrm xmlns:a="http://schemas.openxmlformats.org/drawingml/2006/main">
            <a:off x="45720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reminders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a:t>
            </a:r>
          </a:p>
        </p:txBody>
      </p:sp>
      <p:sp>
        <p:nvSpPr>
          <p:cNvPr id="12" name="">
            <a:extLst xmlns:a="http://schemas.openxmlformats.org/drawingml/2006/main">
              <a:ext uri="{FF2B5EF4-FFF2-40B4-BE49-F238E27FC236}">
                <a16:creationId xmlns:a16="http://schemas.microsoft.com/office/drawing/2014/main" id="{57548EB2-D863-494B-A9BA-F2931C6603D8}"/>
              </a:ext>
            </a:extLst>
          </p:cNvPr>
          <p:cNvSpPr>
            <a:spLocks xmlns:a="http://schemas.openxmlformats.org/drawingml/2006/main" noGrp="1"/>
          </p:cNvSpPr>
          <p:nvPr/>
        </p:nvSpPr>
        <p:spPr>
          <a:xfrm xmlns:a="http://schemas.openxmlformats.org/drawingml/2006/main">
            <a:off x="6096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system_settings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single settings row</a:t>
            </a:r>
          </a:p>
        </p:txBody>
      </p:sp>
      <p:sp>
        <p:nvSpPr>
          <p:cNvPr id="20" name="">
            <a:extLst xmlns:a="http://schemas.openxmlformats.org/drawingml/2006/main">
              <a:ext uri="{FF2B5EF4-FFF2-40B4-BE49-F238E27FC236}">
                <a16:creationId xmlns:a16="http://schemas.microsoft.com/office/drawing/2014/main" id="{52740842-A85B-4E31-BFD1-2AADB4F0904E}"/>
              </a:ext>
            </a:extLst>
          </p:cNvPr>
          <p:cNvSpPr>
            <a:spLocks xmlns:a="http://schemas.openxmlformats.org/drawingml/2006/main" noGrp="1"/>
          </p:cNvSpPr>
          <p:nvPr/>
        </p:nvSpPr>
        <p:spPr>
          <a:xfrm xmlns:a="http://schemas.openxmlformats.org/drawingml/2006/main">
            <a:off x="7858125" y="4857750"/>
            <a:ext cx="371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Parent → referencing table. Reminders link users and quizzes.</a:t>
            </a:r>
          </a:p>
        </p:txBody>
      </p:sp>
    </p:spTree>
    <p:extLst>
      <p:ext uri="{BB962C8B-B14F-4D97-AF65-F5344CB8AC3E}">
        <p14:creationId xmlns:p14="http://schemas.microsoft.com/office/powerpoint/2010/main" val="1180085438"/>
      </p:ext>
    </p:extLst>
  </p:cSld>
</p:sld>
</file>

<file path=ppt/slides/slide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62586F-80AE-453F-8AA1-485E5D2F0D9C}"/>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INTEGRATION</a:t>
            </a:r>
          </a:p>
        </p:txBody>
      </p:sp>
      <p:sp>
        <p:nvSpPr>
          <p:cNvPr id="2" name="">
            <a:extLst xmlns:a="http://schemas.openxmlformats.org/drawingml/2006/main">
              <a:ext uri="{FF2B5EF4-FFF2-40B4-BE49-F238E27FC236}">
                <a16:creationId xmlns:a16="http://schemas.microsoft.com/office/drawing/2014/main" id="{5B3F3543-228D-4690-8EFA-16399DC6AF0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Prepared JDBC and transaction boundaries</a:t>
            </a:r>
          </a:p>
        </p:txBody>
      </p:sp>
      <p:sp>
        <p:nvSpPr>
          <p:cNvPr id="3" name="">
            <a:extLst xmlns:a="http://schemas.openxmlformats.org/drawingml/2006/main">
              <a:ext uri="{FF2B5EF4-FFF2-40B4-BE49-F238E27FC236}">
                <a16:creationId xmlns:a16="http://schemas.microsoft.com/office/drawing/2014/main" id="{CDE636E4-6E25-40AC-8B80-367EC441294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2AEECD81-5D2D-4CD1-84C6-68034CBC3D1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6426AB8F-B17F-43C5-84F7-AF389958CE6B}"/>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Georgia"/>
                <a:ea typeface="Georgia"/>
                <a:cs typeface="Georgia"/>
              </a:defRPr>
            </a:defPPr>
          </a:lstStyle>
          <a:p xmlns:a="http://schemas.openxmlformats.org/drawingml/2006/main">
            <a:pPr>
              <a:defRPr sz="2250" b="0">
                <a:solidFill>
                  <a:srgbClr val="253F33"/>
                </a:solidFill>
                <a:latin typeface="Georgia"/>
                <a:ea typeface="Georgia"/>
                <a:cs typeface="Georgia"/>
              </a:defRPr>
            </a:pPr>
            <a:r>
              <a:rPr sz="2250" b="0">
                <a:solidFill>
                  <a:srgbClr val="253F33"/>
                </a:solidFill>
                <a:latin typeface="Georgia"/>
                <a:ea typeface="Georgia"/>
                <a:cs typeface="Georgia"/>
              </a:rPr>
              <a:t>Bound parameters keep submitted values separate from SQL.</a:t>
            </a:r>
          </a:p>
        </p:txBody>
      </p:sp>
      <p:sp>
        <p:nvSpPr>
          <p:cNvPr id="6" name="">
            <a:extLst xmlns:a="http://schemas.openxmlformats.org/drawingml/2006/main">
              <a:ext uri="{FF2B5EF4-FFF2-40B4-BE49-F238E27FC236}">
                <a16:creationId xmlns:a16="http://schemas.microsoft.com/office/drawing/2014/main" id="{E254D9D9-2E15-4007-9982-1F4E84743014}"/>
              </a:ext>
            </a:extLst>
          </p:cNvPr>
          <p:cNvSpPr>
            <a:spLocks xmlns:a="http://schemas.openxmlformats.org/drawingml/2006/main" noGrp="1"/>
          </p:cNvSpPr>
          <p:nvPr/>
        </p:nvSpPr>
        <p:spPr>
          <a:xfrm xmlns:a="http://schemas.openxmlformats.org/drawingml/2006/main">
            <a:off x="609600" y="25908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connection.prepareStatement(sql, new String[] {"id"});</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statement.setObject(i + 1, args[i]);</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SELECT * FROM attempts WHERE id = ? FOR UPDATE</a:t>
            </a:r>
          </a:p>
        </p:txBody>
      </p:sp>
      <p:sp>
        <p:nvSpPr>
          <p:cNvPr id="7" name="">
            <a:extLst xmlns:a="http://schemas.openxmlformats.org/drawingml/2006/main">
              <a:ext uri="{FF2B5EF4-FFF2-40B4-BE49-F238E27FC236}">
                <a16:creationId xmlns:a16="http://schemas.microsoft.com/office/drawing/2014/main" id="{182D24E6-6046-4FF6-A0B7-EA5E5E6AD91D}"/>
              </a:ext>
            </a:extLst>
          </p:cNvPr>
          <p:cNvSpPr>
            <a:spLocks xmlns:a="http://schemas.openxmlformats.org/drawingml/2006/main" noGrp="1"/>
          </p:cNvSpPr>
          <p:nvPr/>
        </p:nvSpPr>
        <p:spPr>
          <a:xfrm xmlns:a="http://schemas.openxmlformats.org/drawingml/2006/main">
            <a:off x="609600" y="45910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Portable persistence</a:t>
            </a:r>
          </a:p>
        </p:txBody>
      </p:sp>
      <p:sp>
        <p:nvSpPr>
          <p:cNvPr id="8" name="">
            <a:extLst xmlns:a="http://schemas.openxmlformats.org/drawingml/2006/main">
              <a:ext uri="{FF2B5EF4-FFF2-40B4-BE49-F238E27FC236}">
                <a16:creationId xmlns:a16="http://schemas.microsoft.com/office/drawing/2014/main" id="{1ED192CA-A5E0-406C-891F-2344AEEA686C}"/>
              </a:ext>
            </a:extLst>
          </p:cNvPr>
          <p:cNvSpPr>
            <a:spLocks xmlns:a="http://schemas.openxmlformats.org/drawingml/2006/main" noGrp="1"/>
          </p:cNvSpPr>
          <p:nvPr/>
        </p:nvSpPr>
        <p:spPr>
          <a:xfrm xmlns:a="http://schemas.openxmlformats.org/drawingml/2006/main">
            <a:off x="609600" y="49720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Generated identities, foreign keys and indexed history queries.</a:t>
            </a:r>
          </a:p>
        </p:txBody>
      </p:sp>
      <p:sp>
        <p:nvSpPr>
          <p:cNvPr id="9" name="">
            <a:extLst xmlns:a="http://schemas.openxmlformats.org/drawingml/2006/main">
              <a:ext uri="{FF2B5EF4-FFF2-40B4-BE49-F238E27FC236}">
                <a16:creationId xmlns:a16="http://schemas.microsoft.com/office/drawing/2014/main" id="{C99DDC28-EB1D-4CB0-AB98-28C37836CB0D}"/>
              </a:ext>
            </a:extLst>
          </p:cNvPr>
          <p:cNvSpPr>
            <a:spLocks xmlns:a="http://schemas.openxmlformats.org/drawingml/2006/main" noGrp="1"/>
          </p:cNvSpPr>
          <p:nvPr/>
        </p:nvSpPr>
        <p:spPr>
          <a:xfrm xmlns:a="http://schemas.openxmlformats.org/drawingml/2006/main">
            <a:off x="609600" y="53911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Consistent writes</a:t>
            </a:r>
          </a:p>
        </p:txBody>
      </p:sp>
      <p:sp>
        <p:nvSpPr>
          <p:cNvPr id="10" name="">
            <a:extLst xmlns:a="http://schemas.openxmlformats.org/drawingml/2006/main">
              <a:ext uri="{FF2B5EF4-FFF2-40B4-BE49-F238E27FC236}">
                <a16:creationId xmlns:a16="http://schemas.microsoft.com/office/drawing/2014/main" id="{9C7BD024-90D2-4D70-BDD0-76BDE6FCE506}"/>
              </a:ext>
            </a:extLst>
          </p:cNvPr>
          <p:cNvSpPr>
            <a:spLocks xmlns:a="http://schemas.openxmlformats.org/drawingml/2006/main" noGrp="1"/>
          </p:cNvSpPr>
          <p:nvPr/>
        </p:nvSpPr>
        <p:spPr>
          <a:xfrm xmlns:a="http://schemas.openxmlformats.org/drawingml/2006/main">
            <a:off x="609600" y="57721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 transaction and row lock serialize answer saving and submission.</a:t>
            </a:r>
          </a:p>
        </p:txBody>
      </p:sp>
    </p:spTree>
    <p:extLst>
      <p:ext uri="{BB962C8B-B14F-4D97-AF65-F5344CB8AC3E}">
        <p14:creationId xmlns:p14="http://schemas.microsoft.com/office/powerpoint/2010/main" val="1682330557"/>
      </p:ext>
    </p:extLst>
  </p:cSld>
</p:sld>
</file>

<file path=ppt/slides/slide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056264-DB1E-4EA1-A228-D56538DB657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JAVA IMPLEMENTATION</a:t>
            </a:r>
          </a:p>
        </p:txBody>
      </p:sp>
      <p:sp>
        <p:nvSpPr>
          <p:cNvPr id="2" name="">
            <a:extLst xmlns:a="http://schemas.openxmlformats.org/drawingml/2006/main">
              <a:ext uri="{FF2B5EF4-FFF2-40B4-BE49-F238E27FC236}">
                <a16:creationId xmlns:a16="http://schemas.microsoft.com/office/drawing/2014/main" id="{E06D3084-E34B-4DE6-958E-F17C9AC891CD}"/>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Core Java concepts in working features</a:t>
            </a:r>
          </a:p>
        </p:txBody>
      </p:sp>
      <p:sp>
        <p:nvSpPr>
          <p:cNvPr id="3" name="">
            <a:extLst xmlns:a="http://schemas.openxmlformats.org/drawingml/2006/main">
              <a:ext uri="{FF2B5EF4-FFF2-40B4-BE49-F238E27FC236}">
                <a16:creationId xmlns:a16="http://schemas.microsoft.com/office/drawing/2014/main" id="{737F4491-DDD8-4817-ADEA-619828C9BADB}"/>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28784C21-7B3E-4F5A-B191-A13ED944E89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B3918271-9A32-47B6-84A8-6D1C2DF30676}"/>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Interfaces and polymorphism</a:t>
            </a:r>
          </a:p>
        </p:txBody>
      </p:sp>
      <p:sp>
        <p:nvSpPr>
          <p:cNvPr id="6" name="">
            <a:extLst xmlns:a="http://schemas.openxmlformats.org/drawingml/2006/main">
              <a:ext uri="{FF2B5EF4-FFF2-40B4-BE49-F238E27FC236}">
                <a16:creationId xmlns:a16="http://schemas.microsoft.com/office/drawing/2014/main" id="{56E05986-3638-4F9B-A829-2ECE0818CDDA}"/>
              </a:ext>
            </a:extLst>
          </p:cNvPr>
          <p:cNvSpPr>
            <a:spLocks xmlns:a="http://schemas.openxmlformats.org/drawingml/2006/main" noGrp="1"/>
          </p:cNvSpPr>
          <p:nvPr/>
        </p:nvSpPr>
        <p:spPr>
          <a:xfrm xmlns:a="http://schemas.openxmlformats.org/drawingml/2006/main">
            <a:off x="609600" y="20955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ScoringPolicy → MultipleChoiceScoringPolicy calculates quiz results.</a:t>
            </a:r>
          </a:p>
        </p:txBody>
      </p:sp>
      <p:sp>
        <p:nvSpPr>
          <p:cNvPr id="7" name="">
            <a:extLst xmlns:a="http://schemas.openxmlformats.org/drawingml/2006/main">
              <a:ext uri="{FF2B5EF4-FFF2-40B4-BE49-F238E27FC236}">
                <a16:creationId xmlns:a16="http://schemas.microsoft.com/office/drawing/2014/main" id="{DDE18EE1-9BD2-4186-BF92-BF3FC600C869}"/>
              </a:ext>
            </a:extLst>
          </p:cNvPr>
          <p:cNvSpPr>
            <a:spLocks xmlns:a="http://schemas.openxmlformats.org/drawingml/2006/main" noGrp="1"/>
          </p:cNvSpPr>
          <p:nvPr/>
        </p:nvSpPr>
        <p:spPr>
          <a:xfrm xmlns:a="http://schemas.openxmlformats.org/drawingml/2006/main">
            <a:off x="609600" y="27432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Encapsulation and validation</a:t>
            </a:r>
          </a:p>
        </p:txBody>
      </p:sp>
      <p:sp>
        <p:nvSpPr>
          <p:cNvPr id="8" name="">
            <a:extLst xmlns:a="http://schemas.openxmlformats.org/drawingml/2006/main">
              <a:ext uri="{FF2B5EF4-FFF2-40B4-BE49-F238E27FC236}">
                <a16:creationId xmlns:a16="http://schemas.microsoft.com/office/drawing/2014/main" id="{B4F998B1-4DD7-48FF-8A3C-6D47B8B69FDC}"/>
              </a:ext>
            </a:extLst>
          </p:cNvPr>
          <p:cNvSpPr>
            <a:spLocks xmlns:a="http://schemas.openxmlformats.org/drawingml/2006/main" noGrp="1"/>
          </p:cNvSpPr>
          <p:nvPr/>
        </p:nvSpPr>
        <p:spPr>
          <a:xfrm xmlns:a="http://schemas.openxmlformats.org/drawingml/2006/main">
            <a:off x="609600" y="31242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QuizScore record validates score bounds and computes pass status.</a:t>
            </a:r>
          </a:p>
        </p:txBody>
      </p:sp>
      <p:sp>
        <p:nvSpPr>
          <p:cNvPr id="9" name="">
            <a:extLst xmlns:a="http://schemas.openxmlformats.org/drawingml/2006/main">
              <a:ext uri="{FF2B5EF4-FFF2-40B4-BE49-F238E27FC236}">
                <a16:creationId xmlns:a16="http://schemas.microsoft.com/office/drawing/2014/main" id="{5DAE2B9E-5C4A-466F-AAAD-C8153C136AD9}"/>
              </a:ext>
            </a:extLst>
          </p:cNvPr>
          <p:cNvSpPr>
            <a:spLocks xmlns:a="http://schemas.openxmlformats.org/drawingml/2006/main" noGrp="1"/>
          </p:cNvSpPr>
          <p:nvPr/>
        </p:nvSpPr>
        <p:spPr>
          <a:xfrm xmlns:a="http://schemas.openxmlformats.org/drawingml/2006/main">
            <a:off x="609600" y="37719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Generics and collections</a:t>
            </a:r>
          </a:p>
        </p:txBody>
      </p:sp>
      <p:sp>
        <p:nvSpPr>
          <p:cNvPr id="10" name="">
            <a:extLst xmlns:a="http://schemas.openxmlformats.org/drawingml/2006/main">
              <a:ext uri="{FF2B5EF4-FFF2-40B4-BE49-F238E27FC236}">
                <a16:creationId xmlns:a16="http://schemas.microsoft.com/office/drawing/2014/main" id="{3C7E8BE7-8A0A-40D1-A1B7-FE5E1605F250}"/>
              </a:ext>
            </a:extLst>
          </p:cNvPr>
          <p:cNvSpPr>
            <a:spLocks xmlns:a="http://schemas.openxmlformats.org/drawingml/2006/main" noGrp="1"/>
          </p:cNvSpPr>
          <p:nvPr/>
        </p:nvSpPr>
        <p:spPr>
          <a:xfrm xmlns:a="http://schemas.openxmlformats.org/drawingml/2006/main">
            <a:off x="609600" y="41529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ReportFormatter&lt;T&gt;, queryForObject&lt;T&gt;, List&lt;Map&lt;String, Object&gt;&gt;.</a:t>
            </a:r>
          </a:p>
        </p:txBody>
      </p:sp>
      <p:sp>
        <p:nvSpPr>
          <p:cNvPr id="11" name="">
            <a:extLst xmlns:a="http://schemas.openxmlformats.org/drawingml/2006/main">
              <a:ext uri="{FF2B5EF4-FFF2-40B4-BE49-F238E27FC236}">
                <a16:creationId xmlns:a16="http://schemas.microsoft.com/office/drawing/2014/main" id="{0592A34F-F893-4A6E-BA4B-E89EFA0F695A}"/>
              </a:ext>
            </a:extLst>
          </p:cNvPr>
          <p:cNvSpPr>
            <a:spLocks xmlns:a="http://schemas.openxmlformats.org/drawingml/2006/main" noGrp="1"/>
          </p:cNvSpPr>
          <p:nvPr/>
        </p:nvSpPr>
        <p:spPr>
          <a:xfrm xmlns:a="http://schemas.openxmlformats.org/drawingml/2006/main">
            <a:off x="609600" y="48006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Inheritance and exceptions</a:t>
            </a:r>
          </a:p>
        </p:txBody>
      </p:sp>
      <p:sp>
        <p:nvSpPr>
          <p:cNvPr id="12" name="">
            <a:extLst xmlns:a="http://schemas.openxmlformats.org/drawingml/2006/main">
              <a:ext uri="{FF2B5EF4-FFF2-40B4-BE49-F238E27FC236}">
                <a16:creationId xmlns:a16="http://schemas.microsoft.com/office/drawing/2014/main" id="{3D978AB2-1570-478D-B245-D66C66C09A5A}"/>
              </a:ext>
            </a:extLst>
          </p:cNvPr>
          <p:cNvSpPr>
            <a:spLocks xmlns:a="http://schemas.openxmlformats.org/drawingml/2006/main" noGrp="1"/>
          </p:cNvSpPr>
          <p:nvPr/>
        </p:nvSpPr>
        <p:spPr>
          <a:xfrm xmlns:a="http://schemas.openxmlformats.org/drawingml/2006/main">
            <a:off x="609600" y="51816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PerformanceReportServlet extends HttpServlet; controlled HTTP errors.</a:t>
            </a:r>
          </a:p>
        </p:txBody>
      </p:sp>
    </p:spTree>
    <p:extLst>
      <p:ext uri="{BB962C8B-B14F-4D97-AF65-F5344CB8AC3E}">
        <p14:creationId xmlns:p14="http://schemas.microsoft.com/office/powerpoint/2010/main" val="495497854"/>
      </p:ext>
    </p:extLst>
  </p:cSld>
</p:sld>
</file>

<file path=ppt/slides/slide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2EDF96-A629-4EA2-A846-67901D5CD87B}"/>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SERVLETS &amp; WEB INTEGRATION</a:t>
            </a:r>
          </a:p>
        </p:txBody>
      </p:sp>
      <p:sp>
        <p:nvSpPr>
          <p:cNvPr id="2" name="">
            <a:extLst xmlns:a="http://schemas.openxmlformats.org/drawingml/2006/main">
              <a:ext uri="{FF2B5EF4-FFF2-40B4-BE49-F238E27FC236}">
                <a16:creationId xmlns:a16="http://schemas.microsoft.com/office/drawing/2014/main" id="{F8C8E726-3F5A-4C9E-B938-ED3BE6F59141}"/>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Servlet report export</a:t>
            </a:r>
          </a:p>
        </p:txBody>
      </p:sp>
      <p:sp>
        <p:nvSpPr>
          <p:cNvPr id="3" name="">
            <a:extLst xmlns:a="http://schemas.openxmlformats.org/drawingml/2006/main">
              <a:ext uri="{FF2B5EF4-FFF2-40B4-BE49-F238E27FC236}">
                <a16:creationId xmlns:a16="http://schemas.microsoft.com/office/drawing/2014/main" id="{27DFA6F8-304C-43BB-BC30-EB7858C6709D}"/>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1946E148-92C9-496D-9D37-63CBC218882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0DC34BD3-2A98-43D5-B8DD-20F57D5570FD}"/>
              </a:ext>
            </a:extLst>
          </p:cNvPr>
          <p:cNvSpPr>
            <a:spLocks xmlns:a="http://schemas.openxmlformats.org/drawingml/2006/main" noGrp="1"/>
          </p:cNvSpPr>
          <p:nvPr/>
        </p:nvSpPr>
        <p:spPr>
          <a:xfrm xmlns:a="http://schemas.openxmlformats.org/drawingml/2006/main">
            <a:off x="609600" y="171450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GET /reports/attempts/{id}</a:t>
            </a:r>
          </a:p>
        </p:txBody>
      </p:sp>
      <p:sp>
        <p:nvSpPr>
          <p:cNvPr id="6" name="">
            <a:extLst xmlns:a="http://schemas.openxmlformats.org/drawingml/2006/main">
              <a:ext uri="{FF2B5EF4-FFF2-40B4-BE49-F238E27FC236}">
                <a16:creationId xmlns:a16="http://schemas.microsoft.com/office/drawing/2014/main" id="{718A37EC-9336-4E7D-BA71-243505886B4D}"/>
              </a:ext>
            </a:extLst>
          </p:cNvPr>
          <p:cNvSpPr>
            <a:spLocks xmlns:a="http://schemas.openxmlformats.org/drawingml/2006/main" noGrp="1"/>
          </p:cNvSpPr>
          <p:nvPr/>
        </p:nvSpPr>
        <p:spPr>
          <a:xfrm xmlns:a="http://schemas.openxmlformats.org/drawingml/2006/main">
            <a:off x="609600" y="2714625"/>
            <a:ext cx="39528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Read authenticated principal</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Validate path and ownership</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Load a submitted result</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Write a UTF-8 attachment</a:t>
            </a:r>
          </a:p>
        </p:txBody>
      </p:sp>
      <p:pic>
        <p:nvPicPr>
          <p:cNvPr id="7" name="">
            <a:extLst xmlns:a="http://schemas.openxmlformats.org/drawingml/2006/main">
              <a:ext uri="{FF2B5EF4-FFF2-40B4-BE49-F238E27FC236}">
                <a16:creationId xmlns:a16="http://schemas.microsoft.com/office/drawing/2014/main" id="{BE1382DF-8529-4E3D-A843-237AA0490154}"/>
              </a:ext>
            </a:extLst>
          </p:cNvPr>
          <p:cNvPicPr>
            <a:picLocks xmlns:a="http://schemas.openxmlformats.org/drawingml/2006/main" noChangeAspect="1"/>
          </p:cNvPicPr>
          <p:nvPr/>
        </p:nvPicPr>
        <p:blipFill>
          <a:blip xmlns:r="http://schemas.openxmlformats.org/officeDocument/2006/relationships" xmlns:a="http://schemas.openxmlformats.org/drawingml/2006/main" r:embed="Rf91d8290ef824420"/>
          <a:stretch xmlns:a="http://schemas.openxmlformats.org/drawingml/2006/main"/>
        </p:blipFill>
        <p:spPr>
          <a:xfrm xmlns:a="http://schemas.openxmlformats.org/drawingml/2006/main">
            <a:off x="4861069" y="1619250"/>
            <a:ext cx="6718011" cy="4667250"/>
          </a:xfrm>
          <a:prstGeom xmlns:a="http://schemas.openxmlformats.org/drawingml/2006/main" prst="rect">
            <a:avLst/>
          </a:prstGeom>
        </p:spPr>
      </p:pic>
    </p:spTree>
    <p:extLst>
      <p:ext uri="{BB962C8B-B14F-4D97-AF65-F5344CB8AC3E}">
        <p14:creationId xmlns:p14="http://schemas.microsoft.com/office/powerpoint/2010/main" val="702304415"/>
      </p:ext>
    </p:extLst>
  </p:cSld>
</p:sld>
</file>

<file path=ppt/slides/slide8.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0181CF-6E56-44F3-86FE-DD66C08D48F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AUTHENTICATION &amp; RESPONSIVE UI</a:t>
            </a:r>
          </a:p>
        </p:txBody>
      </p:sp>
      <p:sp>
        <p:nvSpPr>
          <p:cNvPr id="2" name="">
            <a:extLst xmlns:a="http://schemas.openxmlformats.org/drawingml/2006/main">
              <a:ext uri="{FF2B5EF4-FFF2-40B4-BE49-F238E27FC236}">
                <a16:creationId xmlns:a16="http://schemas.microsoft.com/office/drawing/2014/main" id="{2D6FFFE3-ECD0-4EF1-9172-96C4F06C0CA2}"/>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Registration before participation</a:t>
            </a:r>
          </a:p>
        </p:txBody>
      </p:sp>
      <p:sp>
        <p:nvSpPr>
          <p:cNvPr id="3" name="">
            <a:extLst xmlns:a="http://schemas.openxmlformats.org/drawingml/2006/main">
              <a:ext uri="{FF2B5EF4-FFF2-40B4-BE49-F238E27FC236}">
                <a16:creationId xmlns:a16="http://schemas.microsoft.com/office/drawing/2014/main" id="{95C46DFB-DD62-43FA-A3A7-1DFD45B89138}"/>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3EA17DA1-F9DD-414D-B32A-C8B30462D00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08</a:t>
            </a:r>
          </a:p>
        </p:txBody>
      </p:sp>
      <p:pic>
        <p:nvPicPr>
          <p:cNvPr id="5" name="">
            <a:extLst xmlns:a="http://schemas.openxmlformats.org/drawingml/2006/main">
              <a:ext uri="{FF2B5EF4-FFF2-40B4-BE49-F238E27FC236}">
                <a16:creationId xmlns:a16="http://schemas.microsoft.com/office/drawing/2014/main" id="{60DD3328-3751-4E22-86BC-EB9E592809C8}"/>
              </a:ext>
            </a:extLst>
          </p:cNvPr>
          <p:cNvPicPr>
            <a:picLocks xmlns:a="http://schemas.openxmlformats.org/drawingml/2006/main" noChangeAspect="1"/>
          </p:cNvPicPr>
          <p:nvPr/>
        </p:nvPicPr>
        <p:blipFill>
          <a:blip xmlns:r="http://schemas.openxmlformats.org/officeDocument/2006/relationships" xmlns:a="http://schemas.openxmlformats.org/drawingml/2006/main" r:embed="Re43903f1247b4db1"/>
          <a:stretch xmlns:a="http://schemas.openxmlformats.org/drawingml/2006/main"/>
        </p:blipFill>
        <p:spPr>
          <a:xfrm xmlns:a="http://schemas.openxmlformats.org/drawingml/2006/main">
            <a:off x="1571625" y="1638300"/>
            <a:ext cx="6172200"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58562C3-0BAD-4F21-80E6-8B4547EE7C77}"/>
              </a:ext>
            </a:extLst>
          </p:cNvPr>
          <p:cNvPicPr>
            <a:picLocks xmlns:a="http://schemas.openxmlformats.org/drawingml/2006/main" noChangeAspect="1"/>
          </p:cNvPicPr>
          <p:nvPr/>
        </p:nvPicPr>
        <p:blipFill>
          <a:blip xmlns:r="http://schemas.openxmlformats.org/officeDocument/2006/relationships" xmlns:a="http://schemas.openxmlformats.org/drawingml/2006/main" r:embed="Rdec12de8444a465b"/>
          <a:stretch xmlns:a="http://schemas.openxmlformats.org/drawingml/2006/main"/>
        </p:blipFill>
        <p:spPr>
          <a:xfrm xmlns:a="http://schemas.openxmlformats.org/drawingml/2006/main">
            <a:off x="9754819" y="1638300"/>
            <a:ext cx="1216763"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0BF4469-6F87-4D4B-B950-E558CADA11FC}"/>
              </a:ext>
            </a:extLst>
          </p:cNvPr>
          <p:cNvSpPr>
            <a:spLocks xmlns:a="http://schemas.openxmlformats.org/drawingml/2006/main" noGrp="1"/>
          </p:cNvSpPr>
          <p:nvPr/>
        </p:nvSpPr>
        <p:spPr>
          <a:xfrm xmlns:a="http://schemas.openxmlformats.org/drawingml/2006/main">
            <a:off x="609600" y="59817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Participant signup → sign in → own workspace</a:t>
            </a:r>
          </a:p>
        </p:txBody>
      </p:sp>
    </p:spTree>
    <p:extLst>
      <p:ext uri="{BB962C8B-B14F-4D97-AF65-F5344CB8AC3E}">
        <p14:creationId xmlns:p14="http://schemas.microsoft.com/office/powerpoint/2010/main" val="1429437634"/>
      </p:ext>
    </p:extLst>
  </p:cSld>
</p:sld>
</file>

<file path=ppt/slides/slide9.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28ED43-A0CE-4A27-9DC7-9CAC2E401092}"/>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RESPONSIVE INTERFACE</a:t>
            </a:r>
          </a:p>
        </p:txBody>
      </p:sp>
      <p:sp>
        <p:nvSpPr>
          <p:cNvPr id="2" name="">
            <a:extLst xmlns:a="http://schemas.openxmlformats.org/drawingml/2006/main">
              <a:ext uri="{FF2B5EF4-FFF2-40B4-BE49-F238E27FC236}">
                <a16:creationId xmlns:a16="http://schemas.microsoft.com/office/drawing/2014/main" id="{D7A8C445-97CF-4EAB-B4E1-4F10ED3F9B56}"/>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Participant workspace</a:t>
            </a:r>
          </a:p>
        </p:txBody>
      </p:sp>
      <p:sp>
        <p:nvSpPr>
          <p:cNvPr id="3" name="">
            <a:extLst xmlns:a="http://schemas.openxmlformats.org/drawingml/2006/main">
              <a:ext uri="{FF2B5EF4-FFF2-40B4-BE49-F238E27FC236}">
                <a16:creationId xmlns:a16="http://schemas.microsoft.com/office/drawing/2014/main" id="{7A74BFD7-C781-45C3-A2AB-3E9B75BE950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9D049325-18F5-418F-BA9B-561C3AC8E5C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C60E86A0-EC88-4E5D-8C48-66C97FADC7FC}"/>
              </a:ext>
            </a:extLst>
          </p:cNvPr>
          <p:cNvPicPr>
            <a:picLocks xmlns:a="http://schemas.openxmlformats.org/drawingml/2006/main" noChangeAspect="1"/>
          </p:cNvPicPr>
          <p:nvPr/>
        </p:nvPicPr>
        <p:blipFill>
          <a:blip xmlns:r="http://schemas.openxmlformats.org/officeDocument/2006/relationships" xmlns:a="http://schemas.openxmlformats.org/drawingml/2006/main" r:embed="Rb748791944844647"/>
          <a:stretch xmlns:a="http://schemas.openxmlformats.org/drawingml/2006/main"/>
        </p:blipFill>
        <p:spPr>
          <a:xfrm xmlns:a="http://schemas.openxmlformats.org/drawingml/2006/main">
            <a:off x="1572924" y="1638300"/>
            <a:ext cx="6169602"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428E1DC-A442-4AFF-B04E-EB8A2DF0F0EE}"/>
              </a:ext>
            </a:extLst>
          </p:cNvPr>
          <p:cNvPicPr>
            <a:picLocks xmlns:a="http://schemas.openxmlformats.org/drawingml/2006/main" noChangeAspect="1"/>
          </p:cNvPicPr>
          <p:nvPr/>
        </p:nvPicPr>
        <p:blipFill>
          <a:blip xmlns:r="http://schemas.openxmlformats.org/officeDocument/2006/relationships" xmlns:a="http://schemas.openxmlformats.org/drawingml/2006/main" r:embed="Rd980bfa5fe794789"/>
          <a:stretch xmlns:a="http://schemas.openxmlformats.org/drawingml/2006/main"/>
        </p:blipFill>
        <p:spPr>
          <a:xfrm xmlns:a="http://schemas.openxmlformats.org/drawingml/2006/main">
            <a:off x="9367473" y="1638300"/>
            <a:ext cx="1981928"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468FAED-138D-4848-902C-2BF593E84DEB}"/>
              </a:ext>
            </a:extLst>
          </p:cNvPr>
          <p:cNvSpPr>
            <a:spLocks xmlns:a="http://schemas.openxmlformats.org/drawingml/2006/main" noGrp="1"/>
          </p:cNvSpPr>
          <p:nvPr/>
        </p:nvSpPr>
        <p:spPr>
          <a:xfrm xmlns:a="http://schemas.openxmlformats.org/drawingml/2006/main">
            <a:off x="609600" y="59817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Approved quizzes, recent attempts and personal standing</a:t>
            </a:r>
          </a:p>
        </p:txBody>
      </p:sp>
    </p:spTree>
    <p:extLst>
      <p:ext uri="{BB962C8B-B14F-4D97-AF65-F5344CB8AC3E}">
        <p14:creationId xmlns:p14="http://schemas.microsoft.com/office/powerpoint/2010/main" val="1796518959"/>
      </p:ext>
    </p:extLst>
  </p:cSld>
</p:sld>
</file>

<file path=ppt/slides/slide10.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C8FB5D-61A6-4604-B4BD-4E2301F40237}"/>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QUIZ CREATOR</a:t>
            </a:r>
          </a:p>
        </p:txBody>
      </p:sp>
      <p:sp>
        <p:nvSpPr>
          <p:cNvPr id="2" name="">
            <a:extLst xmlns:a="http://schemas.openxmlformats.org/drawingml/2006/main">
              <a:ext uri="{FF2B5EF4-FFF2-40B4-BE49-F238E27FC236}">
                <a16:creationId xmlns:a16="http://schemas.microsoft.com/office/drawing/2014/main" id="{5BCECA04-9E53-4405-8BB5-CD058C092AFA}"/>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Creator content and publication workflow</a:t>
            </a:r>
          </a:p>
        </p:txBody>
      </p:sp>
      <p:sp>
        <p:nvSpPr>
          <p:cNvPr id="3" name="">
            <a:extLst xmlns:a="http://schemas.openxmlformats.org/drawingml/2006/main">
              <a:ext uri="{FF2B5EF4-FFF2-40B4-BE49-F238E27FC236}">
                <a16:creationId xmlns:a16="http://schemas.microsoft.com/office/drawing/2014/main" id="{84B71978-504E-4C15-8FF5-AD6F316FD0F0}"/>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B1FDDD5-9F3B-4F34-A89C-2B211A330DE5}"/>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31213927-0781-4B4C-9A0F-B0F10AE32E7E}"/>
              </a:ext>
            </a:extLst>
          </p:cNvPr>
          <p:cNvPicPr>
            <a:picLocks xmlns:a="http://schemas.openxmlformats.org/drawingml/2006/main" noChangeAspect="1"/>
          </p:cNvPicPr>
          <p:nvPr/>
        </p:nvPicPr>
        <p:blipFill>
          <a:blip xmlns:r="http://schemas.openxmlformats.org/officeDocument/2006/relationships" xmlns:a="http://schemas.openxmlformats.org/drawingml/2006/main" r:embed="Rcce83117c56f4d19"/>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C8F742A-5154-4879-8E89-BDE68EF005E2}"/>
              </a:ext>
            </a:extLst>
          </p:cNvPr>
          <p:cNvSpPr>
            <a:spLocks xmlns:a="http://schemas.openxmlformats.org/drawingml/2006/main" noGrp="1"/>
          </p:cNvSpPr>
          <p:nvPr/>
        </p:nvSpPr>
        <p:spPr>
          <a:xfrm xmlns:a="http://schemas.openxmlformats.org/drawingml/2006/main">
            <a:off x="609600" y="1809750"/>
            <a:ext cx="3333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AD583D"/>
                </a:solidFill>
                <a:latin typeface="Georgia"/>
                <a:ea typeface="Georgia"/>
                <a:cs typeface="Georgia"/>
              </a:defRPr>
            </a:defPPr>
          </a:lstStyle>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Draft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Pending review</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Approved / rejected</a:t>
            </a:r>
          </a:p>
        </p:txBody>
      </p:sp>
      <p:sp>
        <p:nvSpPr>
          <p:cNvPr id="7" name="">
            <a:extLst xmlns:a="http://schemas.openxmlformats.org/drawingml/2006/main">
              <a:ext uri="{FF2B5EF4-FFF2-40B4-BE49-F238E27FC236}">
                <a16:creationId xmlns:a16="http://schemas.microsoft.com/office/drawing/2014/main" id="{ED836DCF-3E1E-41EA-9446-D0500D5BEB0B}"/>
              </a:ext>
            </a:extLst>
          </p:cNvPr>
          <p:cNvSpPr>
            <a:spLocks xmlns:a="http://schemas.openxmlformats.org/drawingml/2006/main" noGrp="1"/>
          </p:cNvSpPr>
          <p:nvPr/>
        </p:nvSpPr>
        <p:spPr>
          <a:xfrm xmlns:a="http://schemas.openxmlformats.org/drawingml/2006/main">
            <a:off x="609600" y="4476750"/>
            <a:ext cx="32861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Questions include four choices, an answer key and an explanation.</a:t>
            </a:r>
          </a:p>
        </p:txBody>
      </p:sp>
    </p:spTree>
    <p:extLst>
      <p:ext uri="{BB962C8B-B14F-4D97-AF65-F5344CB8AC3E}">
        <p14:creationId xmlns:p14="http://schemas.microsoft.com/office/powerpoint/2010/main" val="84163190"/>
      </p:ext>
    </p:extLst>
  </p:cSld>
</p:sld>
</file>

<file path=ppt/slides/slide11.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FA75AF-5689-44FC-A606-E8CFD9AF4F0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USER MANAGEMENT &amp; MODERATION</a:t>
            </a:r>
          </a:p>
        </p:txBody>
      </p:sp>
      <p:sp>
        <p:nvSpPr>
          <p:cNvPr id="2" name="">
            <a:extLst xmlns:a="http://schemas.openxmlformats.org/drawingml/2006/main">
              <a:ext uri="{FF2B5EF4-FFF2-40B4-BE49-F238E27FC236}">
                <a16:creationId xmlns:a16="http://schemas.microsoft.com/office/drawing/2014/main" id="{F09924CC-AF93-4B8A-8F34-ED9852F3055A}"/>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Admin controls</a:t>
            </a:r>
          </a:p>
        </p:txBody>
      </p:sp>
      <p:sp>
        <p:nvSpPr>
          <p:cNvPr id="3" name="">
            <a:extLst xmlns:a="http://schemas.openxmlformats.org/drawingml/2006/main">
              <a:ext uri="{FF2B5EF4-FFF2-40B4-BE49-F238E27FC236}">
                <a16:creationId xmlns:a16="http://schemas.microsoft.com/office/drawing/2014/main" id="{E1ADEA92-997A-4172-ADF0-E1D9F9885B44}"/>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A830DE37-81A8-47AB-AB55-877DCD9BEA0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11</a:t>
            </a:r>
          </a:p>
        </p:txBody>
      </p:sp>
      <p:pic>
        <p:nvPicPr>
          <p:cNvPr id="5" name="">
            <a:extLst xmlns:a="http://schemas.openxmlformats.org/drawingml/2006/main">
              <a:ext uri="{FF2B5EF4-FFF2-40B4-BE49-F238E27FC236}">
                <a16:creationId xmlns:a16="http://schemas.microsoft.com/office/drawing/2014/main" id="{34D69190-3880-4454-8C63-3BCD6E79CA1B}"/>
              </a:ext>
            </a:extLst>
          </p:cNvPr>
          <p:cNvPicPr>
            <a:picLocks xmlns:a="http://schemas.openxmlformats.org/drawingml/2006/main" noChangeAspect="1"/>
          </p:cNvPicPr>
          <p:nvPr/>
        </p:nvPicPr>
        <p:blipFill>
          <a:blip xmlns:r="http://schemas.openxmlformats.org/officeDocument/2006/relationships" xmlns:a="http://schemas.openxmlformats.org/drawingml/2006/main" r:embed="Rda7c6a3fe30b4869"/>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62E3BD2-2BA7-4F61-946F-BE52B166B468}"/>
              </a:ext>
            </a:extLst>
          </p:cNvPr>
          <p:cNvSpPr>
            <a:spLocks xmlns:a="http://schemas.openxmlformats.org/drawingml/2006/main" noGrp="1"/>
          </p:cNvSpPr>
          <p:nvPr/>
        </p:nvSpPr>
        <p:spPr>
          <a:xfrm xmlns:a="http://schemas.openxmlformats.org/drawingml/2006/main">
            <a:off x="609600" y="190500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Accounts and roles</a:t>
            </a:r>
          </a:p>
        </p:txBody>
      </p:sp>
      <p:sp>
        <p:nvSpPr>
          <p:cNvPr id="7" name="">
            <a:extLst xmlns:a="http://schemas.openxmlformats.org/drawingml/2006/main">
              <a:ext uri="{FF2B5EF4-FFF2-40B4-BE49-F238E27FC236}">
                <a16:creationId xmlns:a16="http://schemas.microsoft.com/office/drawing/2014/main" id="{8C2DDBA5-7754-442A-9FC7-0AB468BA235C}"/>
              </a:ext>
            </a:extLst>
          </p:cNvPr>
          <p:cNvSpPr>
            <a:spLocks xmlns:a="http://schemas.openxmlformats.org/drawingml/2006/main" noGrp="1"/>
          </p:cNvSpPr>
          <p:nvPr/>
        </p:nvSpPr>
        <p:spPr>
          <a:xfrm xmlns:a="http://schemas.openxmlformats.org/drawingml/2006/main">
            <a:off x="609600" y="228600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Create users, assign creators and deactivate access.</a:t>
            </a:r>
          </a:p>
        </p:txBody>
      </p:sp>
      <p:sp>
        <p:nvSpPr>
          <p:cNvPr id="8" name="">
            <a:extLst xmlns:a="http://schemas.openxmlformats.org/drawingml/2006/main">
              <a:ext uri="{FF2B5EF4-FFF2-40B4-BE49-F238E27FC236}">
                <a16:creationId xmlns:a16="http://schemas.microsoft.com/office/drawing/2014/main" id="{438F389A-B66E-418A-8577-3C0EE3237720}"/>
              </a:ext>
            </a:extLst>
          </p:cNvPr>
          <p:cNvSpPr>
            <a:spLocks xmlns:a="http://schemas.openxmlformats.org/drawingml/2006/main" noGrp="1"/>
          </p:cNvSpPr>
          <p:nvPr/>
        </p:nvSpPr>
        <p:spPr>
          <a:xfrm xmlns:a="http://schemas.openxmlformats.org/drawingml/2006/main">
            <a:off x="609600" y="390525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Content and settings</a:t>
            </a:r>
          </a:p>
        </p:txBody>
      </p:sp>
      <p:sp>
        <p:nvSpPr>
          <p:cNvPr id="9" name="">
            <a:extLst xmlns:a="http://schemas.openxmlformats.org/drawingml/2006/main">
              <a:ext uri="{FF2B5EF4-FFF2-40B4-BE49-F238E27FC236}">
                <a16:creationId xmlns:a16="http://schemas.microsoft.com/office/drawing/2014/main" id="{4241CA44-8856-45F3-AD7D-8ECBE9F663C2}"/>
              </a:ext>
            </a:extLst>
          </p:cNvPr>
          <p:cNvSpPr>
            <a:spLocks xmlns:a="http://schemas.openxmlformats.org/drawingml/2006/main" noGrp="1"/>
          </p:cNvSpPr>
          <p:nvPr/>
        </p:nvSpPr>
        <p:spPr>
          <a:xfrm xmlns:a="http://schemas.openxmlformats.org/drawingml/2006/main">
            <a:off x="609600" y="428625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Approve or return quizzes; manage pass and attempt settings.</a:t>
            </a:r>
          </a:p>
        </p:txBody>
      </p:sp>
    </p:spTree>
    <p:extLst>
      <p:ext uri="{BB962C8B-B14F-4D97-AF65-F5344CB8AC3E}">
        <p14:creationId xmlns:p14="http://schemas.microsoft.com/office/powerpoint/2010/main" val="708870536"/>
      </p:ext>
    </p:extLst>
  </p:cSld>
</p:sld>
</file>

<file path=ppt/slides/slide1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15CEC1-A743-4137-BFE7-03636C3A85F2}"/>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REPORTS &amp; FEEDBACK</a:t>
            </a:r>
          </a:p>
        </p:txBody>
      </p:sp>
      <p:sp>
        <p:nvSpPr>
          <p:cNvPr id="2" name="">
            <a:extLst xmlns:a="http://schemas.openxmlformats.org/drawingml/2006/main">
              <a:ext uri="{FF2B5EF4-FFF2-40B4-BE49-F238E27FC236}">
                <a16:creationId xmlns:a16="http://schemas.microsoft.com/office/drawing/2014/main" id="{3B9FE56D-23B5-4A98-9AC7-F47A7D838213}"/>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Performance across attempts</a:t>
            </a:r>
          </a:p>
        </p:txBody>
      </p:sp>
      <p:sp>
        <p:nvSpPr>
          <p:cNvPr id="3" name="">
            <a:extLst xmlns:a="http://schemas.openxmlformats.org/drawingml/2006/main">
              <a:ext uri="{FF2B5EF4-FFF2-40B4-BE49-F238E27FC236}">
                <a16:creationId xmlns:a16="http://schemas.microsoft.com/office/drawing/2014/main" id="{A41C5172-A7A9-47BF-8724-F8CFA5B4CB29}"/>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CE5307F0-F11F-41B5-BD01-AF465EBC88D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12</a:t>
            </a:r>
          </a:p>
        </p:txBody>
      </p:sp>
      <p:pic>
        <p:nvPicPr>
          <p:cNvPr id="5" name="">
            <a:extLst xmlns:a="http://schemas.openxmlformats.org/drawingml/2006/main">
              <a:ext uri="{FF2B5EF4-FFF2-40B4-BE49-F238E27FC236}">
                <a16:creationId xmlns:a16="http://schemas.microsoft.com/office/drawing/2014/main" id="{EBEAEF73-5885-4E33-AFC7-C1C7A6B2B5FB}"/>
              </a:ext>
            </a:extLst>
          </p:cNvPr>
          <p:cNvPicPr>
            <a:picLocks xmlns:a="http://schemas.openxmlformats.org/drawingml/2006/main" noChangeAspect="1"/>
          </p:cNvPicPr>
          <p:nvPr/>
        </p:nvPicPr>
        <p:blipFill>
          <a:blip xmlns:r="http://schemas.openxmlformats.org/officeDocument/2006/relationships" xmlns:a="http://schemas.openxmlformats.org/drawingml/2006/main" r:embed="R6b53e39edb91492e"/>
          <a:stretch xmlns:a="http://schemas.openxmlformats.org/drawingml/2006/main"/>
        </p:blipFill>
        <p:spPr>
          <a:xfrm xmlns:a="http://schemas.openxmlformats.org/drawingml/2006/main">
            <a:off x="4575319" y="1619250"/>
            <a:ext cx="6718011"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CEBC2EB-F1BF-4285-8657-3D4509D0282C}"/>
              </a:ext>
            </a:extLst>
          </p:cNvPr>
          <p:cNvSpPr>
            <a:spLocks xmlns:a="http://schemas.openxmlformats.org/drawingml/2006/main" noGrp="1"/>
          </p:cNvSpPr>
          <p:nvPr/>
        </p:nvSpPr>
        <p:spPr>
          <a:xfrm xmlns:a="http://schemas.openxmlformats.org/drawingml/2006/main">
            <a:off x="609600" y="1790700"/>
            <a:ext cx="333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3F33"/>
                </a:solidFill>
                <a:latin typeface="Arial"/>
                <a:ea typeface="Arial"/>
                <a:cs typeface="Arial"/>
              </a:defRPr>
            </a:defPPr>
          </a:lstStyle>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Scores over time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Topic averages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Pass rate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Answer explanations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Creator review feedback</a:t>
            </a:r>
          </a:p>
        </p:txBody>
      </p:sp>
    </p:spTree>
    <p:extLst>
      <p:ext uri="{BB962C8B-B14F-4D97-AF65-F5344CB8AC3E}">
        <p14:creationId xmlns:p14="http://schemas.microsoft.com/office/powerpoint/2010/main" val="2110020772"/>
      </p:ext>
    </p:extLst>
  </p:cSld>
</p:sld>
</file>

<file path=ppt/slides/slide1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46D2F1-EBDC-473B-9E36-30F264A6853F}"/>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TEST EVIDENCE</a:t>
            </a:r>
          </a:p>
        </p:txBody>
      </p:sp>
      <p:sp>
        <p:nvSpPr>
          <p:cNvPr id="2" name="">
            <a:extLst xmlns:a="http://schemas.openxmlformats.org/drawingml/2006/main">
              <a:ext uri="{FF2B5EF4-FFF2-40B4-BE49-F238E27FC236}">
                <a16:creationId xmlns:a16="http://schemas.microsoft.com/office/drawing/2014/main" id="{7220451A-DA55-4D07-A0CD-8D0AFB015276}"/>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Timing, concurrency and verification</a:t>
            </a:r>
          </a:p>
        </p:txBody>
      </p:sp>
      <p:sp>
        <p:nvSpPr>
          <p:cNvPr id="3" name="">
            <a:extLst xmlns:a="http://schemas.openxmlformats.org/drawingml/2006/main">
              <a:ext uri="{FF2B5EF4-FFF2-40B4-BE49-F238E27FC236}">
                <a16:creationId xmlns:a16="http://schemas.microsoft.com/office/drawing/2014/main" id="{1680548F-710B-4AE9-A42A-368811346F91}"/>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6B04CD3B-A29D-4B49-9732-D33CE3879AC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289EF506-8BE0-43A2-A063-9D36971C7C1E}"/>
              </a:ext>
            </a:extLst>
          </p:cNvPr>
          <p:cNvSpPr>
            <a:spLocks xmlns:a="http://schemas.openxmlformats.org/drawingml/2006/main" noGrp="1"/>
          </p:cNvSpPr>
          <p:nvPr/>
        </p:nvSpPr>
        <p:spPr>
          <a:xfrm xmlns:a="http://schemas.openxmlformats.org/drawingml/2006/main">
            <a:off x="609600" y="1714500"/>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AD583D"/>
                </a:solidFill>
                <a:latin typeface="Georgia"/>
                <a:ea typeface="Georgia"/>
                <a:cs typeface="Georgia"/>
              </a:defRPr>
            </a:defPPr>
          </a:lstStyle>
          <a:p xmlns:a="http://schemas.openxmlformats.org/drawingml/2006/main">
            <a:pPr>
              <a:defRPr sz="4800" b="0">
                <a:solidFill>
                  <a:srgbClr val="AD583D"/>
                </a:solidFill>
                <a:latin typeface="Georgia"/>
                <a:ea typeface="Georgia"/>
                <a:cs typeface="Georgia"/>
              </a:defRPr>
            </a:pPr>
            <a:r>
              <a:rPr sz="4800" b="0">
                <a:solidFill>
                  <a:srgbClr val="AD583D"/>
                </a:solidFill>
                <a:latin typeface="Georgia"/>
                <a:ea typeface="Georgia"/>
                <a:cs typeface="Georgia"/>
              </a:rPr>
              <a:t>21 tests passed</a:t>
            </a:r>
          </a:p>
        </p:txBody>
      </p:sp>
      <p:sp>
        <p:nvSpPr>
          <p:cNvPr id="6" name="">
            <a:extLst xmlns:a="http://schemas.openxmlformats.org/drawingml/2006/main">
              <a:ext uri="{FF2B5EF4-FFF2-40B4-BE49-F238E27FC236}">
                <a16:creationId xmlns:a16="http://schemas.microsoft.com/office/drawing/2014/main" id="{6280D198-AC57-46E2-B744-909EA24B3832}"/>
              </a:ext>
            </a:extLst>
          </p:cNvPr>
          <p:cNvSpPr>
            <a:spLocks xmlns:a="http://schemas.openxmlformats.org/drawingml/2006/main" noGrp="1"/>
          </p:cNvSpPr>
          <p:nvPr/>
        </p:nvSpPr>
        <p:spPr>
          <a:xfrm xmlns:a="http://schemas.openxmlformats.org/drawingml/2006/main">
            <a:off x="609600" y="27622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Arial"/>
                <a:ea typeface="Arial"/>
                <a:cs typeface="Arial"/>
              </a:defRPr>
            </a:defPPr>
          </a:lstStyle>
          <a:p xmlns:a="http://schemas.openxmlformats.org/drawingml/2006/main">
            <a:pPr>
              <a:defRPr sz="2250" b="0">
                <a:solidFill>
                  <a:srgbClr val="253F33"/>
                </a:solidFill>
                <a:latin typeface="Arial"/>
                <a:ea typeface="Arial"/>
                <a:cs typeface="Arial"/>
              </a:defRPr>
            </a:pPr>
            <a:r>
              <a:rPr sz="2250" b="0">
                <a:solidFill>
                  <a:srgbClr val="253F33"/>
                </a:solidFill>
                <a:latin typeface="Arial"/>
                <a:ea typeface="Arial"/>
                <a:cs typeface="Arial"/>
              </a:rPr>
              <a:t>H2 suite and PostgreSQL CI both passed.</a:t>
            </a:r>
          </a:p>
        </p:txBody>
      </p:sp>
      <p:sp>
        <p:nvSpPr>
          <p:cNvPr id="7" name="">
            <a:extLst xmlns:a="http://schemas.openxmlformats.org/drawingml/2006/main">
              <a:ext uri="{FF2B5EF4-FFF2-40B4-BE49-F238E27FC236}">
                <a16:creationId xmlns:a16="http://schemas.microsoft.com/office/drawing/2014/main" id="{8CBE901F-F3AE-4753-9756-1A2BFE1EF924}"/>
              </a:ext>
            </a:extLst>
          </p:cNvPr>
          <p:cNvSpPr>
            <a:spLocks xmlns:a="http://schemas.openxmlformats.org/drawingml/2006/main" noGrp="1"/>
          </p:cNvSpPr>
          <p:nvPr/>
        </p:nvSpPr>
        <p:spPr>
          <a:xfrm xmlns:a="http://schemas.openxmlformats.org/drawingml/2006/main">
            <a:off x="609600" y="3638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Server owns the deadline</a:t>
            </a:r>
          </a:p>
        </p:txBody>
      </p:sp>
      <p:sp>
        <p:nvSpPr>
          <p:cNvPr id="8" name="">
            <a:extLst xmlns:a="http://schemas.openxmlformats.org/drawingml/2006/main">
              <a:ext uri="{FF2B5EF4-FFF2-40B4-BE49-F238E27FC236}">
                <a16:creationId xmlns:a16="http://schemas.microsoft.com/office/drawing/2014/main" id="{4AEBAD44-6818-42F8-8AB5-DD61605F9B6B}"/>
              </a:ext>
            </a:extLst>
          </p:cNvPr>
          <p:cNvSpPr>
            <a:spLocks xmlns:a="http://schemas.openxmlformats.org/drawingml/2006/main" noGrp="1"/>
          </p:cNvSpPr>
          <p:nvPr/>
        </p:nvSpPr>
        <p:spPr>
          <a:xfrm xmlns:a="http://schemas.openxmlformats.org/drawingml/2006/main">
            <a:off x="609600" y="40195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Saved answers survive refresh; late choices cannot change a settled result.</a:t>
            </a:r>
          </a:p>
        </p:txBody>
      </p:sp>
      <p:sp>
        <p:nvSpPr>
          <p:cNvPr id="9" name="">
            <a:extLst xmlns:a="http://schemas.openxmlformats.org/drawingml/2006/main">
              <a:ext uri="{FF2B5EF4-FFF2-40B4-BE49-F238E27FC236}">
                <a16:creationId xmlns:a16="http://schemas.microsoft.com/office/drawing/2014/main" id="{FD460BD7-6F6B-4328-B6CB-513B179D4FE3}"/>
              </a:ext>
            </a:extLst>
          </p:cNvPr>
          <p:cNvSpPr>
            <a:spLocks xmlns:a="http://schemas.openxmlformats.org/drawingml/2006/main" noGrp="1"/>
          </p:cNvSpPr>
          <p:nvPr/>
        </p:nvSpPr>
        <p:spPr>
          <a:xfrm xmlns:a="http://schemas.openxmlformats.org/drawingml/2006/main">
            <a:off x="609600" y="4457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Concurrent requests</a:t>
            </a:r>
          </a:p>
        </p:txBody>
      </p:sp>
      <p:sp>
        <p:nvSpPr>
          <p:cNvPr id="10" name="">
            <a:extLst xmlns:a="http://schemas.openxmlformats.org/drawingml/2006/main">
              <a:ext uri="{FF2B5EF4-FFF2-40B4-BE49-F238E27FC236}">
                <a16:creationId xmlns:a16="http://schemas.microsoft.com/office/drawing/2014/main" id="{746DBF9F-3300-48C0-B384-9BCE1EAAF471}"/>
              </a:ext>
            </a:extLst>
          </p:cNvPr>
          <p:cNvSpPr>
            <a:spLocks xmlns:a="http://schemas.openxmlformats.org/drawingml/2006/main" noGrp="1"/>
          </p:cNvSpPr>
          <p:nvPr/>
        </p:nvSpPr>
        <p:spPr>
          <a:xfrm xmlns:a="http://schemas.openxmlformats.org/drawingml/2006/main">
            <a:off x="609600" y="48387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Six simultaneous starts resolve to one active attempt using a database lock.</a:t>
            </a:r>
          </a:p>
        </p:txBody>
      </p:sp>
      <p:sp>
        <p:nvSpPr>
          <p:cNvPr id="11" name="">
            <a:extLst xmlns:a="http://schemas.openxmlformats.org/drawingml/2006/main">
              <a:ext uri="{FF2B5EF4-FFF2-40B4-BE49-F238E27FC236}">
                <a16:creationId xmlns:a16="http://schemas.microsoft.com/office/drawing/2014/main" id="{48E8DAAD-8711-4582-B510-B4534758B7DA}"/>
              </a:ext>
            </a:extLst>
          </p:cNvPr>
          <p:cNvSpPr>
            <a:spLocks xmlns:a="http://schemas.openxmlformats.org/drawingml/2006/main" noGrp="1"/>
          </p:cNvSpPr>
          <p:nvPr/>
        </p:nvSpPr>
        <p:spPr>
          <a:xfrm xmlns:a="http://schemas.openxmlformats.org/drawingml/2006/main">
            <a:off x="609600" y="52768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Access and lifecycle checks</a:t>
            </a:r>
          </a:p>
        </p:txBody>
      </p:sp>
      <p:sp>
        <p:nvSpPr>
          <p:cNvPr id="12" name="">
            <a:extLst xmlns:a="http://schemas.openxmlformats.org/drawingml/2006/main">
              <a:ext uri="{FF2B5EF4-FFF2-40B4-BE49-F238E27FC236}">
                <a16:creationId xmlns:a16="http://schemas.microsoft.com/office/drawing/2014/main" id="{A976BEF3-7FD6-47B0-944A-23A48CA90F90}"/>
              </a:ext>
            </a:extLst>
          </p:cNvPr>
          <p:cNvSpPr>
            <a:spLocks xmlns:a="http://schemas.openxmlformats.org/drawingml/2006/main" noGrp="1"/>
          </p:cNvSpPr>
          <p:nvPr/>
        </p:nvSpPr>
        <p:spPr>
          <a:xfrm xmlns:a="http://schemas.openxmlformats.org/drawingml/2006/main">
            <a:off x="609600" y="56578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Role/ownership, scoring, expiry, bootstrap and real servlet HTTP tests.</a:t>
            </a:r>
          </a:p>
        </p:txBody>
      </p:sp>
    </p:spTree>
    <p:extLst>
      <p:ext uri="{BB962C8B-B14F-4D97-AF65-F5344CB8AC3E}">
        <p14:creationId xmlns:p14="http://schemas.microsoft.com/office/powerpoint/2010/main" val="1701341541"/>
      </p:ext>
    </p:extLst>
  </p:cSld>
</p:sld>
</file>

<file path=ppt/slides/slide1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82E21F-4980-45EE-94DB-DB7DE0E4108C}"/>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COVERAGE</a:t>
            </a:r>
          </a:p>
        </p:txBody>
      </p:sp>
      <p:sp>
        <p:nvSpPr>
          <p:cNvPr id="2" name="">
            <a:extLst xmlns:a="http://schemas.openxmlformats.org/drawingml/2006/main">
              <a:ext uri="{FF2B5EF4-FFF2-40B4-BE49-F238E27FC236}">
                <a16:creationId xmlns:a16="http://schemas.microsoft.com/office/drawing/2014/main" id="{CAC24CE4-AFFF-4CCC-B12D-61F46D5625DF}"/>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Java web marking rubric</a:t>
            </a:r>
          </a:p>
        </p:txBody>
      </p:sp>
      <p:sp>
        <p:nvSpPr>
          <p:cNvPr id="3" name="">
            <a:extLst xmlns:a="http://schemas.openxmlformats.org/drawingml/2006/main">
              <a:ext uri="{FF2B5EF4-FFF2-40B4-BE49-F238E27FC236}">
                <a16:creationId xmlns:a16="http://schemas.microsoft.com/office/drawing/2014/main" id="{8281FE29-0C4B-4B95-B015-E44FC92C788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A3AF94FE-A780-40C2-9BD3-17666A6552D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E561092D-DB50-4A05-9493-3322324DBA36}"/>
              </a:ext>
            </a:extLst>
          </p:cNvPr>
          <p:cNvGraphicFramePr/>
          <p:nvPr/>
        </p:nvGraphicFramePr>
        <p:xfrm>
          <a:off xmlns:a="http://schemas.openxmlformats.org/drawingml/2006/main" x="609600" y="1714500"/>
          <a:ext xmlns:a="http://schemas.openxmlformats.org/drawingml/2006/main" cx="10972800" cy="3829050"/>
        </p:xfrm>
        <a:graphic xmlns:a="http://schemas.openxmlformats.org/drawingml/2006/main">
          <a:graphicData uri="http://schemas.openxmlformats.org/drawingml/2006/table">
            <a:tbl>
              <a:tblPr/>
              <a:tblGrid>
                <a:gridCol w="3952875"/>
                <a:gridCol w="1571625"/>
                <a:gridCol w="5448300"/>
              </a:tblGrid>
              <a:tr h="638175">
                <a:tc>
                  <a:txBody>
                    <a:bodyPr/>
                    <a:lstStyle/>
                    <a:p>
                      <a:r>
                        <a:rPr sz="1800" b="1">
                          <a:solidFill>
                            <a:srgbClr val="F5F2E9"/>
                          </a:solidFill>
                          <a:latin typeface="Arial"/>
                          <a:ea typeface="Arial"/>
                          <a:cs typeface="Arial"/>
                        </a:rPr>
                        <a:t>Criterion</a:t>
                      </a:r>
                    </a:p>
                  </a:txBody>
                  <a:tcPr marL="133350" marR="133350" marT="114300" marB="114300">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Maximum</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Evidence in this project</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r>
              <a:tr h="638175">
                <a:tc>
                  <a:txBody>
                    <a:bodyPr/>
                    <a:lstStyle/>
                    <a:p>
                      <a:r>
                        <a:rPr sz="1800">
                          <a:solidFill>
                            <a:srgbClr val="253F33"/>
                          </a:solidFill>
                          <a:latin typeface="Arial"/>
                          <a:ea typeface="Arial"/>
                          <a:cs typeface="Arial"/>
                        </a:rPr>
                        <a:t>Problem understanding &amp; design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Roles, architecture and database design</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Core Java concepts</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10</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Interfaces, record, generics, exceptions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Database integration (JDBC)</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Prepared JDBC, constraints, transactions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Servlets &amp; web integration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7</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REST routes and native report servlet</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b="1">
                          <a:solidFill>
                            <a:srgbClr val="253F33"/>
                          </a:solidFill>
                          <a:latin typeface="Arial"/>
                          <a:ea typeface="Arial"/>
                          <a:cs typeface="Arial"/>
                        </a:rPr>
                        <a:t>Total available</a:t>
                      </a:r>
                    </a:p>
                  </a:txBody>
                  <a:tcPr marL="133350" marR="133350" marT="114300" marB="114300">
                    <a:lnL w="9525">
                      <a:solidFill>
                        <a:srgbClr val="BBC5B6"/>
                      </a:solidFill>
                    </a:lnL>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33</a:t>
                      </a:r>
                    </a:p>
                  </a:txBody>
                  <a:tcPr marL="133350" marR="133350" marT="114300" marB="114300">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Reviewer awards the final score</a:t>
                      </a:r>
                    </a:p>
                  </a:txBody>
                  <a:tcPr marL="133350" marR="133350" marT="114300" marB="114300">
                    <a:lnR w="9525">
                      <a:solidFill>
                        <a:srgbClr val="BBC5B6"/>
                      </a:solidFill>
                    </a:lnR>
                    <a:lnB w="9525">
                      <a:solidFill>
                        <a:srgbClr val="BBC5B6"/>
                      </a:solidFill>
                    </a:lnB>
                    <a:solidFill>
                      <a:srgbClr val="E2E8D8"/>
                    </a:solidFill>
                  </a:tcPr>
                </a:tc>
              </a:tr>
            </a:tbl>
          </a:graphicData>
        </a:graphic>
      </p:graphicFrame>
      <p:sp>
        <p:nvSpPr>
          <p:cNvPr id="6" name="">
            <a:extLst xmlns:a="http://schemas.openxmlformats.org/drawingml/2006/main">
              <a:ext uri="{FF2B5EF4-FFF2-40B4-BE49-F238E27FC236}">
                <a16:creationId xmlns:a16="http://schemas.microsoft.com/office/drawing/2014/main" id="{5B94FF71-575E-48C3-99F4-81993E61E972}"/>
              </a:ext>
            </a:extLst>
          </p:cNvPr>
          <p:cNvSpPr>
            <a:spLocks xmlns:a="http://schemas.openxmlformats.org/drawingml/2006/main" noGrp="1"/>
          </p:cNvSpPr>
          <p:nvPr/>
        </p:nvSpPr>
        <p:spPr>
          <a:xfrm xmlns:a="http://schemas.openxmlformats.org/drawingml/2006/main">
            <a:off x="609600" y="5829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D583D"/>
                </a:solidFill>
                <a:latin typeface="Arial"/>
                <a:ea typeface="Arial"/>
                <a:cs typeface="Arial"/>
              </a:defRPr>
            </a:defPPr>
          </a:lstStyle>
          <a:p xmlns:a="http://schemas.openxmlformats.org/drawingml/2006/main">
            <a:pPr>
              <a:defRPr sz="1800" b="0">
                <a:solidFill>
                  <a:srgbClr val="AD583D"/>
                </a:solidFill>
                <a:latin typeface="Arial"/>
                <a:ea typeface="Arial"/>
                <a:cs typeface="Arial"/>
              </a:defRPr>
            </a:pPr>
            <a:r>
              <a:rPr sz="1800" b="0">
                <a:solidFill>
                  <a:srgbClr val="AD583D"/>
                </a:solidFill>
                <a:latin typeface="Arial"/>
                <a:ea typeface="Arial"/>
                <a:cs typeface="Arial"/>
              </a:rPr>
              <a:t>This is the web rubric. The separate GUI rubric is a different category.</a:t>
            </a:r>
          </a:p>
        </p:txBody>
      </p:sp>
    </p:spTree>
    <p:extLst>
      <p:ext uri="{BB962C8B-B14F-4D97-AF65-F5344CB8AC3E}">
        <p14:creationId xmlns:p14="http://schemas.microsoft.com/office/powerpoint/2010/main" val="165124130"/>
      </p:ext>
    </p:extLst>
  </p:cSld>
</p:sld>
</file>

<file path=ppt/slides/slide1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9EDD26C-B616-4795-B82C-846AD4AECEEA}"/>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DEMO &amp; REPOSITORY</a:t>
            </a:r>
          </a:p>
        </p:txBody>
      </p:sp>
      <p:sp>
        <p:nvSpPr>
          <p:cNvPr id="2" name="">
            <a:extLst xmlns:a="http://schemas.openxmlformats.org/drawingml/2006/main">
              <a:ext uri="{FF2B5EF4-FFF2-40B4-BE49-F238E27FC236}">
                <a16:creationId xmlns:a16="http://schemas.microsoft.com/office/drawing/2014/main" id="{8C5F6484-0C44-4462-A196-8BA42C2EEA8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Run and review the project</a:t>
            </a:r>
          </a:p>
        </p:txBody>
      </p:sp>
      <p:sp>
        <p:nvSpPr>
          <p:cNvPr id="3" name="">
            <a:extLst xmlns:a="http://schemas.openxmlformats.org/drawingml/2006/main">
              <a:ext uri="{FF2B5EF4-FFF2-40B4-BE49-F238E27FC236}">
                <a16:creationId xmlns:a16="http://schemas.microsoft.com/office/drawing/2014/main" id="{8C068DA1-11A9-4EE6-8DD8-B10CC00D706E}"/>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D0278FA4-FD90-41F2-81B3-AAA6BBF419D0}"/>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5A9454A6-2193-45AF-848F-41C6A907100E}"/>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Local requirements</a:t>
            </a:r>
          </a:p>
        </p:txBody>
      </p:sp>
      <p:sp>
        <p:nvSpPr>
          <p:cNvPr id="6" name="">
            <a:extLst xmlns:a="http://schemas.openxmlformats.org/drawingml/2006/main">
              <a:ext uri="{FF2B5EF4-FFF2-40B4-BE49-F238E27FC236}">
                <a16:creationId xmlns:a16="http://schemas.microsoft.com/office/drawing/2014/main" id="{EFB5573F-26AE-48DF-BB32-5674D3904871}"/>
              </a:ext>
            </a:extLst>
          </p:cNvPr>
          <p:cNvSpPr>
            <a:spLocks xmlns:a="http://schemas.openxmlformats.org/drawingml/2006/main" noGrp="1"/>
          </p:cNvSpPr>
          <p:nvPr/>
        </p:nvSpPr>
        <p:spPr>
          <a:xfrm xmlns:a="http://schemas.openxmlformats.org/drawingml/2006/main">
            <a:off x="609600" y="2095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17 and Maven 3.9+; run mvn spring-boot:run.</a:t>
            </a:r>
          </a:p>
        </p:txBody>
      </p:sp>
      <p:sp>
        <p:nvSpPr>
          <p:cNvPr id="7" name="">
            <a:extLst xmlns:a="http://schemas.openxmlformats.org/drawingml/2006/main">
              <a:ext uri="{FF2B5EF4-FFF2-40B4-BE49-F238E27FC236}">
                <a16:creationId xmlns:a16="http://schemas.microsoft.com/office/drawing/2014/main" id="{0895C5D5-BB4F-44C0-B3AF-141EBCE83186}"/>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Demo walkthrough</a:t>
            </a:r>
          </a:p>
        </p:txBody>
      </p:sp>
      <p:sp>
        <p:nvSpPr>
          <p:cNvPr id="8" name="">
            <a:extLst xmlns:a="http://schemas.openxmlformats.org/drawingml/2006/main">
              <a:ext uri="{FF2B5EF4-FFF2-40B4-BE49-F238E27FC236}">
                <a16:creationId xmlns:a16="http://schemas.microsoft.com/office/drawing/2014/main" id="{93AC1E00-7544-4E47-A075-2EADA441A82F}"/>
              </a:ext>
            </a:extLst>
          </p:cNvPr>
          <p:cNvSpPr>
            <a:spLocks xmlns:a="http://schemas.openxmlformats.org/drawingml/2006/main" noGrp="1"/>
          </p:cNvSpPr>
          <p:nvPr/>
        </p:nvSpPr>
        <p:spPr>
          <a:xfrm xmlns:a="http://schemas.openxmlformats.org/drawingml/2006/main">
            <a:off x="609600" y="31908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 sign in → take quiz → report → creator → admin approval.</a:t>
            </a:r>
          </a:p>
        </p:txBody>
      </p:sp>
      <p:sp>
        <p:nvSpPr>
          <p:cNvPr id="9" name="">
            <a:extLst xmlns:a="http://schemas.openxmlformats.org/drawingml/2006/main">
              <a:ext uri="{FF2B5EF4-FFF2-40B4-BE49-F238E27FC236}">
                <a16:creationId xmlns:a16="http://schemas.microsoft.com/office/drawing/2014/main" id="{CAD1925E-3E52-44DF-BD74-19923FF1140D}"/>
              </a:ext>
            </a:extLst>
          </p:cNvPr>
          <p:cNvSpPr>
            <a:spLocks xmlns:a="http://schemas.openxmlformats.org/drawingml/2006/main" noGrp="1"/>
          </p:cNvSpPr>
          <p:nvPr/>
        </p:nvSpPr>
        <p:spPr>
          <a:xfrm xmlns:a="http://schemas.openxmlformats.org/drawingml/2006/main">
            <a:off x="609600" y="39052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Repository documentation</a:t>
            </a:r>
          </a:p>
        </p:txBody>
      </p:sp>
      <p:sp>
        <p:nvSpPr>
          <p:cNvPr id="10" name="">
            <a:extLst xmlns:a="http://schemas.openxmlformats.org/drawingml/2006/main">
              <a:ext uri="{FF2B5EF4-FFF2-40B4-BE49-F238E27FC236}">
                <a16:creationId xmlns:a16="http://schemas.microsoft.com/office/drawing/2014/main" id="{555C2F76-FDA9-4E2C-BC45-40D9186BDD85}"/>
              </a:ext>
            </a:extLst>
          </p:cNvPr>
          <p:cNvSpPr>
            <a:spLocks xmlns:a="http://schemas.openxmlformats.org/drawingml/2006/main" noGrp="1"/>
          </p:cNvSpPr>
          <p:nvPr/>
        </p:nvSpPr>
        <p:spPr>
          <a:xfrm xmlns:a="http://schemas.openxmlformats.org/drawingml/2006/main">
            <a:off x="609600" y="42862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README, architecture, Review 1 evidence, deployment guide and viva notes.</a:t>
            </a:r>
          </a:p>
        </p:txBody>
      </p:sp>
      <p:sp>
        <p:nvSpPr>
          <p:cNvPr id="11" name="">
            <a:extLst xmlns:a="http://schemas.openxmlformats.org/drawingml/2006/main">
              <a:ext uri="{FF2B5EF4-FFF2-40B4-BE49-F238E27FC236}">
                <a16:creationId xmlns:a16="http://schemas.microsoft.com/office/drawing/2014/main" id="{1704729A-30BA-4652-8854-64CF3E655230}"/>
              </a:ext>
            </a:extLst>
          </p:cNvPr>
          <p:cNvSpPr>
            <a:spLocks xmlns:a="http://schemas.openxmlformats.org/drawingml/2006/main" noGrp="1"/>
          </p:cNvSpPr>
          <p:nvPr/>
        </p:nvSpPr>
        <p:spPr>
          <a:xfrm xmlns:a="http://schemas.openxmlformats.org/drawingml/2006/main">
            <a:off x="609600" y="5248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github.com/muskanbuilds11/</a:t>
            </a:r>
          </a:p>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java-online-quiz-platform</a:t>
            </a:r>
          </a:p>
        </p:txBody>
      </p:sp>
    </p:spTree>
    <p:extLst>
      <p:ext uri="{BB962C8B-B14F-4D97-AF65-F5344CB8AC3E}">
        <p14:creationId xmlns:p14="http://schemas.microsoft.com/office/powerpoint/2010/main" val="683904136"/>
      </p:ext>
    </p:extLst>
  </p:cSld>
</p:sld>
</file>

<file path=ppt/slides/slide1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6CD7216-35E1-4780-BD9D-62078D67521B}"/>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DEMONSTRATION ACCESS</a:t>
            </a:r>
          </a:p>
        </p:txBody>
      </p:sp>
      <p:sp>
        <p:nvSpPr>
          <p:cNvPr id="2" name="">
            <a:extLst xmlns:a="http://schemas.openxmlformats.org/drawingml/2006/main">
              <a:ext uri="{FF2B5EF4-FFF2-40B4-BE49-F238E27FC236}">
                <a16:creationId xmlns:a16="http://schemas.microsoft.com/office/drawing/2014/main" id="{EF96B717-FAD7-4A23-8F71-6CFA4C864BC4}"/>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Local demo login credentials</a:t>
            </a:r>
          </a:p>
        </p:txBody>
      </p:sp>
      <p:sp>
        <p:nvSpPr>
          <p:cNvPr id="3" name="">
            <a:extLst xmlns:a="http://schemas.openxmlformats.org/drawingml/2006/main">
              <a:ext uri="{FF2B5EF4-FFF2-40B4-BE49-F238E27FC236}">
                <a16:creationId xmlns:a16="http://schemas.microsoft.com/office/drawing/2014/main" id="{42231240-1252-4917-92BF-A5A29340E5C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B3C7932-1AD1-4F3C-8973-A26E0AA6A892}"/>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16</a:t>
            </a:r>
          </a:p>
        </p:txBody>
      </p:sp>
      <p:graphicFrame>
        <p:nvGraphicFramePr>
          <p:cNvPr id="5" name="">
            <a:extLst xmlns:a="http://schemas.openxmlformats.org/drawingml/2006/main">
              <a:ext uri="{FF2B5EF4-FFF2-40B4-BE49-F238E27FC236}">
                <a16:creationId xmlns:a16="http://schemas.microsoft.com/office/drawing/2014/main" id="{DF3FA346-E453-435B-8C97-BF7A7E421F34}"/>
              </a:ext>
            </a:extLst>
          </p:cNvPr>
          <p:cNvGraphicFramePr/>
          <p:nvPr/>
        </p:nvGraphicFramePr>
        <p:xfrm>
          <a:off xmlns:a="http://schemas.openxmlformats.org/drawingml/2006/main" x="609600" y="1743075"/>
          <a:ext xmlns:a="http://schemas.openxmlformats.org/drawingml/2006/main" cx="10972800" cy="2857500"/>
        </p:xfrm>
        <a:graphic xmlns:a="http://schemas.openxmlformats.org/drawingml/2006/main">
          <a:graphicData uri="http://schemas.openxmlformats.org/drawingml/2006/table">
            <a:tbl>
              <a:tblPr/>
              <a:tblGrid>
                <a:gridCol w="4000500"/>
                <a:gridCol w="6972300"/>
              </a:tblGrid>
              <a:tr h="714375">
                <a:tc>
                  <a:txBody>
                    <a:bodyPr/>
                    <a:lstStyle/>
                    <a:p>
                      <a:r>
                        <a:rPr sz="2175" b="1">
                          <a:solidFill>
                            <a:srgbClr val="F5F2E9"/>
                          </a:solidFill>
                          <a:latin typeface="Arial"/>
                          <a:ea typeface="Arial"/>
                          <a:cs typeface="Arial"/>
                        </a:rPr>
                        <a:t>Role</a:t>
                      </a:r>
                    </a:p>
                  </a:txBody>
                  <a:tcPr marL="171450" marR="171450" marT="161925" marB="161925">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2175" b="1">
                          <a:solidFill>
                            <a:srgbClr val="F5F2E9"/>
                          </a:solidFill>
                          <a:latin typeface="Arial"/>
                          <a:ea typeface="Arial"/>
                          <a:cs typeface="Arial"/>
                        </a:rPr>
                        <a:t>Email address</a:t>
                      </a:r>
                    </a:p>
                  </a:txBody>
                  <a:tcPr marL="171450" marR="171450" marT="161925" marB="161925">
                    <a:lnR w="9525">
                      <a:solidFill>
                        <a:srgbClr val="BBC5B6"/>
                      </a:solidFill>
                    </a:lnR>
                    <a:lnT w="9525">
                      <a:solidFill>
                        <a:srgbClr val="BBC5B6"/>
                      </a:solidFill>
                    </a:lnT>
                    <a:lnB w="9525">
                      <a:solidFill>
                        <a:srgbClr val="BBC5B6"/>
                      </a:solidFill>
                    </a:lnB>
                    <a:solidFill>
                      <a:srgbClr val="253F33"/>
                    </a:solidFill>
                  </a:tcPr>
                </a:tc>
              </a:tr>
              <a:tr h="714375">
                <a:tc>
                  <a:txBody>
                    <a:bodyPr/>
                    <a:lstStyle/>
                    <a:p>
                      <a:r>
                        <a:rPr sz="2175">
                          <a:solidFill>
                            <a:srgbClr val="253F33"/>
                          </a:solidFill>
                          <a:latin typeface="Arial"/>
                          <a:ea typeface="Arial"/>
                          <a:cs typeface="Arial"/>
                        </a:rPr>
                        <a:t>Administrator</a:t>
                      </a:r>
                    </a:p>
                  </a:txBody>
                  <a:tcPr marL="171450" marR="171450" marT="161925" marB="161925">
                    <a:lnL w="9525">
                      <a:solidFill>
                        <a:srgbClr val="BBC5B6"/>
                      </a:solidFill>
                    </a:lnL>
                    <a:lnR w="9525">
                      <a:solidFill>
                        <a:srgbClr val="BBC5B6"/>
                      </a:solidFill>
                    </a:lnR>
                    <a:lnB w="9525">
                      <a:solidFill>
                        <a:srgbClr val="BBC5B6"/>
                      </a:solidFill>
                    </a:lnB>
                    <a:solidFill>
                      <a:srgbClr val="F5F2E9"/>
                    </a:solidFill>
                  </a:tcPr>
                </a:tc>
                <a:tc>
                  <a:txBody>
                    <a:bodyPr/>
                    <a:lstStyle/>
                    <a:p>
                      <a:r>
                        <a:rPr sz="2175">
                          <a:solidFill>
                            <a:srgbClr val="253F33"/>
                          </a:solidFill>
                          <a:latin typeface="Arial"/>
                          <a:ea typeface="Arial"/>
                          <a:cs typeface="Arial"/>
                        </a:rPr>
                        <a:t>admin@quizcraft.dev</a:t>
                      </a:r>
                    </a:p>
                  </a:txBody>
                  <a:tcPr marL="171450" marR="171450" marT="161925" marB="161925">
                    <a:lnR w="9525">
                      <a:solidFill>
                        <a:srgbClr val="BBC5B6"/>
                      </a:solidFill>
                    </a:lnR>
                    <a:lnB w="9525">
                      <a:solidFill>
                        <a:srgbClr val="BBC5B6"/>
                      </a:solidFill>
                    </a:lnB>
                    <a:solidFill>
                      <a:srgbClr val="F5F2E9"/>
                    </a:solidFill>
                  </a:tcPr>
                </a:tc>
              </a:tr>
              <a:tr h="714375">
                <a:tc>
                  <a:txBody>
                    <a:bodyPr/>
                    <a:lstStyle/>
                    <a:p>
                      <a:r>
                        <a:rPr sz="2175">
                          <a:solidFill>
                            <a:srgbClr val="253F33"/>
                          </a:solidFill>
                          <a:latin typeface="Arial"/>
                          <a:ea typeface="Arial"/>
                          <a:cs typeface="Arial"/>
                        </a:rPr>
                        <a:t>Quiz creator</a:t>
                      </a:r>
                    </a:p>
                  </a:txBody>
                  <a:tcPr marL="171450" marR="171450" marT="161925" marB="161925">
                    <a:lnL w="9525">
                      <a:solidFill>
                        <a:srgbClr val="BBC5B6"/>
                      </a:solidFill>
                    </a:lnL>
                    <a:lnR w="9525">
                      <a:solidFill>
                        <a:srgbClr val="BBC5B6"/>
                      </a:solidFill>
                    </a:lnR>
                    <a:lnB w="9525">
                      <a:solidFill>
                        <a:srgbClr val="BBC5B6"/>
                      </a:solidFill>
                    </a:lnB>
                    <a:solidFill>
                      <a:srgbClr val="F5F2E9"/>
                    </a:solidFill>
                  </a:tcPr>
                </a:tc>
                <a:tc>
                  <a:txBody>
                    <a:bodyPr/>
                    <a:lstStyle/>
                    <a:p>
                      <a:r>
                        <a:rPr sz="2175">
                          <a:solidFill>
                            <a:srgbClr val="253F33"/>
                          </a:solidFill>
                          <a:latin typeface="Arial"/>
                          <a:ea typeface="Arial"/>
                          <a:cs typeface="Arial"/>
                        </a:rPr>
                        <a:t>creator@quizcraft.dev</a:t>
                      </a:r>
                    </a:p>
                  </a:txBody>
                  <a:tcPr marL="171450" marR="171450" marT="161925" marB="161925">
                    <a:lnR w="9525">
                      <a:solidFill>
                        <a:srgbClr val="BBC5B6"/>
                      </a:solidFill>
                    </a:lnR>
                    <a:lnB w="9525">
                      <a:solidFill>
                        <a:srgbClr val="BBC5B6"/>
                      </a:solidFill>
                    </a:lnB>
                    <a:solidFill>
                      <a:srgbClr val="F5F2E9"/>
                    </a:solidFill>
                  </a:tcPr>
                </a:tc>
              </a:tr>
              <a:tr h="714375">
                <a:tc>
                  <a:txBody>
                    <a:bodyPr/>
                    <a:lstStyle/>
                    <a:p>
                      <a:r>
                        <a:rPr sz="2175">
                          <a:solidFill>
                            <a:srgbClr val="253F33"/>
                          </a:solidFill>
                          <a:latin typeface="Arial"/>
                          <a:ea typeface="Arial"/>
                          <a:cs typeface="Arial"/>
                        </a:rPr>
                        <a:t>Participant</a:t>
                      </a:r>
                    </a:p>
                  </a:txBody>
                  <a:tcPr marL="171450" marR="171450" marT="161925" marB="161925">
                    <a:lnL w="9525">
                      <a:solidFill>
                        <a:srgbClr val="BBC5B6"/>
                      </a:solidFill>
                    </a:lnL>
                    <a:lnR w="9525">
                      <a:solidFill>
                        <a:srgbClr val="BBC5B6"/>
                      </a:solidFill>
                    </a:lnR>
                    <a:lnB w="9525">
                      <a:solidFill>
                        <a:srgbClr val="BBC5B6"/>
                      </a:solidFill>
                    </a:lnB>
                    <a:solidFill>
                      <a:srgbClr val="F5F2E9"/>
                    </a:solidFill>
                  </a:tcPr>
                </a:tc>
                <a:tc>
                  <a:txBody>
                    <a:bodyPr/>
                    <a:lstStyle/>
                    <a:p>
                      <a:r>
                        <a:rPr sz="2175">
                          <a:solidFill>
                            <a:srgbClr val="253F33"/>
                          </a:solidFill>
                          <a:latin typeface="Arial"/>
                          <a:ea typeface="Arial"/>
                          <a:cs typeface="Arial"/>
                        </a:rPr>
                        <a:t>participant@quizcraft.dev</a:t>
                      </a:r>
                    </a:p>
                  </a:txBody>
                  <a:tcPr marL="171450" marR="171450" marT="161925" marB="161925">
                    <a:lnR w="9525">
                      <a:solidFill>
                        <a:srgbClr val="BBC5B6"/>
                      </a:solidFill>
                    </a:lnR>
                    <a:lnB w="9525">
                      <a:solidFill>
                        <a:srgbClr val="BBC5B6"/>
                      </a:solidFill>
                    </a:lnB>
                    <a:solidFill>
                      <a:srgbClr val="F5F2E9"/>
                    </a:solidFill>
                  </a:tcPr>
                </a:tc>
              </a:tr>
            </a:tbl>
          </a:graphicData>
        </a:graphic>
      </p:graphicFrame>
      <p:sp>
        <p:nvSpPr>
          <p:cNvPr id="6" name="">
            <a:extLst xmlns:a="http://schemas.openxmlformats.org/drawingml/2006/main">
              <a:ext uri="{FF2B5EF4-FFF2-40B4-BE49-F238E27FC236}">
                <a16:creationId xmlns:a16="http://schemas.microsoft.com/office/drawing/2014/main" id="{7D5B8C17-9D6E-4D3A-9007-9F313CB34FEF}"/>
              </a:ext>
            </a:extLst>
          </p:cNvPr>
          <p:cNvSpPr>
            <a:spLocks xmlns:a="http://schemas.openxmlformats.org/drawingml/2006/main" noGrp="1"/>
          </p:cNvSpPr>
          <p:nvPr/>
        </p:nvSpPr>
        <p:spPr>
          <a:xfrm xmlns:a="http://schemas.openxmlformats.org/drawingml/2006/main">
            <a:off x="609600" y="4953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AD583D"/>
                </a:solidFill>
                <a:latin typeface="Arial"/>
                <a:ea typeface="Arial"/>
                <a:cs typeface="Arial"/>
              </a:defRPr>
            </a:defPPr>
          </a:lstStyle>
          <a:p xmlns:a="http://schemas.openxmlformats.org/drawingml/2006/main">
            <a:pPr>
              <a:defRPr sz="2550" b="1">
                <a:solidFill>
                  <a:srgbClr val="AD583D"/>
                </a:solidFill>
                <a:latin typeface="Arial"/>
                <a:ea typeface="Arial"/>
                <a:cs typeface="Arial"/>
              </a:defRPr>
            </a:pPr>
            <a:r>
              <a:rPr sz="2550" b="1">
                <a:solidFill>
                  <a:srgbClr val="AD583D"/>
                </a:solidFill>
                <a:latin typeface="Arial"/>
                <a:ea typeface="Arial"/>
                <a:cs typeface="Arial"/>
              </a:rPr>
              <a:t>Password for all three: JavaLab@123</a:t>
            </a:r>
          </a:p>
        </p:txBody>
      </p:sp>
      <p:sp>
        <p:nvSpPr>
          <p:cNvPr id="7" name="">
            <a:extLst xmlns:a="http://schemas.openxmlformats.org/drawingml/2006/main">
              <a:ext uri="{FF2B5EF4-FFF2-40B4-BE49-F238E27FC236}">
                <a16:creationId xmlns:a16="http://schemas.microsoft.com/office/drawing/2014/main" id="{CC3FF7D6-4E06-44F5-A2BC-631258ACA789}"/>
              </a:ext>
            </a:extLst>
          </p:cNvPr>
          <p:cNvSpPr>
            <a:spLocks xmlns:a="http://schemas.openxmlformats.org/drawingml/2006/main" noGrp="1"/>
          </p:cNvSpPr>
          <p:nvPr/>
        </p:nvSpPr>
        <p:spPr>
          <a:xfrm xmlns:a="http://schemas.openxmlformats.org/drawingml/2006/main">
            <a:off x="609600" y="57721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Normal users create an account first. Admin creates creator accounts.</a:t>
            </a:r>
          </a:p>
        </p:txBody>
      </p:sp>
    </p:spTree>
    <p:extLst>
      <p:ext uri="{BB962C8B-B14F-4D97-AF65-F5344CB8AC3E}">
        <p14:creationId xmlns:p14="http://schemas.microsoft.com/office/powerpoint/2010/main" val="517612899"/>
      </p:ext>
    </p:extLst>
  </p:cSld>
</p:sld>
</file>

<file path=ppt/slides/slide1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9AA5E4-3B4F-4FCC-9647-B5EE21D6FE1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HOSTING</a:t>
            </a:r>
          </a:p>
        </p:txBody>
      </p:sp>
      <p:sp>
        <p:nvSpPr>
          <p:cNvPr id="2" name="">
            <a:extLst xmlns:a="http://schemas.openxmlformats.org/drawingml/2006/main">
              <a:ext uri="{FF2B5EF4-FFF2-40B4-BE49-F238E27FC236}">
                <a16:creationId xmlns:a16="http://schemas.microsoft.com/office/drawing/2014/main" id="{59751387-FC36-4225-A48F-A01E2D1E5862}"/>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Cloud deployment plan</a:t>
            </a:r>
          </a:p>
        </p:txBody>
      </p:sp>
      <p:sp>
        <p:nvSpPr>
          <p:cNvPr id="3" name="">
            <a:extLst xmlns:a="http://schemas.openxmlformats.org/drawingml/2006/main">
              <a:ext uri="{FF2B5EF4-FFF2-40B4-BE49-F238E27FC236}">
                <a16:creationId xmlns:a16="http://schemas.microsoft.com/office/drawing/2014/main" id="{4AA8A1E2-6545-4EE2-805E-AF8272B576AD}"/>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0E0463AD-07F3-4CC0-9CB3-377C64409A6D}"/>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CF1CDC6-FFC0-494E-8EE4-2C2F66D4A805}"/>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Render web service + Neon PostgreSQL</a:t>
            </a:r>
          </a:p>
        </p:txBody>
      </p:sp>
      <p:sp>
        <p:nvSpPr>
          <p:cNvPr id="6" name="">
            <a:extLst xmlns:a="http://schemas.openxmlformats.org/drawingml/2006/main">
              <a:ext uri="{FF2B5EF4-FFF2-40B4-BE49-F238E27FC236}">
                <a16:creationId xmlns:a16="http://schemas.microsoft.com/office/drawing/2014/main" id="{02FB5EEF-33A2-4DE7-9AA2-A97B05A02C8B}"/>
              </a:ext>
            </a:extLst>
          </p:cNvPr>
          <p:cNvSpPr>
            <a:spLocks xmlns:a="http://schemas.openxmlformats.org/drawingml/2006/main" noGrp="1"/>
          </p:cNvSpPr>
          <p:nvPr/>
        </p:nvSpPr>
        <p:spPr>
          <a:xfrm xmlns:a="http://schemas.openxmlformats.org/drawingml/2006/main">
            <a:off x="609600" y="20955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Dockerfile, render.yaml and a PostgreSQL cloud profile are included.</a:t>
            </a:r>
          </a:p>
        </p:txBody>
      </p:sp>
      <p:sp>
        <p:nvSpPr>
          <p:cNvPr id="7" name="">
            <a:extLst xmlns:a="http://schemas.openxmlformats.org/drawingml/2006/main">
              <a:ext uri="{FF2B5EF4-FFF2-40B4-BE49-F238E27FC236}">
                <a16:creationId xmlns:a16="http://schemas.microsoft.com/office/drawing/2014/main" id="{2F067613-5BCA-4D11-ACEF-767BDC76D73C}"/>
              </a:ext>
            </a:extLst>
          </p:cNvPr>
          <p:cNvSpPr>
            <a:spLocks xmlns:a="http://schemas.openxmlformats.org/drawingml/2006/main" noGrp="1"/>
          </p:cNvSpPr>
          <p:nvPr/>
        </p:nvSpPr>
        <p:spPr>
          <a:xfrm xmlns:a="http://schemas.openxmlformats.org/drawingml/2006/main">
            <a:off x="609600" y="28194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Private deployment configuration</a:t>
            </a:r>
          </a:p>
        </p:txBody>
      </p:sp>
      <p:sp>
        <p:nvSpPr>
          <p:cNvPr id="8" name="">
            <a:extLst xmlns:a="http://schemas.openxmlformats.org/drawingml/2006/main">
              <a:ext uri="{FF2B5EF4-FFF2-40B4-BE49-F238E27FC236}">
                <a16:creationId xmlns:a16="http://schemas.microsoft.com/office/drawing/2014/main" id="{5BCF72E0-C10D-4502-8CAF-158B08ED196A}"/>
              </a:ext>
            </a:extLst>
          </p:cNvPr>
          <p:cNvSpPr>
            <a:spLocks xmlns:a="http://schemas.openxmlformats.org/drawingml/2006/main" noGrp="1"/>
          </p:cNvSpPr>
          <p:nvPr/>
        </p:nvSpPr>
        <p:spPr>
          <a:xfrm xmlns:a="http://schemas.openxmlformats.org/drawingml/2006/main">
            <a:off x="609600" y="32004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Set database credentials and an initial admin through environment variables.</a:t>
            </a:r>
          </a:p>
        </p:txBody>
      </p:sp>
      <p:sp>
        <p:nvSpPr>
          <p:cNvPr id="9" name="">
            <a:extLst xmlns:a="http://schemas.openxmlformats.org/drawingml/2006/main">
              <a:ext uri="{FF2B5EF4-FFF2-40B4-BE49-F238E27FC236}">
                <a16:creationId xmlns:a16="http://schemas.microsoft.com/office/drawing/2014/main" id="{DE1CEB6D-7434-4CC7-B084-97A82CBA008B}"/>
              </a:ext>
            </a:extLst>
          </p:cNvPr>
          <p:cNvSpPr>
            <a:spLocks xmlns:a="http://schemas.openxmlformats.org/drawingml/2006/main" noGrp="1"/>
          </p:cNvSpPr>
          <p:nvPr/>
        </p:nvSpPr>
        <p:spPr>
          <a:xfrm xmlns:a="http://schemas.openxmlformats.org/drawingml/2006/main">
            <a:off x="609600" y="3924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Current deployment status</a:t>
            </a:r>
          </a:p>
        </p:txBody>
      </p:sp>
      <p:sp>
        <p:nvSpPr>
          <p:cNvPr id="10" name="">
            <a:extLst xmlns:a="http://schemas.openxmlformats.org/drawingml/2006/main">
              <a:ext uri="{FF2B5EF4-FFF2-40B4-BE49-F238E27FC236}">
                <a16:creationId xmlns:a16="http://schemas.microsoft.com/office/drawing/2014/main" id="{35B0EFEF-4EDE-40A2-8968-0F03FE1C3AA5}"/>
              </a:ext>
            </a:extLst>
          </p:cNvPr>
          <p:cNvSpPr>
            <a:spLocks xmlns:a="http://schemas.openxmlformats.org/drawingml/2006/main" noGrp="1"/>
          </p:cNvSpPr>
          <p:nvPr/>
        </p:nvSpPr>
        <p:spPr>
          <a:xfrm xmlns:a="http://schemas.openxmlformats.org/drawingml/2006/main">
            <a:off x="609600" y="43053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Configuration is ready; provider setup and a live deployment are pending.</a:t>
            </a:r>
          </a:p>
        </p:txBody>
      </p:sp>
      <p:sp>
        <p:nvSpPr>
          <p:cNvPr id="11" name="">
            <a:extLst xmlns:a="http://schemas.openxmlformats.org/drawingml/2006/main">
              <a:ext uri="{FF2B5EF4-FFF2-40B4-BE49-F238E27FC236}">
                <a16:creationId xmlns:a16="http://schemas.microsoft.com/office/drawing/2014/main" id="{55C66EE7-D273-4E6B-8A3D-3C80E81DEEA2}"/>
              </a:ext>
            </a:extLst>
          </p:cNvPr>
          <p:cNvSpPr>
            <a:spLocks xmlns:a="http://schemas.openxmlformats.org/drawingml/2006/main" noGrp="1"/>
          </p:cNvSpPr>
          <p:nvPr/>
        </p:nvSpPr>
        <p:spPr>
          <a:xfrm xmlns:a="http://schemas.openxmlformats.org/drawingml/2006/main">
            <a:off x="609600" y="54102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Live URL:</a:t>
            </a:r>
          </a:p>
        </p:txBody>
      </p:sp>
    </p:spTree>
    <p:extLst>
      <p:ext uri="{BB962C8B-B14F-4D97-AF65-F5344CB8AC3E}">
        <p14:creationId xmlns:p14="http://schemas.microsoft.com/office/powerpoint/2010/main" val="2722597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2026-10-15T16:55:55.8990000Z</dcterms:created>
  <dcterms:modified xsi:type="dcterms:W3CDTF">2026-10-15T16:55:55.8990000Z</dcterms:modified>
</coreProperties>
</file>