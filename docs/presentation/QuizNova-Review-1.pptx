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a4f250dfcf4f88" /><Relationship Type="http://schemas.openxmlformats.org/officeDocument/2006/relationships/extended-properties" Target="/docProps/app.xml" Id="R3d0b58dca52e4039" /><Relationship Type="http://schemas.openxmlformats.org/officeDocument/2006/relationships/officeDocument" Target="/ppt/presentation.xml" Id="Re26d815c1c0c460c" /></Relationships>
</file>

<file path=ppt/presentation.xml><?xml version="1.0" encoding="utf-8"?>
<p:presentation xmlns:p="http://schemas.openxmlformats.org/presentationml/2006/main">
  <p:sldMasterIdLst>
    <p:sldMasterId xmlns:r="http://schemas.openxmlformats.org/officeDocument/2006/relationships" id="2147483648" r:id="Rfee24b6fe4a34770"/>
  </p:sldMasterIdLst>
  <p:notesMasterIdLst>
    <p:notesMasterId xmlns:r="http://schemas.openxmlformats.org/officeDocument/2006/relationships" r:id="Rf5b23a840f854243"/>
  </p:notesMasterIdLst>
  <p:sldIdLst>
    <p:sldId xmlns:r="http://schemas.openxmlformats.org/officeDocument/2006/relationships" id="256" r:id="Rebb15089ef094bd3"/>
    <p:sldId xmlns:r="http://schemas.openxmlformats.org/officeDocument/2006/relationships" id="257" r:id="R9717923cae6f4986"/>
    <p:sldId xmlns:r="http://schemas.openxmlformats.org/officeDocument/2006/relationships" id="258" r:id="R52ea58a78c50467e"/>
    <p:sldId xmlns:r="http://schemas.openxmlformats.org/officeDocument/2006/relationships" id="259" r:id="R1ab2ae47a9ae4d19"/>
    <p:sldId xmlns:r="http://schemas.openxmlformats.org/officeDocument/2006/relationships" id="260" r:id="R6e13164621304983"/>
    <p:sldId xmlns:r="http://schemas.openxmlformats.org/officeDocument/2006/relationships" id="261" r:id="R4d771d5add444eec"/>
    <p:sldId xmlns:r="http://schemas.openxmlformats.org/officeDocument/2006/relationships" id="262" r:id="Re5f93417f28f4180"/>
    <p:sldId xmlns:r="http://schemas.openxmlformats.org/officeDocument/2006/relationships" id="263" r:id="Ra77f68187d034b89"/>
    <p:sldId xmlns:r="http://schemas.openxmlformats.org/officeDocument/2006/relationships" id="264" r:id="Rc520d9a581be4656"/>
    <p:sldId xmlns:r="http://schemas.openxmlformats.org/officeDocument/2006/relationships" id="265" r:id="R59be68b5f9114d39"/>
    <p:sldId xmlns:r="http://schemas.openxmlformats.org/officeDocument/2006/relationships" id="266" r:id="R22db0696b8f640ec"/>
    <p:sldId xmlns:r="http://schemas.openxmlformats.org/officeDocument/2006/relationships" id="267" r:id="R7348645f1f0641c0"/>
    <p:sldId xmlns:r="http://schemas.openxmlformats.org/officeDocument/2006/relationships" id="268" r:id="Ra699b55d272243e4"/>
    <p:sldId xmlns:r="http://schemas.openxmlformats.org/officeDocument/2006/relationships" id="269" r:id="Reb5f4e490eac485a"/>
    <p:sldId xmlns:r="http://schemas.openxmlformats.org/officeDocument/2006/relationships" id="270" r:id="R0ff24806da7c4149"/>
    <p:sldId xmlns:r="http://schemas.openxmlformats.org/officeDocument/2006/relationships" id="271" r:id="R26dbc76ac2344584"/>
    <p:sldId xmlns:r="http://schemas.openxmlformats.org/officeDocument/2006/relationships" id="272" r:id="R02aaf3819d6945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2928ba525442b5" /><Relationship Type="http://schemas.openxmlformats.org/officeDocument/2006/relationships/slideMaster" Target="/ppt/slideMasters/slideMaster1.xml" Id="Rfee24b6fe4a34770" /><Relationship Type="http://schemas.openxmlformats.org/officeDocument/2006/relationships/notesMaster" Target="/ppt/notesMasters/notesMaster1.xml" Id="Rf5b23a840f854243" /><Relationship Type="http://schemas.openxmlformats.org/officeDocument/2006/relationships/presProps" Target="/ppt/presProps.xml" Id="R7689e8be3a594c98" /><Relationship Type="http://schemas.openxmlformats.org/officeDocument/2006/relationships/tableStyles" Target="/ppt/tableStyles.xml" Id="R215fe3e80e7e4fff" /><Relationship Type="http://schemas.openxmlformats.org/officeDocument/2006/relationships/slide" Target="/ppt/slides/slide1.xml" Id="Rebb15089ef094bd3" /><Relationship Type="http://schemas.openxmlformats.org/officeDocument/2006/relationships/slide" Target="/ppt/slides/slide2.xml" Id="R9717923cae6f4986" /><Relationship Type="http://schemas.openxmlformats.org/officeDocument/2006/relationships/slide" Target="/ppt/slides/slide3.xml" Id="R52ea58a78c50467e" /><Relationship Type="http://schemas.openxmlformats.org/officeDocument/2006/relationships/slide" Target="/ppt/slides/slide4.xml" Id="R1ab2ae47a9ae4d19" /><Relationship Type="http://schemas.openxmlformats.org/officeDocument/2006/relationships/slide" Target="/ppt/slides/slide5.xml" Id="R6e13164621304983" /><Relationship Type="http://schemas.openxmlformats.org/officeDocument/2006/relationships/slide" Target="/ppt/slides/slide6.xml" Id="R4d771d5add444eec" /><Relationship Type="http://schemas.openxmlformats.org/officeDocument/2006/relationships/slide" Target="/ppt/slides/slide7.xml" Id="Re5f93417f28f4180" /><Relationship Type="http://schemas.openxmlformats.org/officeDocument/2006/relationships/slide" Target="/ppt/slides/slide8.xml" Id="Ra77f68187d034b89" /><Relationship Type="http://schemas.openxmlformats.org/officeDocument/2006/relationships/slide" Target="/ppt/slides/slide9.xml" Id="Rc520d9a581be4656" /><Relationship Type="http://schemas.openxmlformats.org/officeDocument/2006/relationships/slide" Target="/ppt/slides/slide10.xml" Id="R59be68b5f9114d39" /><Relationship Type="http://schemas.openxmlformats.org/officeDocument/2006/relationships/slide" Target="/ppt/slides/slide11.xml" Id="R22db0696b8f640ec" /><Relationship Type="http://schemas.openxmlformats.org/officeDocument/2006/relationships/slide" Target="/ppt/slides/slide12.xml" Id="R7348645f1f0641c0" /><Relationship Type="http://schemas.openxmlformats.org/officeDocument/2006/relationships/slide" Target="/ppt/slides/slide13.xml" Id="Ra699b55d272243e4" /><Relationship Type="http://schemas.openxmlformats.org/officeDocument/2006/relationships/slide" Target="/ppt/slides/slide14.xml" Id="Reb5f4e490eac485a" /><Relationship Type="http://schemas.openxmlformats.org/officeDocument/2006/relationships/slide" Target="/ppt/slides/slide15.xml" Id="R0ff24806da7c4149" /><Relationship Type="http://schemas.openxmlformats.org/officeDocument/2006/relationships/slide" Target="/ppt/slides/slide16.xml" Id="R26dbc76ac2344584" /><Relationship Type="http://schemas.openxmlformats.org/officeDocument/2006/relationships/slide" Target="/ppt/slides/slide17.xml" Id="R02aaf3819d6945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8bcf44cf1849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64f872983e42e1" /><Relationship Type="http://schemas.openxmlformats.org/officeDocument/2006/relationships/notesMaster" Target="/ppt/notesMasters/notesMaster1.xml" Id="Ra34a249a5eef44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bb1659a9574d9e" /><Relationship Type="http://schemas.openxmlformats.org/officeDocument/2006/relationships/notesMaster" Target="/ppt/notesMasters/notesMaster1.xml" Id="Rbcb05513f7fa4d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7cb25ff784a4c" /><Relationship Type="http://schemas.openxmlformats.org/officeDocument/2006/relationships/notesMaster" Target="/ppt/notesMasters/notesMaster1.xml" Id="Reba79d13646044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25bf9acf304a2b" /><Relationship Type="http://schemas.openxmlformats.org/officeDocument/2006/relationships/notesMaster" Target="/ppt/notesMasters/notesMaster1.xml" Id="Re4ec1401dc8c42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e83f08570f4a8d" /><Relationship Type="http://schemas.openxmlformats.org/officeDocument/2006/relationships/notesMaster" Target="/ppt/notesMasters/notesMaster1.xml" Id="Ra8e9462fa9f042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343d7bd9df4375" /><Relationship Type="http://schemas.openxmlformats.org/officeDocument/2006/relationships/notesMaster" Target="/ppt/notesMasters/notesMaster1.xml" Id="Rbb6cd7c9d4734e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fb9cdaab284c94" /><Relationship Type="http://schemas.openxmlformats.org/officeDocument/2006/relationships/notesMaster" Target="/ppt/notesMasters/notesMaster1.xml" Id="R2ff39d40992d4d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8cfe824bd04a79" /><Relationship Type="http://schemas.openxmlformats.org/officeDocument/2006/relationships/notesMaster" Target="/ppt/notesMasters/notesMaster1.xml" Id="Rabac44d394464d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5deda1b2fd4fb9" /><Relationship Type="http://schemas.openxmlformats.org/officeDocument/2006/relationships/notesMaster" Target="/ppt/notesMasters/notesMaster1.xml" Id="R0079a29a5a6b42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5ec65996fe4cef" /><Relationship Type="http://schemas.openxmlformats.org/officeDocument/2006/relationships/notesMaster" Target="/ppt/notesMasters/notesMaster1.xml" Id="R05f3f09ddf0a4b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b7befe1d7f4527" /><Relationship Type="http://schemas.openxmlformats.org/officeDocument/2006/relationships/notesMaster" Target="/ppt/notesMasters/notesMaster1.xml" Id="R5f640e1be85040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d3af36f6fb4064" /><Relationship Type="http://schemas.openxmlformats.org/officeDocument/2006/relationships/notesMaster" Target="/ppt/notesMasters/notesMaster1.xml" Id="R0f5139e0fdc941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ff62a4e37349a9" /><Relationship Type="http://schemas.openxmlformats.org/officeDocument/2006/relationships/notesMaster" Target="/ppt/notesMasters/notesMaster1.xml" Id="R42c379be0b4b46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0d481e8db745f5" /><Relationship Type="http://schemas.openxmlformats.org/officeDocument/2006/relationships/notesMaster" Target="/ppt/notesMasters/notesMaster1.xml" Id="Rd7e386d6c5f44f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8a266306434357" /><Relationship Type="http://schemas.openxmlformats.org/officeDocument/2006/relationships/notesMaster" Target="/ppt/notesMasters/notesMaster1.xml" Id="R0f9bdef1d7e042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dbd0574c77464d" /><Relationship Type="http://schemas.openxmlformats.org/officeDocument/2006/relationships/notesMaster" Target="/ppt/notesMasters/notesMaster1.xml" Id="Rc0cee90eb4b24f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1dbb98f53d4d17" /><Relationship Type="http://schemas.openxmlformats.org/officeDocument/2006/relationships/notesMaster" Target="/ppt/notesMasters/notesMaster1.xml" Id="R75c0e811d73b45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follows the submitted Review 0 screenshot. Student name, roll number and team are intentionally blank because these details were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is four-option Java MCQs. Messages and in-app reminders support participants. Each role is authorized on the server. Requirements source: user-provided project specification and GUVI Review 1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SecurityConfig.java, ApiController.java, PlatformService.java, ReportWebConfiguration.java. Both request paths use the same authorized service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src/main/resources/schema.sql. Diagram summarizes key relationships; reminders reference app_users and quizzes, not attempts. Additional user references: attempts.participant_id and reviewed_by, messages.sender_id/recipient_id. All relationships and 8 tables are documented in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excerpts: JdbcStore.insert and PlatformService attempt locking. JdbcTemplate manages JDBC connections/resources and bound queries. schema.sql works with H2 and PostgreSQL; the CI postgres job executes the integration suite against PostgreSQL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ScoringPolicy.java, MultipleChoiceScoringPolicy.java, QuizScore.java, ReportFormatter.java, TextReportFormatter.java, JdbcStore.java, PerformanceReportServlet.java. These are injected or called by real application paths. Explain exact pass comparison separately from rounded display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with local sample data. PerformanceReportServlet.doGet is registered by ReportWebConfiguration. ReportFormatter&lt;Map&lt;String,Object&gt;&gt; produces the text download. Real HTTP tests cover authorized export, anonymous 401, wrong owner 403 and invalid path 404.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captured from the running local app at desktop 1440×1000 and mobile 390×844. Passwords are BCrypt hashed. Public registration always creates a Participant. Creators and other administrators are created by an administrator. Cloud bootstrap uses private environment configuration and disables sample accounts.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running app with local sample data. The interface uses ivory, forest and terracotta, editorial typography, and a Three.js cup/books scene. Mobile navigation, touch-sized controls, reduced-motion handling and WebGL fallback are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creator preview for the saved JVM draft. Creator can create/edit own content, submit for admin approval, review participant scores and send messages. Content with attempts cannot be rewritten, preserving historical answer meanings. Rejected content can be revised and resubmitted.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sample accounts, including a signup verification account. User deletion is implemented as deactivation to preserve result history. Security changes invalidate existing sessions after the transaction commits. Admin approval, performance and system-alert views are also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sample-data screenshot; displayed results are demonstration records and local test attempts, not a student study or measured learning improvement. Automatic score remains available when a creator adds a manual score and feedback. Leaderboard uses the best completed result per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local mvn test: PlatformIntegrationTest 15, AdminBootstrapTest 2, QuizScoreTest 2, ReportServletIntegrationTest 2; zero failures/errors. CI run: https://github.com/muskanbuilds11/java-online-quiz-platform/actions/runs/38771151801 (H2 and postgres succeeded). Scheduler settles expired attempts every 15 seconds; request-time checks enforce the exact server deadline.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GUVI marking rubric screenshot (codex-clipboard-d167d5dd-661d-44c3-a671-510c4ceb896e.png), Java Web Based Projects section. Maximum = 8 + 10 + 8 + 7 = 33. These are maximum available marks, not awarded or guaranteed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repository: https://github.com/muskanbuilds11/java-online-quiz-platform . Local directory D:/Java-Based-Online-Quiz-Platform. README gives sample account details for local review, run commands and configuration. These credentials are disabled by default in the cloud profile. Presentation and repository must be submitted through the review portal by the student; no portal submission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optional local sample accounts only. Open http://127.0.0.1:8080/ and use Sign in. Sample credentials are documented in README and are disabled by default in the cloud profile. Real deployment credentials must be privately configured; do not reuse these demo passwords for a public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deployment verified on 15 October 2026: https://quiznova-muskanbuilds11.onrender.com . Secrets stay in Render environment variables. Cloud demo accounts are disabled. Free hosting sources: https://render.com/docs/free and https://neon.com/pricing . Render free web services can sleep after inactivity and have ephemeral local storage; use external PostgreSQL instead of H2 files. Free services have usage limits and are suitable for a project demonstration. See 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38f4ac26314b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ec647322064e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3021b7c99c48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8f70447c1242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1cd1430d004a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cf65bd95784e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FC63F6-384D-41C9-BEB6-2F16905490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7A3C1D-5D52-4CDC-87AE-3747584528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FA048B-4B28-456B-B186-282A9E6963C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912E29-B39F-4F3D-8EAB-D20DCF4E3C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90B899-6944-42A1-ACFD-834B474365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7C9BE8-ECC3-4252-ADD2-20E273D6AA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CAFD4A-3184-499F-B673-DD651EFFFF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39FAB9-CDC7-4289-B6D9-3DC30536E2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71C99-299A-46E3-B98F-D76501A73E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FDB67F-E165-4F6C-8D80-F1D433828B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3f6971404342c1" /><Relationship Type="http://schemas.openxmlformats.org/officeDocument/2006/relationships/slideLayout" Target="/ppt/slideLayouts/slideLayout1.xml" Id="Rcb68d0ed18634b5a" /><Relationship Type="http://schemas.openxmlformats.org/officeDocument/2006/relationships/slideLayout" Target="/ppt/slideLayouts/slideLayout2.xml" Id="R42d937818df3422a" /><Relationship Type="http://schemas.openxmlformats.org/officeDocument/2006/relationships/slideLayout" Target="/ppt/slideLayouts/slideLayout3.xml" Id="Racf26a435e174eb2" /><Relationship Type="http://schemas.openxmlformats.org/officeDocument/2006/relationships/slideLayout" Target="/ppt/slideLayouts/slideLayout4.xml" Id="Rdb49b6175d2a4763" /><Relationship Type="http://schemas.openxmlformats.org/officeDocument/2006/relationships/slideLayout" Target="/ppt/slideLayouts/slideLayout5.xml" Id="R14c4d5dccd154edf" /><Relationship Type="http://schemas.openxmlformats.org/officeDocument/2006/relationships/slideLayout" Target="/ppt/slideLayouts/slideLayout6.xml" Id="R462b7576d5484b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68d0ed18634b5a"/>
    <p:sldLayoutId xmlns:r="http://schemas.openxmlformats.org/officeDocument/2006/relationships" id="2147483650" r:id="R42d937818df3422a"/>
    <p:sldLayoutId xmlns:r="http://schemas.openxmlformats.org/officeDocument/2006/relationships" id="2147483651" r:id="Racf26a435e174eb2"/>
    <p:sldLayoutId xmlns:r="http://schemas.openxmlformats.org/officeDocument/2006/relationships" id="2147483652" r:id="Rdb49b6175d2a4763"/>
    <p:sldLayoutId xmlns:r="http://schemas.openxmlformats.org/officeDocument/2006/relationships" id="2147483653" r:id="R14c4d5dccd154edf"/>
    <p:sldLayoutId xmlns:r="http://schemas.openxmlformats.org/officeDocument/2006/relationships" id="2147483654" r:id="R462b7576d5484b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0463c2a7a14cb1" /><Relationship Type="http://schemas.openxmlformats.org/officeDocument/2006/relationships/notesSlide" Target="/ppt/notesSlides/notesSlide1.xml" Id="Rc3c7843fe9ee4a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9c706784104988" /><Relationship Type="http://schemas.openxmlformats.org/officeDocument/2006/relationships/notesSlide" Target="/ppt/notesSlides/notesSlide2.xml" Id="R879ebd7816ae40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f1748f686540bf" /><Relationship Type="http://schemas.openxmlformats.org/officeDocument/2006/relationships/notesSlide" Target="/ppt/notesSlides/notesSlide3.xml" Id="R3fc571bc6e794f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67aadf7f324f61" /><Relationship Type="http://schemas.openxmlformats.org/officeDocument/2006/relationships/notesSlide" Target="/ppt/notesSlides/notesSlide4.xml" Id="R7ce05d72520a48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ba28cd0d9a4ac8" /><Relationship Type="http://schemas.openxmlformats.org/officeDocument/2006/relationships/notesSlide" Target="/ppt/notesSlides/notesSlide5.xml" Id="Rbdc63d22154a49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403bd00186405f" /><Relationship Type="http://schemas.openxmlformats.org/officeDocument/2006/relationships/notesSlide" Target="/ppt/notesSlides/notesSlide6.xml" Id="Rbbcc7c919f6749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13453f41e47b2" /><Relationship Type="http://schemas.openxmlformats.org/officeDocument/2006/relationships/image" Target="/ppt/media/image.jpeg" Id="R6e41881ede3940bf" /><Relationship Type="http://schemas.openxmlformats.org/officeDocument/2006/relationships/notesSlide" Target="/ppt/notesSlides/notesSlide7.xml" Id="R9ec476820e4e49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ecc2c2df504669" /><Relationship Type="http://schemas.openxmlformats.org/officeDocument/2006/relationships/image" Target="/ppt/media/image2.jpeg" Id="Ra0ccbf1734554dd8" /><Relationship Type="http://schemas.openxmlformats.org/officeDocument/2006/relationships/image" Target="/ppt/media/image3.jpeg" Id="Re2d738a83e5b41a6" /><Relationship Type="http://schemas.openxmlformats.org/officeDocument/2006/relationships/notesSlide" Target="/ppt/notesSlides/notesSlide8.xml" Id="Rc2b1b89b3d5c40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5d3a820b7c4396" /><Relationship Type="http://schemas.openxmlformats.org/officeDocument/2006/relationships/image" Target="/ppt/media/image4.jpeg" Id="R9a4d604e6c054ddf" /><Relationship Type="http://schemas.openxmlformats.org/officeDocument/2006/relationships/image" Target="/ppt/media/image5.jpeg" Id="R5c66a171a68d463a" /><Relationship Type="http://schemas.openxmlformats.org/officeDocument/2006/relationships/notesSlide" Target="/ppt/notesSlides/notesSlide9.xml" Id="R58089e460cc44e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0b07798f0643ba" /><Relationship Type="http://schemas.openxmlformats.org/officeDocument/2006/relationships/image" Target="/ppt/media/image6.jpeg" Id="Refd5732d24f740c8" /><Relationship Type="http://schemas.openxmlformats.org/officeDocument/2006/relationships/notesSlide" Target="/ppt/notesSlides/notesSlide10.xml" Id="R7627c7e32f1545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3b0f07930e4ba9" /><Relationship Type="http://schemas.openxmlformats.org/officeDocument/2006/relationships/image" Target="/ppt/media/image7.jpeg" Id="R82aa1fb7572542bd" /><Relationship Type="http://schemas.openxmlformats.org/officeDocument/2006/relationships/notesSlide" Target="/ppt/notesSlides/notesSlide11.xml" Id="R62ba1a56ee124d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17324ab7b8480e" /><Relationship Type="http://schemas.openxmlformats.org/officeDocument/2006/relationships/image" Target="/ppt/media/image8.jpeg" Id="R5441e4d06826401b" /><Relationship Type="http://schemas.openxmlformats.org/officeDocument/2006/relationships/notesSlide" Target="/ppt/notesSlides/notesSlide12.xml" Id="R3cb985898dff43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b5b90671e454d0c" /><Relationship Type="http://schemas.openxmlformats.org/officeDocument/2006/relationships/notesSlide" Target="/ppt/notesSlides/notesSlide13.xml" Id="R5523e1491af040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3bae9bfd0174637" /><Relationship Type="http://schemas.openxmlformats.org/officeDocument/2006/relationships/notesSlide" Target="/ppt/notesSlides/notesSlide14.xml" Id="Rfb6cf58a27eb42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66ca487c2bd42b3" /><Relationship Type="http://schemas.openxmlformats.org/officeDocument/2006/relationships/notesSlide" Target="/ppt/notesSlides/notesSlide15.xml" Id="R46decbc6584645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1c8c64cf7034334" /><Relationship Type="http://schemas.openxmlformats.org/officeDocument/2006/relationships/notesSlide" Target="/ppt/notesSlides/notesSlide16.xml" Id="Rca38e4d8d2624c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dc2454a59047b6" /><Relationship Type="http://schemas.openxmlformats.org/officeDocument/2006/relationships/notesSlide" Target="/ppt/notesSlides/notesSlide17.xml" Id="R851ac9cc06e0471a" /></Relationships>
</file>

<file path=ppt/slides/slide1.xml><?xml version="1.0" encoding="utf-8"?>
<p:sld xmlns:p="http://schemas.openxmlformats.org/presentationml/2006/main">
  <p:cSld>
    <p:bg>
      <p:bgPr>
        <a:solidFill xmlns:a="http://schemas.openxmlformats.org/drawingml/2006/main">
          <a:srgbClr val="253F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52E45E-765E-4C6D-A64E-262E3B778B89}"/>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E2E8D8"/>
                </a:solidFill>
                <a:latin typeface="Arial"/>
                <a:ea typeface="Arial"/>
                <a:cs typeface="Arial"/>
              </a:defRPr>
            </a:defPPr>
          </a:lstStyle>
          <a:p xmlns:a="http://schemas.openxmlformats.org/drawingml/2006/main">
            <a:pPr>
              <a:defRPr sz="1425" b="1">
                <a:solidFill>
                  <a:srgbClr val="E2E8D8"/>
                </a:solidFill>
                <a:latin typeface="Arial"/>
                <a:ea typeface="Arial"/>
                <a:cs typeface="Arial"/>
              </a:defRPr>
            </a:pPr>
            <a:r>
              <a:rPr sz="1425" b="1">
                <a:solidFill>
                  <a:srgbClr val="E2E8D8"/>
                </a:solidFill>
                <a:latin typeface="Arial"/>
                <a:ea typeface="Arial"/>
                <a:cs typeface="Arial"/>
              </a:rPr>
              <a:t>JAVA WEB PROJECT  /  REVIEW 1</a:t>
            </a:r>
          </a:p>
        </p:txBody>
      </p:sp>
      <p:sp>
        <p:nvSpPr>
          <p:cNvPr id="2" name="">
            <a:extLst xmlns:a="http://schemas.openxmlformats.org/drawingml/2006/main">
              <a:ext uri="{FF2B5EF4-FFF2-40B4-BE49-F238E27FC236}">
                <a16:creationId xmlns:a16="http://schemas.microsoft.com/office/drawing/2014/main" id="{D34003A3-CD09-46DC-B8E8-505DA1016C72}"/>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E2E8D8"/>
                </a:solidFill>
                <a:latin typeface="Arial"/>
                <a:ea typeface="Arial"/>
                <a:cs typeface="Arial"/>
              </a:defRPr>
            </a:defPPr>
          </a:lstStyle>
          <a:p xmlns:a="http://schemas.openxmlformats.org/drawingml/2006/main">
            <a:pPr>
              <a:defRPr sz="1200" b="0">
                <a:solidFill>
                  <a:srgbClr val="E2E8D8"/>
                </a:solidFill>
                <a:latin typeface="Arial"/>
                <a:ea typeface="Arial"/>
                <a:cs typeface="Arial"/>
              </a:defRPr>
            </a:pPr>
            <a:r>
              <a:rPr sz="1200" b="0">
                <a:solidFill>
                  <a:srgbClr val="E2E8D8"/>
                </a:solidFill>
                <a:latin typeface="Arial"/>
                <a:ea typeface="Arial"/>
                <a:cs typeface="Arial"/>
              </a:rPr>
              <a:t>QUIZNOVA  /  JAVA PRACTICE STUDIO</a:t>
            </a:r>
          </a:p>
        </p:txBody>
      </p:sp>
      <p:sp>
        <p:nvSpPr>
          <p:cNvPr id="3" name="">
            <a:extLst xmlns:a="http://schemas.openxmlformats.org/drawingml/2006/main">
              <a:ext uri="{FF2B5EF4-FFF2-40B4-BE49-F238E27FC236}">
                <a16:creationId xmlns:a16="http://schemas.microsoft.com/office/drawing/2014/main" id="{25D87C7D-D27D-44EE-9DC8-0C467AD78C4B}"/>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E2E8D8"/>
                </a:solidFill>
                <a:latin typeface="Arial"/>
                <a:ea typeface="Arial"/>
                <a:cs typeface="Arial"/>
              </a:defRPr>
            </a:defPPr>
          </a:lstStyle>
          <a:p xmlns:a="http://schemas.openxmlformats.org/drawingml/2006/main">
            <a:pPr>
              <a:defRPr sz="1200" b="0">
                <a:solidFill>
                  <a:srgbClr val="E2E8D8"/>
                </a:solidFill>
                <a:latin typeface="Arial"/>
                <a:ea typeface="Arial"/>
                <a:cs typeface="Arial"/>
              </a:defRPr>
            </a:pPr>
            <a:r>
              <a:rPr sz="1200" b="0">
                <a:solidFill>
                  <a:srgbClr val="E2E8D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3958CA5-1500-44D1-9F8E-94C847AB2A9E}"/>
              </a:ext>
            </a:extLst>
          </p:cNvPr>
          <p:cNvSpPr>
            <a:spLocks xmlns:a="http://schemas.openxmlformats.org/drawingml/2006/main" noGrp="1"/>
          </p:cNvSpPr>
          <p:nvPr/>
        </p:nvSpPr>
        <p:spPr>
          <a:xfrm xmlns:a="http://schemas.openxmlformats.org/drawingml/2006/main">
            <a:off x="609600" y="15525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0">
                <a:solidFill>
                  <a:srgbClr val="F5F2E9"/>
                </a:solidFill>
                <a:latin typeface="Georgia"/>
                <a:ea typeface="Georgia"/>
                <a:cs typeface="Georgia"/>
              </a:defRPr>
            </a:defPPr>
          </a:lstStyle>
          <a:p xmlns:a="http://schemas.openxmlformats.org/drawingml/2006/main">
            <a:pPr>
              <a:defRPr sz="7050" b="0">
                <a:solidFill>
                  <a:srgbClr val="F5F2E9"/>
                </a:solidFill>
                <a:latin typeface="Georgia"/>
                <a:ea typeface="Georgia"/>
                <a:cs typeface="Georgia"/>
              </a:defRPr>
            </a:pPr>
            <a:r>
              <a:rPr sz="7050" b="0">
                <a:solidFill>
                  <a:srgbClr val="F5F2E9"/>
                </a:solidFill>
                <a:latin typeface="Georgia"/>
                <a:ea typeface="Georgia"/>
                <a:cs typeface="Georgia"/>
              </a:rPr>
              <a:t>QuizNova</a:t>
            </a:r>
          </a:p>
        </p:txBody>
      </p:sp>
      <p:sp>
        <p:nvSpPr>
          <p:cNvPr id="5" name="">
            <a:extLst xmlns:a="http://schemas.openxmlformats.org/drawingml/2006/main">
              <a:ext uri="{FF2B5EF4-FFF2-40B4-BE49-F238E27FC236}">
                <a16:creationId xmlns:a16="http://schemas.microsoft.com/office/drawing/2014/main" id="{AFDC4D86-82A6-4240-AAE3-2B4ADF1E4290}"/>
              </a:ext>
            </a:extLst>
          </p:cNvPr>
          <p:cNvSpPr>
            <a:spLocks xmlns:a="http://schemas.openxmlformats.org/drawingml/2006/main" noGrp="1"/>
          </p:cNvSpPr>
          <p:nvPr/>
        </p:nvSpPr>
        <p:spPr>
          <a:xfrm xmlns:a="http://schemas.openxmlformats.org/drawingml/2006/main">
            <a:off x="6477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F5F2E9"/>
                </a:solidFill>
                <a:latin typeface="Georgia"/>
                <a:ea typeface="Georgia"/>
                <a:cs typeface="Georgia"/>
              </a:defRPr>
            </a:defPPr>
          </a:lstStyle>
          <a:p xmlns:a="http://schemas.openxmlformats.org/drawingml/2006/main">
            <a:pPr>
              <a:defRPr sz="2925" b="0">
                <a:solidFill>
                  <a:srgbClr val="F5F2E9"/>
                </a:solidFill>
                <a:latin typeface="Georgia"/>
                <a:ea typeface="Georgia"/>
                <a:cs typeface="Georgia"/>
              </a:defRPr>
            </a:pPr>
            <a:r>
              <a:rPr sz="2925" b="0">
                <a:solidFill>
                  <a:srgbClr val="F5F2E9"/>
                </a:solidFill>
                <a:latin typeface="Georgia"/>
                <a:ea typeface="Georgia"/>
                <a:cs typeface="Georgia"/>
              </a:rPr>
              <a:t>Java-Based Online Quiz and</a:t>
            </a:r>
          </a:p>
          <a:p xmlns:a="http://schemas.openxmlformats.org/drawingml/2006/main">
            <a:pPr>
              <a:defRPr sz="2925" b="0">
                <a:solidFill>
                  <a:srgbClr val="F5F2E9"/>
                </a:solidFill>
                <a:latin typeface="Georgia"/>
                <a:ea typeface="Georgia"/>
                <a:cs typeface="Georgia"/>
              </a:defRPr>
            </a:pPr>
            <a:r>
              <a:rPr sz="2925" b="0">
                <a:solidFill>
                  <a:srgbClr val="F5F2E9"/>
                </a:solidFill>
                <a:latin typeface="Georgia"/>
                <a:ea typeface="Georgia"/>
                <a:cs typeface="Georgia"/>
              </a:rPr>
              <a:t>Performance Management System</a:t>
            </a:r>
          </a:p>
        </p:txBody>
      </p:sp>
      <p:sp>
        <p:nvSpPr>
          <p:cNvPr id="6" name="">
            <a:extLst xmlns:a="http://schemas.openxmlformats.org/drawingml/2006/main">
              <a:ext uri="{FF2B5EF4-FFF2-40B4-BE49-F238E27FC236}">
                <a16:creationId xmlns:a16="http://schemas.microsoft.com/office/drawing/2014/main" id="{FE967601-9669-4105-A998-098CB1866C50}"/>
              </a:ext>
            </a:extLst>
          </p:cNvPr>
          <p:cNvSpPr>
            <a:spLocks xmlns:a="http://schemas.openxmlformats.org/drawingml/2006/main" noGrp="1"/>
          </p:cNvSpPr>
          <p:nvPr/>
        </p:nvSpPr>
        <p:spPr>
          <a:xfrm xmlns:a="http://schemas.openxmlformats.org/drawingml/2006/main">
            <a:off x="666750" y="50292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2E8D8"/>
                </a:solidFill>
                <a:latin typeface="Arial"/>
                <a:ea typeface="Arial"/>
                <a:cs typeface="Arial"/>
              </a:defRPr>
            </a:defPPr>
          </a:lstStyle>
          <a:p xmlns:a="http://schemas.openxmlformats.org/drawingml/2006/main">
            <a:pPr>
              <a:defRPr sz="1800" b="0">
                <a:solidFill>
                  <a:srgbClr val="E2E8D8"/>
                </a:solidFill>
                <a:latin typeface="Arial"/>
                <a:ea typeface="Arial"/>
                <a:cs typeface="Arial"/>
              </a:defRPr>
            </a:pPr>
            <a:r>
              <a:rPr sz="1800" b="0">
                <a:solidFill>
                  <a:srgbClr val="E2E8D8"/>
                </a:solidFill>
                <a:latin typeface="Arial"/>
                <a:ea typeface="Arial"/>
                <a:cs typeface="Arial"/>
              </a:rPr>
              <a:t>Student name:</a:t>
            </a:r>
          </a:p>
        </p:txBody>
      </p:sp>
      <p:sp>
        <p:nvSpPr>
          <p:cNvPr id="7" name="">
            <a:extLst xmlns:a="http://schemas.openxmlformats.org/drawingml/2006/main">
              <a:ext uri="{FF2B5EF4-FFF2-40B4-BE49-F238E27FC236}">
                <a16:creationId xmlns:a16="http://schemas.microsoft.com/office/drawing/2014/main" id="{6D00D644-2E41-4F63-8412-3B40A629B62B}"/>
              </a:ext>
            </a:extLst>
          </p:cNvPr>
          <p:cNvSpPr>
            <a:spLocks xmlns:a="http://schemas.openxmlformats.org/drawingml/2006/main" noGrp="1"/>
          </p:cNvSpPr>
          <p:nvPr/>
        </p:nvSpPr>
        <p:spPr>
          <a:xfrm xmlns:a="http://schemas.openxmlformats.org/drawingml/2006/main">
            <a:off x="6191250" y="50292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2E8D8"/>
                </a:solidFill>
                <a:latin typeface="Arial"/>
                <a:ea typeface="Arial"/>
                <a:cs typeface="Arial"/>
              </a:defRPr>
            </a:defPPr>
          </a:lstStyle>
          <a:p xmlns:a="http://schemas.openxmlformats.org/drawingml/2006/main">
            <a:pPr>
              <a:defRPr sz="1800" b="0">
                <a:solidFill>
                  <a:srgbClr val="E2E8D8"/>
                </a:solidFill>
                <a:latin typeface="Arial"/>
                <a:ea typeface="Arial"/>
                <a:cs typeface="Arial"/>
              </a:defRPr>
            </a:pPr>
            <a:r>
              <a:rPr sz="1800" b="0">
                <a:solidFill>
                  <a:srgbClr val="E2E8D8"/>
                </a:solidFill>
                <a:latin typeface="Arial"/>
                <a:ea typeface="Arial"/>
                <a:cs typeface="Arial"/>
              </a:rPr>
              <a:t>Roll number:</a:t>
            </a:r>
          </a:p>
        </p:txBody>
      </p:sp>
      <p:sp>
        <p:nvSpPr>
          <p:cNvPr id="8" name="">
            <a:extLst xmlns:a="http://schemas.openxmlformats.org/drawingml/2006/main">
              <a:ext uri="{FF2B5EF4-FFF2-40B4-BE49-F238E27FC236}">
                <a16:creationId xmlns:a16="http://schemas.microsoft.com/office/drawing/2014/main" id="{826E268A-2A83-4726-9736-4D013F9C1257}"/>
              </a:ext>
            </a:extLst>
          </p:cNvPr>
          <p:cNvSpPr>
            <a:spLocks xmlns:a="http://schemas.openxmlformats.org/drawingml/2006/main" noGrp="1"/>
          </p:cNvSpPr>
          <p:nvPr/>
        </p:nvSpPr>
        <p:spPr>
          <a:xfrm xmlns:a="http://schemas.openxmlformats.org/drawingml/2006/main">
            <a:off x="666750" y="56007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2E8D8"/>
                </a:solidFill>
                <a:latin typeface="Arial"/>
                <a:ea typeface="Arial"/>
                <a:cs typeface="Arial"/>
              </a:defRPr>
            </a:defPPr>
          </a:lstStyle>
          <a:p xmlns:a="http://schemas.openxmlformats.org/drawingml/2006/main">
            <a:pPr>
              <a:defRPr sz="1800" b="0">
                <a:solidFill>
                  <a:srgbClr val="E2E8D8"/>
                </a:solidFill>
                <a:latin typeface="Arial"/>
                <a:ea typeface="Arial"/>
                <a:cs typeface="Arial"/>
              </a:defRPr>
            </a:pPr>
            <a:r>
              <a:rPr sz="1800" b="0">
                <a:solidFill>
                  <a:srgbClr val="E2E8D8"/>
                </a:solidFill>
                <a:latin typeface="Arial"/>
                <a:ea typeface="Arial"/>
                <a:cs typeface="Arial"/>
              </a:rPr>
              <a:t>Team:</a:t>
            </a:r>
          </a:p>
        </p:txBody>
      </p:sp>
    </p:spTree>
    <p:extLst>
      <p:ext uri="{BB962C8B-B14F-4D97-AF65-F5344CB8AC3E}">
        <p14:creationId xmlns:p14="http://schemas.microsoft.com/office/powerpoint/2010/main" val="354681538"/>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C57283-04F4-4C30-BE70-BA11A57B90A6}"/>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REVIEW 1</a:t>
            </a:r>
          </a:p>
        </p:txBody>
      </p:sp>
      <p:sp>
        <p:nvSpPr>
          <p:cNvPr id="2" name="">
            <a:extLst xmlns:a="http://schemas.openxmlformats.org/drawingml/2006/main">
              <a:ext uri="{FF2B5EF4-FFF2-40B4-BE49-F238E27FC236}">
                <a16:creationId xmlns:a16="http://schemas.microsoft.com/office/drawing/2014/main" id="{8ACCB7F6-3AF4-44AC-B7AE-96494731127A}"/>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Problem and project scope</a:t>
            </a:r>
          </a:p>
        </p:txBody>
      </p:sp>
      <p:sp>
        <p:nvSpPr>
          <p:cNvPr id="3" name="">
            <a:extLst xmlns:a="http://schemas.openxmlformats.org/drawingml/2006/main">
              <a:ext uri="{FF2B5EF4-FFF2-40B4-BE49-F238E27FC236}">
                <a16:creationId xmlns:a16="http://schemas.microsoft.com/office/drawing/2014/main" id="{894EC7DC-FFB1-416E-A887-903F680F8CF8}"/>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4354C36E-1640-43F9-9732-D245FC2BBEAD}"/>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EB32B90-5FB3-4FD5-87B6-B3F5C2BA3CC0}"/>
              </a:ext>
            </a:extLst>
          </p:cNvPr>
          <p:cNvSpPr>
            <a:spLocks xmlns:a="http://schemas.openxmlformats.org/drawingml/2006/main" noGrp="1"/>
          </p:cNvSpPr>
          <p:nvPr/>
        </p:nvSpPr>
        <p:spPr>
          <a:xfrm xmlns:a="http://schemas.openxmlformats.org/drawingml/2006/main">
            <a:off x="609600"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53F33"/>
                </a:solidFill>
                <a:latin typeface="Georgia"/>
                <a:ea typeface="Georgia"/>
                <a:cs typeface="Georgia"/>
              </a:defRPr>
            </a:defPPr>
          </a:lstStyle>
          <a:p xmlns:a="http://schemas.openxmlformats.org/drawingml/2006/main">
            <a:pPr>
              <a:defRPr sz="2400" b="0">
                <a:solidFill>
                  <a:srgbClr val="253F33"/>
                </a:solidFill>
                <a:latin typeface="Georgia"/>
                <a:ea typeface="Georgia"/>
                <a:cs typeface="Georgia"/>
              </a:defRPr>
            </a:pPr>
            <a:r>
              <a:rPr sz="2400" b="0">
                <a:solidFill>
                  <a:srgbClr val="253F33"/>
                </a:solidFill>
                <a:latin typeface="Georgia"/>
                <a:ea typeface="Georgia"/>
                <a:cs typeface="Georgia"/>
              </a:rPr>
              <a:t>Java practice needs a reliable timer, useful feedback and controlled publishing.</a:t>
            </a:r>
          </a:p>
        </p:txBody>
      </p:sp>
      <p:sp>
        <p:nvSpPr>
          <p:cNvPr id="6" name="">
            <a:extLst xmlns:a="http://schemas.openxmlformats.org/drawingml/2006/main">
              <a:ext uri="{FF2B5EF4-FFF2-40B4-BE49-F238E27FC236}">
                <a16:creationId xmlns:a16="http://schemas.microsoft.com/office/drawing/2014/main" id="{A4F206D0-DE1C-4C72-9374-9EB289D12D82}"/>
              </a:ext>
            </a:extLst>
          </p:cNvPr>
          <p:cNvSpPr>
            <a:spLocks xmlns:a="http://schemas.openxmlformats.org/drawingml/2006/main" noGrp="1"/>
          </p:cNvSpPr>
          <p:nvPr/>
        </p:nvSpPr>
        <p:spPr>
          <a:xfrm xmlns:a="http://schemas.openxmlformats.org/drawingml/2006/main">
            <a:off x="609600" y="2809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Participant</a:t>
            </a:r>
          </a:p>
        </p:txBody>
      </p:sp>
      <p:sp>
        <p:nvSpPr>
          <p:cNvPr id="7" name="">
            <a:extLst xmlns:a="http://schemas.openxmlformats.org/drawingml/2006/main">
              <a:ext uri="{FF2B5EF4-FFF2-40B4-BE49-F238E27FC236}">
                <a16:creationId xmlns:a16="http://schemas.microsoft.com/office/drawing/2014/main" id="{A5C53F2F-E025-49D6-BD47-A643397D8D94}"/>
              </a:ext>
            </a:extLst>
          </p:cNvPr>
          <p:cNvSpPr>
            <a:spLocks xmlns:a="http://schemas.openxmlformats.org/drawingml/2006/main" noGrp="1"/>
          </p:cNvSpPr>
          <p:nvPr/>
        </p:nvSpPr>
        <p:spPr>
          <a:xfrm xmlns:a="http://schemas.openxmlformats.org/drawingml/2006/main">
            <a:off x="609600" y="3190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Register, take approved quizzes, review answers and track performance.</a:t>
            </a:r>
          </a:p>
        </p:txBody>
      </p:sp>
      <p:sp>
        <p:nvSpPr>
          <p:cNvPr id="8" name="">
            <a:extLst xmlns:a="http://schemas.openxmlformats.org/drawingml/2006/main">
              <a:ext uri="{FF2B5EF4-FFF2-40B4-BE49-F238E27FC236}">
                <a16:creationId xmlns:a16="http://schemas.microsoft.com/office/drawing/2014/main" id="{DF95FF0C-C56E-433D-80F6-9AE0F6E8419F}"/>
              </a:ext>
            </a:extLst>
          </p:cNvPr>
          <p:cNvSpPr>
            <a:spLocks xmlns:a="http://schemas.openxmlformats.org/drawingml/2006/main" noGrp="1"/>
          </p:cNvSpPr>
          <p:nvPr/>
        </p:nvSpPr>
        <p:spPr>
          <a:xfrm xmlns:a="http://schemas.openxmlformats.org/drawingml/2006/main">
            <a:off x="609600" y="3810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Quiz creator</a:t>
            </a:r>
          </a:p>
        </p:txBody>
      </p:sp>
      <p:sp>
        <p:nvSpPr>
          <p:cNvPr id="9" name="">
            <a:extLst xmlns:a="http://schemas.openxmlformats.org/drawingml/2006/main">
              <a:ext uri="{FF2B5EF4-FFF2-40B4-BE49-F238E27FC236}">
                <a16:creationId xmlns:a16="http://schemas.microsoft.com/office/drawing/2014/main" id="{1D074E9E-F699-41F3-A6F3-B6C1C1BF3C66}"/>
              </a:ext>
            </a:extLst>
          </p:cNvPr>
          <p:cNvSpPr>
            <a:spLocks xmlns:a="http://schemas.openxmlformats.org/drawingml/2006/main" noGrp="1"/>
          </p:cNvSpPr>
          <p:nvPr/>
        </p:nvSpPr>
        <p:spPr>
          <a:xfrm xmlns:a="http://schemas.openxmlformats.org/drawingml/2006/main">
            <a:off x="609600" y="4191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Prepare questions and explanations, submit content and review results.</a:t>
            </a:r>
          </a:p>
        </p:txBody>
      </p:sp>
      <p:sp>
        <p:nvSpPr>
          <p:cNvPr id="10" name="">
            <a:extLst xmlns:a="http://schemas.openxmlformats.org/drawingml/2006/main">
              <a:ext uri="{FF2B5EF4-FFF2-40B4-BE49-F238E27FC236}">
                <a16:creationId xmlns:a16="http://schemas.microsoft.com/office/drawing/2014/main" id="{A13A16E0-55F3-4011-B96C-8AB77708589A}"/>
              </a:ext>
            </a:extLst>
          </p:cNvPr>
          <p:cNvSpPr>
            <a:spLocks xmlns:a="http://schemas.openxmlformats.org/drawingml/2006/main" noGrp="1"/>
          </p:cNvSpPr>
          <p:nvPr/>
        </p:nvSpPr>
        <p:spPr>
          <a:xfrm xmlns:a="http://schemas.openxmlformats.org/drawingml/2006/main">
            <a:off x="609600" y="481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Administrator</a:t>
            </a:r>
          </a:p>
        </p:txBody>
      </p:sp>
      <p:sp>
        <p:nvSpPr>
          <p:cNvPr id="11" name="">
            <a:extLst xmlns:a="http://schemas.openxmlformats.org/drawingml/2006/main">
              <a:ext uri="{FF2B5EF4-FFF2-40B4-BE49-F238E27FC236}">
                <a16:creationId xmlns:a16="http://schemas.microsoft.com/office/drawing/2014/main" id="{E36279AA-DDFB-4853-BEC0-B2D347BD2FED}"/>
              </a:ext>
            </a:extLst>
          </p:cNvPr>
          <p:cNvSpPr>
            <a:spLocks xmlns:a="http://schemas.openxmlformats.org/drawingml/2006/main" noGrp="1"/>
          </p:cNvSpPr>
          <p:nvPr/>
        </p:nvSpPr>
        <p:spPr>
          <a:xfrm xmlns:a="http://schemas.openxmlformats.org/drawingml/2006/main">
            <a:off x="609600" y="5191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Manage accounts and roles, approve content and configure the platform.</a:t>
            </a:r>
          </a:p>
        </p:txBody>
      </p:sp>
    </p:spTree>
    <p:extLst>
      <p:ext uri="{BB962C8B-B14F-4D97-AF65-F5344CB8AC3E}">
        <p14:creationId xmlns:p14="http://schemas.microsoft.com/office/powerpoint/2010/main" val="101094088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ECB4F049-E17E-4D9B-B10A-71F873B64778}"/>
              </a:ext>
            </a:extLst>
          </p:cNvPr>
          <p:cNvCxnSpPr>
            <a:stCxn xmlns:a="http://schemas.openxmlformats.org/drawingml/2006/main" id="9" idx="3"/>
            <a:endCxn xmlns:a="http://schemas.openxmlformats.org/drawingml/2006/main" id="10" idx="1"/>
          </p:cNvCxnSpPr>
          <p:nvPr/>
        </p:nvCxnSpPr>
        <p:spPr>
          <a:xfrm xmlns:a="http://schemas.openxmlformats.org/drawingml/2006/main">
            <a:off x="5372100" y="5143500"/>
            <a:ext cx="1447800" cy="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5" name="">
            <a:extLst xmlns:a="http://schemas.openxmlformats.org/drawingml/2006/main">
              <a:ext uri="{FF2B5EF4-FFF2-40B4-BE49-F238E27FC236}">
                <a16:creationId xmlns:a16="http://schemas.microsoft.com/office/drawing/2014/main" id="{6F4F54C7-03A3-42FE-9760-5310A7BB06E8}"/>
              </a:ext>
            </a:extLst>
          </p:cNvPr>
          <p:cNvCxnSpPr>
            <a:stCxn xmlns:a="http://schemas.openxmlformats.org/drawingml/2006/main" id="8" idx="1"/>
            <a:endCxn xmlns:a="http://schemas.openxmlformats.org/drawingml/2006/main" id="9" idx="3"/>
          </p:cNvCxnSpPr>
          <p:nvPr/>
        </p:nvCxnSpPr>
        <p:spPr>
          <a:xfrm xmlns:a="http://schemas.openxmlformats.org/drawingml/2006/main" flipH="1">
            <a:off x="5372100" y="3619500"/>
            <a:ext cx="1447800" cy="152400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4" name="">
            <a:extLst xmlns:a="http://schemas.openxmlformats.org/drawingml/2006/main">
              <a:ext uri="{FF2B5EF4-FFF2-40B4-BE49-F238E27FC236}">
                <a16:creationId xmlns:a16="http://schemas.microsoft.com/office/drawing/2014/main" id="{7B12681F-59F1-4DA9-9F80-C83EEE2730D6}"/>
              </a:ext>
            </a:extLst>
          </p:cNvPr>
          <p:cNvCxnSpPr>
            <a:stCxn xmlns:a="http://schemas.openxmlformats.org/drawingml/2006/main" id="7" idx="2"/>
            <a:endCxn xmlns:a="http://schemas.openxmlformats.org/drawingml/2006/main" id="9" idx="0"/>
          </p:cNvCxnSpPr>
          <p:nvPr/>
        </p:nvCxnSpPr>
        <p:spPr>
          <a:xfrm xmlns:a="http://schemas.openxmlformats.org/drawingml/2006/main">
            <a:off x="2990850" y="4000500"/>
            <a:ext cx="0" cy="714375"/>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3" name="">
            <a:extLst xmlns:a="http://schemas.openxmlformats.org/drawingml/2006/main">
              <a:ext uri="{FF2B5EF4-FFF2-40B4-BE49-F238E27FC236}">
                <a16:creationId xmlns:a16="http://schemas.microsoft.com/office/drawing/2014/main" id="{74C5D578-A436-4435-BF12-5C06C2F99872}"/>
              </a:ext>
            </a:extLst>
          </p:cNvPr>
          <p:cNvCxnSpPr>
            <a:stCxn xmlns:a="http://schemas.openxmlformats.org/drawingml/2006/main" id="6" idx="2"/>
            <a:endCxn xmlns:a="http://schemas.openxmlformats.org/drawingml/2006/main" id="8" idx="0"/>
          </p:cNvCxnSpPr>
          <p:nvPr/>
        </p:nvCxnSpPr>
        <p:spPr>
          <a:xfrm xmlns:a="http://schemas.openxmlformats.org/drawingml/2006/main">
            <a:off x="9201150" y="2524125"/>
            <a:ext cx="0" cy="714375"/>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2" name="">
            <a:extLst xmlns:a="http://schemas.openxmlformats.org/drawingml/2006/main">
              <a:ext uri="{FF2B5EF4-FFF2-40B4-BE49-F238E27FC236}">
                <a16:creationId xmlns:a16="http://schemas.microsoft.com/office/drawing/2014/main" id="{79E0937C-50E4-4F88-B570-6DD61F9A0082}"/>
              </a:ext>
            </a:extLst>
          </p:cNvPr>
          <p:cNvCxnSpPr>
            <a:stCxn xmlns:a="http://schemas.openxmlformats.org/drawingml/2006/main" id="6" idx="1"/>
            <a:endCxn xmlns:a="http://schemas.openxmlformats.org/drawingml/2006/main" id="7" idx="0"/>
          </p:cNvCxnSpPr>
          <p:nvPr/>
        </p:nvCxnSpPr>
        <p:spPr>
          <a:xfrm xmlns:a="http://schemas.openxmlformats.org/drawingml/2006/main" flipH="1">
            <a:off x="2990850" y="2143125"/>
            <a:ext cx="3829050" cy="1095375"/>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1" name="">
            <a:extLst xmlns:a="http://schemas.openxmlformats.org/drawingml/2006/main">
              <a:ext uri="{FF2B5EF4-FFF2-40B4-BE49-F238E27FC236}">
                <a16:creationId xmlns:a16="http://schemas.microsoft.com/office/drawing/2014/main" id="{6BE8A253-9342-4F24-A00E-B9428E032597}"/>
              </a:ext>
            </a:extLst>
          </p:cNvPr>
          <p:cNvCxnSpPr>
            <a:stCxn xmlns:a="http://schemas.openxmlformats.org/drawingml/2006/main" id="5" idx="3"/>
            <a:endCxn xmlns:a="http://schemas.openxmlformats.org/drawingml/2006/main" id="6" idx="1"/>
          </p:cNvCxnSpPr>
          <p:nvPr/>
        </p:nvCxnSpPr>
        <p:spPr>
          <a:xfrm xmlns:a="http://schemas.openxmlformats.org/drawingml/2006/main">
            <a:off x="5372100" y="2143125"/>
            <a:ext cx="1447800" cy="0"/>
          </a:xfrm>
          <a:prstGeom xmlns:a="http://schemas.openxmlformats.org/drawingml/2006/main" prst="straightConnector1">
            <a:avLst/>
          </a:prstGeom>
          <a:ln xmlns:a="http://schemas.openxmlformats.org/drawingml/2006/main" w="19050">
            <a:solidFill>
              <a:srgbClr val="5E695F"/>
            </a:solidFill>
            <a:tailEnd type="arrow" w="med" len="med"/>
          </a:ln>
        </p:spPr>
      </p:cxnSp>
      <p:sp>
        <p:nvSpPr>
          <p:cNvPr id="17" name="">
            <a:extLst xmlns:a="http://schemas.openxmlformats.org/drawingml/2006/main">
              <a:ext uri="{FF2B5EF4-FFF2-40B4-BE49-F238E27FC236}">
                <a16:creationId xmlns:a16="http://schemas.microsoft.com/office/drawing/2014/main" id="{602E22E7-2571-4A88-9F7D-E69DB09718D3}"/>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SOLUTION DESIGN</a:t>
            </a:r>
          </a:p>
        </p:txBody>
      </p:sp>
      <p:sp>
        <p:nvSpPr>
          <p:cNvPr id="2" name="">
            <a:extLst xmlns:a="http://schemas.openxmlformats.org/drawingml/2006/main">
              <a:ext uri="{FF2B5EF4-FFF2-40B4-BE49-F238E27FC236}">
                <a16:creationId xmlns:a16="http://schemas.microsoft.com/office/drawing/2014/main" id="{3467EA4E-6D4E-4D21-9B31-6AF1CB811A2B}"/>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Application architecture</a:t>
            </a:r>
          </a:p>
        </p:txBody>
      </p:sp>
      <p:sp>
        <p:nvSpPr>
          <p:cNvPr id="3" name="">
            <a:extLst xmlns:a="http://schemas.openxmlformats.org/drawingml/2006/main">
              <a:ext uri="{FF2B5EF4-FFF2-40B4-BE49-F238E27FC236}">
                <a16:creationId xmlns:a16="http://schemas.microsoft.com/office/drawing/2014/main" id="{A09BAB1A-EA9F-43FE-A835-3E69340778AB}"/>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68AA98C5-D54C-4DA0-989B-6B743BC81923}"/>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2B7D90E-A96C-4A85-A324-D9B3F029C1AA}"/>
              </a:ext>
            </a:extLst>
          </p:cNvPr>
          <p:cNvSpPr>
            <a:spLocks xmlns:a="http://schemas.openxmlformats.org/drawingml/2006/main" noGrp="1"/>
          </p:cNvSpPr>
          <p:nvPr/>
        </p:nvSpPr>
        <p:spPr>
          <a:xfrm xmlns:a="http://schemas.openxmlformats.org/drawingml/2006/main">
            <a:off x="609600" y="1762125"/>
            <a:ext cx="4762500" cy="7620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Responsive browser UI</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HTML, CSS, JavaScript, Three.js</a:t>
            </a:r>
          </a:p>
        </p:txBody>
      </p:sp>
      <p:sp>
        <p:nvSpPr>
          <p:cNvPr id="6" name="">
            <a:extLst xmlns:a="http://schemas.openxmlformats.org/drawingml/2006/main">
              <a:ext uri="{FF2B5EF4-FFF2-40B4-BE49-F238E27FC236}">
                <a16:creationId xmlns:a16="http://schemas.microsoft.com/office/drawing/2014/main" id="{B4F3A3EE-A111-4FD2-9328-73B046A2BC4A}"/>
              </a:ext>
            </a:extLst>
          </p:cNvPr>
          <p:cNvSpPr>
            <a:spLocks xmlns:a="http://schemas.openxmlformats.org/drawingml/2006/main" noGrp="1"/>
          </p:cNvSpPr>
          <p:nvPr/>
        </p:nvSpPr>
        <p:spPr>
          <a:xfrm xmlns:a="http://schemas.openxmlformats.org/drawingml/2006/main">
            <a:off x="6819900" y="1762125"/>
            <a:ext cx="4762500" cy="7620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Embedded Tomcat + Spring Security</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Session, CSRF, role checks</a:t>
            </a:r>
          </a:p>
        </p:txBody>
      </p:sp>
      <p:sp>
        <p:nvSpPr>
          <p:cNvPr id="7" name="">
            <a:extLst xmlns:a="http://schemas.openxmlformats.org/drawingml/2006/main">
              <a:ext uri="{FF2B5EF4-FFF2-40B4-BE49-F238E27FC236}">
                <a16:creationId xmlns:a16="http://schemas.microsoft.com/office/drawing/2014/main" id="{C743ED02-4B5D-448F-AA56-1F0595EC500A}"/>
              </a:ext>
            </a:extLst>
          </p:cNvPr>
          <p:cNvSpPr>
            <a:spLocks xmlns:a="http://schemas.openxmlformats.org/drawingml/2006/main" noGrp="1"/>
          </p:cNvSpPr>
          <p:nvPr/>
        </p:nvSpPr>
        <p:spPr>
          <a:xfrm xmlns:a="http://schemas.openxmlformats.org/drawingml/2006/main">
            <a:off x="609600" y="3238500"/>
            <a:ext cx="4762500" cy="7620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REST controller</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DispatcherServlet</a:t>
            </a:r>
          </a:p>
        </p:txBody>
      </p:sp>
      <p:sp>
        <p:nvSpPr>
          <p:cNvPr id="8" name="">
            <a:extLst xmlns:a="http://schemas.openxmlformats.org/drawingml/2006/main">
              <a:ext uri="{FF2B5EF4-FFF2-40B4-BE49-F238E27FC236}">
                <a16:creationId xmlns:a16="http://schemas.microsoft.com/office/drawing/2014/main" id="{2EAB2326-1CBB-4CC9-94FC-C004F1C53E5F}"/>
              </a:ext>
            </a:extLst>
          </p:cNvPr>
          <p:cNvSpPr>
            <a:spLocks xmlns:a="http://schemas.openxmlformats.org/drawingml/2006/main" noGrp="1"/>
          </p:cNvSpPr>
          <p:nvPr/>
        </p:nvSpPr>
        <p:spPr>
          <a:xfrm xmlns:a="http://schemas.openxmlformats.org/drawingml/2006/main">
            <a:off x="6819900" y="3238500"/>
            <a:ext cx="4762500" cy="7620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PerformanceReportServlet</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GET /reports/attempts/{id}</a:t>
            </a:r>
          </a:p>
        </p:txBody>
      </p:sp>
      <p:sp>
        <p:nvSpPr>
          <p:cNvPr id="9" name="">
            <a:extLst xmlns:a="http://schemas.openxmlformats.org/drawingml/2006/main">
              <a:ext uri="{FF2B5EF4-FFF2-40B4-BE49-F238E27FC236}">
                <a16:creationId xmlns:a16="http://schemas.microsoft.com/office/drawing/2014/main" id="{FF453E35-237B-46CB-9FEF-D3F011665BF9}"/>
              </a:ext>
            </a:extLst>
          </p:cNvPr>
          <p:cNvSpPr>
            <a:spLocks xmlns:a="http://schemas.openxmlformats.org/drawingml/2006/main" noGrp="1"/>
          </p:cNvSpPr>
          <p:nvPr/>
        </p:nvSpPr>
        <p:spPr>
          <a:xfrm xmlns:a="http://schemas.openxmlformats.org/drawingml/2006/main">
            <a:off x="609600" y="4714875"/>
            <a:ext cx="4762500" cy="85725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PlatformService + scoring policy</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Rules, transactions and ownership</a:t>
            </a:r>
          </a:p>
        </p:txBody>
      </p:sp>
      <p:sp>
        <p:nvSpPr>
          <p:cNvPr id="10" name="">
            <a:extLst xmlns:a="http://schemas.openxmlformats.org/drawingml/2006/main">
              <a:ext uri="{FF2B5EF4-FFF2-40B4-BE49-F238E27FC236}">
                <a16:creationId xmlns:a16="http://schemas.microsoft.com/office/drawing/2014/main" id="{2F0263F5-4356-4090-BA38-A212659F305E}"/>
              </a:ext>
            </a:extLst>
          </p:cNvPr>
          <p:cNvSpPr>
            <a:spLocks xmlns:a="http://schemas.openxmlformats.org/drawingml/2006/main" noGrp="1"/>
          </p:cNvSpPr>
          <p:nvPr/>
        </p:nvSpPr>
        <p:spPr>
          <a:xfrm xmlns:a="http://schemas.openxmlformats.org/drawingml/2006/main">
            <a:off x="6819900" y="4714875"/>
            <a:ext cx="4762500" cy="85725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JdbcStore → database</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H2 locally / PostgreSQL in cloud</a:t>
            </a:r>
          </a:p>
        </p:txBody>
      </p:sp>
    </p:spTree>
    <p:extLst>
      <p:ext uri="{BB962C8B-B14F-4D97-AF65-F5344CB8AC3E}">
        <p14:creationId xmlns:p14="http://schemas.microsoft.com/office/powerpoint/2010/main" val="1447635965"/>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BA5E1CF-3F43-4F54-8BA1-65566756C8CA}"/>
              </a:ext>
            </a:extLst>
          </p:cNvPr>
          <p:cNvCxnSpPr>
            <a:stCxn xmlns:a="http://schemas.openxmlformats.org/drawingml/2006/main" id="5" idx="3"/>
            <a:endCxn xmlns:a="http://schemas.openxmlformats.org/drawingml/2006/main" id="8" idx="1"/>
          </p:cNvCxnSpPr>
          <p:nvPr/>
        </p:nvCxnSpPr>
        <p:spPr>
          <a:xfrm xmlns:a="http://schemas.openxmlformats.org/drawingml/2006/main">
            <a:off x="3657600" y="2181225"/>
            <a:ext cx="914400" cy="1571625"/>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8" name="">
            <a:extLst xmlns:a="http://schemas.openxmlformats.org/drawingml/2006/main">
              <a:ext uri="{FF2B5EF4-FFF2-40B4-BE49-F238E27FC236}">
                <a16:creationId xmlns:a16="http://schemas.microsoft.com/office/drawing/2014/main" id="{B5079D49-3A42-4328-BD73-22E1F71073C4}"/>
              </a:ext>
            </a:extLst>
          </p:cNvPr>
          <p:cNvCxnSpPr>
            <a:stCxn xmlns:a="http://schemas.openxmlformats.org/drawingml/2006/main" id="5" idx="2"/>
            <a:endCxn xmlns:a="http://schemas.openxmlformats.org/drawingml/2006/main" id="10" idx="0"/>
          </p:cNvCxnSpPr>
          <p:nvPr/>
        </p:nvCxnSpPr>
        <p:spPr>
          <a:xfrm xmlns:a="http://schemas.openxmlformats.org/drawingml/2006/main">
            <a:off x="2133600" y="2552700"/>
            <a:ext cx="0" cy="78105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7" name="">
            <a:extLst xmlns:a="http://schemas.openxmlformats.org/drawingml/2006/main">
              <a:ext uri="{FF2B5EF4-FFF2-40B4-BE49-F238E27FC236}">
                <a16:creationId xmlns:a16="http://schemas.microsoft.com/office/drawing/2014/main" id="{6C753D2C-760C-448B-A37C-E4F4ED1E6A9C}"/>
              </a:ext>
            </a:extLst>
          </p:cNvPr>
          <p:cNvCxnSpPr>
            <a:stCxn xmlns:a="http://schemas.openxmlformats.org/drawingml/2006/main" id="7" idx="2"/>
            <a:endCxn xmlns:a="http://schemas.openxmlformats.org/drawingml/2006/main" id="9" idx="0"/>
          </p:cNvCxnSpPr>
          <p:nvPr/>
        </p:nvCxnSpPr>
        <p:spPr>
          <a:xfrm xmlns:a="http://schemas.openxmlformats.org/drawingml/2006/main">
            <a:off x="10058400" y="2552700"/>
            <a:ext cx="0" cy="78105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6" name="">
            <a:extLst xmlns:a="http://schemas.openxmlformats.org/drawingml/2006/main">
              <a:ext uri="{FF2B5EF4-FFF2-40B4-BE49-F238E27FC236}">
                <a16:creationId xmlns:a16="http://schemas.microsoft.com/office/drawing/2014/main" id="{09B0F088-AC7C-4F13-A116-4543196AA5DF}"/>
              </a:ext>
            </a:extLst>
          </p:cNvPr>
          <p:cNvCxnSpPr>
            <a:stCxn xmlns:a="http://schemas.openxmlformats.org/drawingml/2006/main" id="8" idx="3"/>
            <a:endCxn xmlns:a="http://schemas.openxmlformats.org/drawingml/2006/main" id="9" idx="1"/>
          </p:cNvCxnSpPr>
          <p:nvPr/>
        </p:nvCxnSpPr>
        <p:spPr>
          <a:xfrm xmlns:a="http://schemas.openxmlformats.org/drawingml/2006/main">
            <a:off x="7620000" y="3752850"/>
            <a:ext cx="914400" cy="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5" name="">
            <a:extLst xmlns:a="http://schemas.openxmlformats.org/drawingml/2006/main">
              <a:ext uri="{FF2B5EF4-FFF2-40B4-BE49-F238E27FC236}">
                <a16:creationId xmlns:a16="http://schemas.microsoft.com/office/drawing/2014/main" id="{D9E11230-69F5-462A-9F30-177B6EFB80AF}"/>
              </a:ext>
            </a:extLst>
          </p:cNvPr>
          <p:cNvCxnSpPr>
            <a:stCxn xmlns:a="http://schemas.openxmlformats.org/drawingml/2006/main" id="6" idx="2"/>
            <a:endCxn xmlns:a="http://schemas.openxmlformats.org/drawingml/2006/main" id="8" idx="0"/>
          </p:cNvCxnSpPr>
          <p:nvPr/>
        </p:nvCxnSpPr>
        <p:spPr>
          <a:xfrm xmlns:a="http://schemas.openxmlformats.org/drawingml/2006/main">
            <a:off x="6096000" y="2552700"/>
            <a:ext cx="0" cy="78105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4" name="">
            <a:extLst xmlns:a="http://schemas.openxmlformats.org/drawingml/2006/main">
              <a:ext uri="{FF2B5EF4-FFF2-40B4-BE49-F238E27FC236}">
                <a16:creationId xmlns:a16="http://schemas.microsoft.com/office/drawing/2014/main" id="{59A919F6-AC5F-4930-B17C-B79265BC2575}"/>
              </a:ext>
            </a:extLst>
          </p:cNvPr>
          <p:cNvCxnSpPr>
            <a:stCxn xmlns:a="http://schemas.openxmlformats.org/drawingml/2006/main" id="6" idx="3"/>
            <a:endCxn xmlns:a="http://schemas.openxmlformats.org/drawingml/2006/main" id="7" idx="1"/>
          </p:cNvCxnSpPr>
          <p:nvPr/>
        </p:nvCxnSpPr>
        <p:spPr>
          <a:xfrm xmlns:a="http://schemas.openxmlformats.org/drawingml/2006/main">
            <a:off x="7620000" y="2181225"/>
            <a:ext cx="914400" cy="0"/>
          </a:xfrm>
          <a:prstGeom xmlns:a="http://schemas.openxmlformats.org/drawingml/2006/main" prst="straightConnector1">
            <a:avLst/>
          </a:prstGeom>
          <a:ln xmlns:a="http://schemas.openxmlformats.org/drawingml/2006/main" w="19050">
            <a:solidFill>
              <a:srgbClr val="5E695F"/>
            </a:solidFill>
            <a:tailEnd type="arrow" w="med" len="med"/>
          </a:ln>
        </p:spPr>
      </p:cxnSp>
      <p:cxnSp>
        <p:nvCxnSpPr>
          <p:cNvPr id="13" name="">
            <a:extLst xmlns:a="http://schemas.openxmlformats.org/drawingml/2006/main">
              <a:ext uri="{FF2B5EF4-FFF2-40B4-BE49-F238E27FC236}">
                <a16:creationId xmlns:a16="http://schemas.microsoft.com/office/drawing/2014/main" id="{026ACE20-F709-44DE-8C55-F138A28A1B1F}"/>
              </a:ext>
            </a:extLst>
          </p:cNvPr>
          <p:cNvCxnSpPr>
            <a:stCxn xmlns:a="http://schemas.openxmlformats.org/drawingml/2006/main" id="5" idx="3"/>
            <a:endCxn xmlns:a="http://schemas.openxmlformats.org/drawingml/2006/main" id="6" idx="1"/>
          </p:cNvCxnSpPr>
          <p:nvPr/>
        </p:nvCxnSpPr>
        <p:spPr>
          <a:xfrm xmlns:a="http://schemas.openxmlformats.org/drawingml/2006/main">
            <a:off x="3657600" y="2181225"/>
            <a:ext cx="914400" cy="0"/>
          </a:xfrm>
          <a:prstGeom xmlns:a="http://schemas.openxmlformats.org/drawingml/2006/main" prst="straightConnector1">
            <a:avLst/>
          </a:prstGeom>
          <a:ln xmlns:a="http://schemas.openxmlformats.org/drawingml/2006/main" w="19050">
            <a:solidFill>
              <a:srgbClr val="5E695F"/>
            </a:solidFill>
            <a:tailEnd type="arrow" w="med" len="med"/>
          </a:ln>
        </p:spPr>
      </p:cxnSp>
      <p:sp>
        <p:nvSpPr>
          <p:cNvPr id="21" name="">
            <a:extLst xmlns:a="http://schemas.openxmlformats.org/drawingml/2006/main">
              <a:ext uri="{FF2B5EF4-FFF2-40B4-BE49-F238E27FC236}">
                <a16:creationId xmlns:a16="http://schemas.microsoft.com/office/drawing/2014/main" id="{7454FCB4-94FC-4549-BDE5-764E0DB74D48}"/>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DATABASE DESIGN</a:t>
            </a:r>
          </a:p>
        </p:txBody>
      </p:sp>
      <p:sp>
        <p:nvSpPr>
          <p:cNvPr id="2" name="">
            <a:extLst xmlns:a="http://schemas.openxmlformats.org/drawingml/2006/main">
              <a:ext uri="{FF2B5EF4-FFF2-40B4-BE49-F238E27FC236}">
                <a16:creationId xmlns:a16="http://schemas.microsoft.com/office/drawing/2014/main" id="{63A3E537-2BD0-42A4-80E5-FA901CCCB39F}"/>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Database relationships</a:t>
            </a:r>
          </a:p>
        </p:txBody>
      </p:sp>
      <p:sp>
        <p:nvSpPr>
          <p:cNvPr id="3" name="">
            <a:extLst xmlns:a="http://schemas.openxmlformats.org/drawingml/2006/main">
              <a:ext uri="{FF2B5EF4-FFF2-40B4-BE49-F238E27FC236}">
                <a16:creationId xmlns:a16="http://schemas.microsoft.com/office/drawing/2014/main" id="{C4736573-AC0D-4F66-A293-1E2B52F34008}"/>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D209E5D9-43E1-4ADA-AD1F-D11B0F1C5E5E}"/>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CAB8A8E-11B0-4D42-B378-3624806E888D}"/>
              </a:ext>
            </a:extLst>
          </p:cNvPr>
          <p:cNvSpPr>
            <a:spLocks xmlns:a="http://schemas.openxmlformats.org/drawingml/2006/main" noGrp="1"/>
          </p:cNvSpPr>
          <p:nvPr/>
        </p:nvSpPr>
        <p:spPr>
          <a:xfrm xmlns:a="http://schemas.openxmlformats.org/drawingml/2006/main">
            <a:off x="609600" y="1809750"/>
            <a:ext cx="3048000" cy="74295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app_users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id PK · email UNIQUE</a:t>
            </a:r>
          </a:p>
        </p:txBody>
      </p:sp>
      <p:sp>
        <p:nvSpPr>
          <p:cNvPr id="6" name="">
            <a:extLst xmlns:a="http://schemas.openxmlformats.org/drawingml/2006/main">
              <a:ext uri="{FF2B5EF4-FFF2-40B4-BE49-F238E27FC236}">
                <a16:creationId xmlns:a16="http://schemas.microsoft.com/office/drawing/2014/main" id="{8E8C970B-3EE1-4997-AB71-79AE7CAB1414}"/>
              </a:ext>
            </a:extLst>
          </p:cNvPr>
          <p:cNvSpPr>
            <a:spLocks xmlns:a="http://schemas.openxmlformats.org/drawingml/2006/main" noGrp="1"/>
          </p:cNvSpPr>
          <p:nvPr/>
        </p:nvSpPr>
        <p:spPr>
          <a:xfrm xmlns:a="http://schemas.openxmlformats.org/drawingml/2006/main">
            <a:off x="4572000" y="1809750"/>
            <a:ext cx="3048000" cy="74295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quizzes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id PK · creator_id FK</a:t>
            </a:r>
          </a:p>
        </p:txBody>
      </p:sp>
      <p:sp>
        <p:nvSpPr>
          <p:cNvPr id="7" name="">
            <a:extLst xmlns:a="http://schemas.openxmlformats.org/drawingml/2006/main">
              <a:ext uri="{FF2B5EF4-FFF2-40B4-BE49-F238E27FC236}">
                <a16:creationId xmlns:a16="http://schemas.microsoft.com/office/drawing/2014/main" id="{0D8BC9A2-B405-40BE-B60E-0F2ED72608FD}"/>
              </a:ext>
            </a:extLst>
          </p:cNvPr>
          <p:cNvSpPr>
            <a:spLocks xmlns:a="http://schemas.openxmlformats.org/drawingml/2006/main" noGrp="1"/>
          </p:cNvSpPr>
          <p:nvPr/>
        </p:nvSpPr>
        <p:spPr>
          <a:xfrm xmlns:a="http://schemas.openxmlformats.org/drawingml/2006/main">
            <a:off x="8534400" y="1809750"/>
            <a:ext cx="3048000" cy="74295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questions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id PK · quiz_id FK</a:t>
            </a:r>
          </a:p>
        </p:txBody>
      </p:sp>
      <p:sp>
        <p:nvSpPr>
          <p:cNvPr id="8" name="">
            <a:extLst xmlns:a="http://schemas.openxmlformats.org/drawingml/2006/main">
              <a:ext uri="{FF2B5EF4-FFF2-40B4-BE49-F238E27FC236}">
                <a16:creationId xmlns:a16="http://schemas.microsoft.com/office/drawing/2014/main" id="{3CFA2E7A-57C5-47E0-9B3A-8FE351753904}"/>
              </a:ext>
            </a:extLst>
          </p:cNvPr>
          <p:cNvSpPr>
            <a:spLocks xmlns:a="http://schemas.openxmlformats.org/drawingml/2006/main" noGrp="1"/>
          </p:cNvSpPr>
          <p:nvPr/>
        </p:nvSpPr>
        <p:spPr>
          <a:xfrm xmlns:a="http://schemas.openxmlformats.org/drawingml/2006/main">
            <a:off x="4572000" y="3333750"/>
            <a:ext cx="3048000" cy="8382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attempts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user/quiz FKs · deadline</a:t>
            </a:r>
          </a:p>
        </p:txBody>
      </p:sp>
      <p:sp>
        <p:nvSpPr>
          <p:cNvPr id="9" name="">
            <a:extLst xmlns:a="http://schemas.openxmlformats.org/drawingml/2006/main">
              <a:ext uri="{FF2B5EF4-FFF2-40B4-BE49-F238E27FC236}">
                <a16:creationId xmlns:a16="http://schemas.microsoft.com/office/drawing/2014/main" id="{D242F453-F958-4B5D-B682-F8EB2E144D08}"/>
              </a:ext>
            </a:extLst>
          </p:cNvPr>
          <p:cNvSpPr>
            <a:spLocks xmlns:a="http://schemas.openxmlformats.org/drawingml/2006/main" noGrp="1"/>
          </p:cNvSpPr>
          <p:nvPr/>
        </p:nvSpPr>
        <p:spPr>
          <a:xfrm xmlns:a="http://schemas.openxmlformats.org/drawingml/2006/main">
            <a:off x="8534400" y="3333750"/>
            <a:ext cx="3048000" cy="8382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answers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attempt + question PK/FKs</a:t>
            </a:r>
          </a:p>
        </p:txBody>
      </p:sp>
      <p:sp>
        <p:nvSpPr>
          <p:cNvPr id="10" name="">
            <a:extLst xmlns:a="http://schemas.openxmlformats.org/drawingml/2006/main">
              <a:ext uri="{FF2B5EF4-FFF2-40B4-BE49-F238E27FC236}">
                <a16:creationId xmlns:a16="http://schemas.microsoft.com/office/drawing/2014/main" id="{B9517BF6-07C5-49D8-972D-D6E2F15B9139}"/>
              </a:ext>
            </a:extLst>
          </p:cNvPr>
          <p:cNvSpPr>
            <a:spLocks xmlns:a="http://schemas.openxmlformats.org/drawingml/2006/main" noGrp="1"/>
          </p:cNvSpPr>
          <p:nvPr/>
        </p:nvSpPr>
        <p:spPr>
          <a:xfrm xmlns:a="http://schemas.openxmlformats.org/drawingml/2006/main">
            <a:off x="609600" y="3333750"/>
            <a:ext cx="3048000" cy="8382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messages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sender/recipient FKs</a:t>
            </a:r>
          </a:p>
        </p:txBody>
      </p:sp>
      <p:sp>
        <p:nvSpPr>
          <p:cNvPr id="11" name="">
            <a:extLst xmlns:a="http://schemas.openxmlformats.org/drawingml/2006/main">
              <a:ext uri="{FF2B5EF4-FFF2-40B4-BE49-F238E27FC236}">
                <a16:creationId xmlns:a16="http://schemas.microsoft.com/office/drawing/2014/main" id="{135BBA48-C2E7-4401-9AB8-0DB0B319F4CF}"/>
              </a:ext>
            </a:extLst>
          </p:cNvPr>
          <p:cNvSpPr>
            <a:spLocks xmlns:a="http://schemas.openxmlformats.org/drawingml/2006/main" noGrp="1"/>
          </p:cNvSpPr>
          <p:nvPr/>
        </p:nvSpPr>
        <p:spPr>
          <a:xfrm xmlns:a="http://schemas.openxmlformats.org/drawingml/2006/main">
            <a:off x="4572000" y="4857750"/>
            <a:ext cx="3048000" cy="8382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reminders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user/quiz FKs</a:t>
            </a:r>
          </a:p>
        </p:txBody>
      </p:sp>
      <p:sp>
        <p:nvSpPr>
          <p:cNvPr id="12" name="">
            <a:extLst xmlns:a="http://schemas.openxmlformats.org/drawingml/2006/main">
              <a:ext uri="{FF2B5EF4-FFF2-40B4-BE49-F238E27FC236}">
                <a16:creationId xmlns:a16="http://schemas.microsoft.com/office/drawing/2014/main" id="{FF74F7D6-3E9D-430B-BABE-178EB8B776F1}"/>
              </a:ext>
            </a:extLst>
          </p:cNvPr>
          <p:cNvSpPr>
            <a:spLocks xmlns:a="http://schemas.openxmlformats.org/drawingml/2006/main" noGrp="1"/>
          </p:cNvSpPr>
          <p:nvPr/>
        </p:nvSpPr>
        <p:spPr>
          <a:xfrm xmlns:a="http://schemas.openxmlformats.org/drawingml/2006/main">
            <a:off x="609600" y="4857750"/>
            <a:ext cx="3048000" cy="838200"/>
          </a:xfrm>
          <a:prstGeom xmlns:a="http://schemas.openxmlformats.org/drawingml/2006/main" prst="rect">
            <a:avLst/>
          </a:prstGeom>
          <a:solidFill xmlns:a="http://schemas.openxmlformats.org/drawingml/2006/main">
            <a:srgbClr val="E2E8D8"/>
          </a:solidFill>
          <a:ln xmlns:a="http://schemas.openxmlformats.org/drawingml/2006/main" w="9525">
            <a:solidFill>
              <a:srgbClr val="5E695F"/>
            </a:solidFill>
          </a:ln>
        </p:spPr>
        <p:txBody>
          <a:bodyPr xmlns:a="http://schemas.openxmlformats.org/drawingml/2006/main"/>
          <a:lstStyle xmlns:a="http://schemas.openxmlformats.org/drawingml/2006/main">
            <a:defPPr>
              <a:defRPr sz="1800">
                <a:solidFill>
                  <a:srgbClr val="253F33"/>
                </a:solidFill>
                <a:latin typeface="Arial"/>
                <a:ea typeface="Arial"/>
                <a:cs typeface="Arial"/>
              </a:defRPr>
            </a:defPPr>
          </a:lstStyle>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system_settings</a:t>
            </a:r>
          </a:p>
          <a:p xmlns:a="http://schemas.openxmlformats.org/drawingml/2006/main">
            <a:pPr>
              <a:defRPr sz="1800">
                <a:solidFill>
                  <a:srgbClr val="253F33"/>
                </a:solidFill>
                <a:latin typeface="Arial"/>
                <a:ea typeface="Arial"/>
                <a:cs typeface="Arial"/>
              </a:defRPr>
            </a:pPr>
            <a:r>
              <a:rPr sz="1800">
                <a:solidFill>
                  <a:srgbClr val="253F33"/>
                </a:solidFill>
                <a:latin typeface="Arial"/>
                <a:ea typeface="Arial"/>
                <a:cs typeface="Arial"/>
              </a:rPr>
              <a:t>single settings row</a:t>
            </a:r>
          </a:p>
        </p:txBody>
      </p:sp>
      <p:sp>
        <p:nvSpPr>
          <p:cNvPr id="20" name="">
            <a:extLst xmlns:a="http://schemas.openxmlformats.org/drawingml/2006/main">
              <a:ext uri="{FF2B5EF4-FFF2-40B4-BE49-F238E27FC236}">
                <a16:creationId xmlns:a16="http://schemas.microsoft.com/office/drawing/2014/main" id="{FD53EE6B-9943-4223-BACD-D02CF7253FAC}"/>
              </a:ext>
            </a:extLst>
          </p:cNvPr>
          <p:cNvSpPr>
            <a:spLocks xmlns:a="http://schemas.openxmlformats.org/drawingml/2006/main" noGrp="1"/>
          </p:cNvSpPr>
          <p:nvPr/>
        </p:nvSpPr>
        <p:spPr>
          <a:xfrm xmlns:a="http://schemas.openxmlformats.org/drawingml/2006/main">
            <a:off x="7858125" y="4857750"/>
            <a:ext cx="3714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53F33"/>
                </a:solidFill>
                <a:latin typeface="Arial"/>
                <a:ea typeface="Arial"/>
                <a:cs typeface="Arial"/>
              </a:defRPr>
            </a:defPPr>
          </a:lstStyle>
          <a:p xmlns:a="http://schemas.openxmlformats.org/drawingml/2006/main">
            <a:pPr>
              <a:defRPr sz="1725" b="0">
                <a:solidFill>
                  <a:srgbClr val="253F33"/>
                </a:solidFill>
                <a:latin typeface="Arial"/>
                <a:ea typeface="Arial"/>
                <a:cs typeface="Arial"/>
              </a:defRPr>
            </a:pPr>
            <a:r>
              <a:rPr sz="1725" b="0">
                <a:solidFill>
                  <a:srgbClr val="253F33"/>
                </a:solidFill>
                <a:latin typeface="Arial"/>
                <a:ea typeface="Arial"/>
                <a:cs typeface="Arial"/>
              </a:rPr>
              <a:t>Parent → referencing table. Reminders link users and quizzes.</a:t>
            </a:r>
          </a:p>
        </p:txBody>
      </p:sp>
    </p:spTree>
    <p:extLst>
      <p:ext uri="{BB962C8B-B14F-4D97-AF65-F5344CB8AC3E}">
        <p14:creationId xmlns:p14="http://schemas.microsoft.com/office/powerpoint/2010/main" val="1725932056"/>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FAA4F7-692E-4FDF-A70B-B6654E42667E}"/>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DATABASE INTEGRATION</a:t>
            </a:r>
          </a:p>
        </p:txBody>
      </p:sp>
      <p:sp>
        <p:nvSpPr>
          <p:cNvPr id="2" name="">
            <a:extLst xmlns:a="http://schemas.openxmlformats.org/drawingml/2006/main">
              <a:ext uri="{FF2B5EF4-FFF2-40B4-BE49-F238E27FC236}">
                <a16:creationId xmlns:a16="http://schemas.microsoft.com/office/drawing/2014/main" id="{D9602E98-87A2-4F8A-904F-87B8526C9C08}"/>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Prepared JDBC and transaction boundaries</a:t>
            </a:r>
          </a:p>
        </p:txBody>
      </p:sp>
      <p:sp>
        <p:nvSpPr>
          <p:cNvPr id="3" name="">
            <a:extLst xmlns:a="http://schemas.openxmlformats.org/drawingml/2006/main">
              <a:ext uri="{FF2B5EF4-FFF2-40B4-BE49-F238E27FC236}">
                <a16:creationId xmlns:a16="http://schemas.microsoft.com/office/drawing/2014/main" id="{69959912-4419-4072-9D35-9CC8615F2DF5}"/>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96579A74-101A-4B74-A233-196D43C7AAB3}"/>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28478D7-87CC-49DE-800A-F8CA7A20BBA4}"/>
              </a:ext>
            </a:extLst>
          </p:cNvPr>
          <p:cNvSpPr>
            <a:spLocks xmlns:a="http://schemas.openxmlformats.org/drawingml/2006/main" noGrp="1"/>
          </p:cNvSpPr>
          <p:nvPr/>
        </p:nvSpPr>
        <p:spPr>
          <a:xfrm xmlns:a="http://schemas.openxmlformats.org/drawingml/2006/main">
            <a:off x="609600" y="171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53F33"/>
                </a:solidFill>
                <a:latin typeface="Georgia"/>
                <a:ea typeface="Georgia"/>
                <a:cs typeface="Georgia"/>
              </a:defRPr>
            </a:defPPr>
          </a:lstStyle>
          <a:p xmlns:a="http://schemas.openxmlformats.org/drawingml/2006/main">
            <a:pPr>
              <a:defRPr sz="2250" b="0">
                <a:solidFill>
                  <a:srgbClr val="253F33"/>
                </a:solidFill>
                <a:latin typeface="Georgia"/>
                <a:ea typeface="Georgia"/>
                <a:cs typeface="Georgia"/>
              </a:defRPr>
            </a:pPr>
            <a:r>
              <a:rPr sz="2250" b="0">
                <a:solidFill>
                  <a:srgbClr val="253F33"/>
                </a:solidFill>
                <a:latin typeface="Georgia"/>
                <a:ea typeface="Georgia"/>
                <a:cs typeface="Georgia"/>
              </a:rPr>
              <a:t>Bound parameters keep submitted values separate from SQL.</a:t>
            </a:r>
          </a:p>
        </p:txBody>
      </p:sp>
      <p:sp>
        <p:nvSpPr>
          <p:cNvPr id="6" name="">
            <a:extLst xmlns:a="http://schemas.openxmlformats.org/drawingml/2006/main">
              <a:ext uri="{FF2B5EF4-FFF2-40B4-BE49-F238E27FC236}">
                <a16:creationId xmlns:a16="http://schemas.microsoft.com/office/drawing/2014/main" id="{AADDBC94-3497-4E3A-A3A7-F1E8B1009CC3}"/>
              </a:ext>
            </a:extLst>
          </p:cNvPr>
          <p:cNvSpPr>
            <a:spLocks xmlns:a="http://schemas.openxmlformats.org/drawingml/2006/main" noGrp="1"/>
          </p:cNvSpPr>
          <p:nvPr/>
        </p:nvSpPr>
        <p:spPr>
          <a:xfrm xmlns:a="http://schemas.openxmlformats.org/drawingml/2006/main">
            <a:off x="609600" y="2590800"/>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F33"/>
                </a:solidFill>
                <a:latin typeface="Arial"/>
                <a:ea typeface="Arial"/>
                <a:cs typeface="Arial"/>
              </a:defRPr>
            </a:defPPr>
          </a:lstStyle>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connection.prepareStatement(sql, new String[] {"id"});</a:t>
            </a:r>
          </a:p>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statement.setObject(i + 1, args[i]);</a:t>
            </a:r>
          </a:p>
          <a:p xmlns:a="http://schemas.openxmlformats.org/drawingml/2006/main">
            <a:r>
              <a:t/>
            </a:r>
          </a:p>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SELECT * FROM attempts WHERE id = ? FOR UPDATE</a:t>
            </a:r>
          </a:p>
        </p:txBody>
      </p:sp>
      <p:sp>
        <p:nvSpPr>
          <p:cNvPr id="7" name="">
            <a:extLst xmlns:a="http://schemas.openxmlformats.org/drawingml/2006/main">
              <a:ext uri="{FF2B5EF4-FFF2-40B4-BE49-F238E27FC236}">
                <a16:creationId xmlns:a16="http://schemas.microsoft.com/office/drawing/2014/main" id="{BDE66234-10D8-47EA-806E-A3F8E9BB9AA5}"/>
              </a:ext>
            </a:extLst>
          </p:cNvPr>
          <p:cNvSpPr>
            <a:spLocks xmlns:a="http://schemas.openxmlformats.org/drawingml/2006/main" noGrp="1"/>
          </p:cNvSpPr>
          <p:nvPr/>
        </p:nvSpPr>
        <p:spPr>
          <a:xfrm xmlns:a="http://schemas.openxmlformats.org/drawingml/2006/main">
            <a:off x="609600" y="45910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Portable persistence</a:t>
            </a:r>
          </a:p>
        </p:txBody>
      </p:sp>
      <p:sp>
        <p:nvSpPr>
          <p:cNvPr id="8" name="">
            <a:extLst xmlns:a="http://schemas.openxmlformats.org/drawingml/2006/main">
              <a:ext uri="{FF2B5EF4-FFF2-40B4-BE49-F238E27FC236}">
                <a16:creationId xmlns:a16="http://schemas.microsoft.com/office/drawing/2014/main" id="{4041D0A9-E420-4ACC-BBA4-354AB23057F6}"/>
              </a:ext>
            </a:extLst>
          </p:cNvPr>
          <p:cNvSpPr>
            <a:spLocks xmlns:a="http://schemas.openxmlformats.org/drawingml/2006/main" noGrp="1"/>
          </p:cNvSpPr>
          <p:nvPr/>
        </p:nvSpPr>
        <p:spPr>
          <a:xfrm xmlns:a="http://schemas.openxmlformats.org/drawingml/2006/main">
            <a:off x="609600" y="49720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Generated identities, foreign keys and indexed history queries.</a:t>
            </a:r>
          </a:p>
        </p:txBody>
      </p:sp>
      <p:sp>
        <p:nvSpPr>
          <p:cNvPr id="9" name="">
            <a:extLst xmlns:a="http://schemas.openxmlformats.org/drawingml/2006/main">
              <a:ext uri="{FF2B5EF4-FFF2-40B4-BE49-F238E27FC236}">
                <a16:creationId xmlns:a16="http://schemas.microsoft.com/office/drawing/2014/main" id="{E4A3684C-CD77-472B-900E-96F58D091750}"/>
              </a:ext>
            </a:extLst>
          </p:cNvPr>
          <p:cNvSpPr>
            <a:spLocks xmlns:a="http://schemas.openxmlformats.org/drawingml/2006/main" noGrp="1"/>
          </p:cNvSpPr>
          <p:nvPr/>
        </p:nvSpPr>
        <p:spPr>
          <a:xfrm xmlns:a="http://schemas.openxmlformats.org/drawingml/2006/main">
            <a:off x="609600" y="53911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Consistent writes</a:t>
            </a:r>
          </a:p>
        </p:txBody>
      </p:sp>
      <p:sp>
        <p:nvSpPr>
          <p:cNvPr id="10" name="">
            <a:extLst xmlns:a="http://schemas.openxmlformats.org/drawingml/2006/main">
              <a:ext uri="{FF2B5EF4-FFF2-40B4-BE49-F238E27FC236}">
                <a16:creationId xmlns:a16="http://schemas.microsoft.com/office/drawing/2014/main" id="{8DB7FA04-4113-465D-83FB-D7902712A2CB}"/>
              </a:ext>
            </a:extLst>
          </p:cNvPr>
          <p:cNvSpPr>
            <a:spLocks xmlns:a="http://schemas.openxmlformats.org/drawingml/2006/main" noGrp="1"/>
          </p:cNvSpPr>
          <p:nvPr/>
        </p:nvSpPr>
        <p:spPr>
          <a:xfrm xmlns:a="http://schemas.openxmlformats.org/drawingml/2006/main">
            <a:off x="609600" y="577215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A transaction and row lock serialize answer saving and submission.</a:t>
            </a:r>
          </a:p>
        </p:txBody>
      </p:sp>
    </p:spTree>
    <p:extLst>
      <p:ext uri="{BB962C8B-B14F-4D97-AF65-F5344CB8AC3E}">
        <p14:creationId xmlns:p14="http://schemas.microsoft.com/office/powerpoint/2010/main" val="136291373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152D53-E42B-47BC-B5AC-531D09EB7C80}"/>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JAVA IMPLEMENTATION</a:t>
            </a:r>
          </a:p>
        </p:txBody>
      </p:sp>
      <p:sp>
        <p:nvSpPr>
          <p:cNvPr id="2" name="">
            <a:extLst xmlns:a="http://schemas.openxmlformats.org/drawingml/2006/main">
              <a:ext uri="{FF2B5EF4-FFF2-40B4-BE49-F238E27FC236}">
                <a16:creationId xmlns:a16="http://schemas.microsoft.com/office/drawing/2014/main" id="{D38FCB1A-5A26-49B7-AFAB-2BCEDEEFDC90}"/>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Core Java concepts in working features</a:t>
            </a:r>
          </a:p>
        </p:txBody>
      </p:sp>
      <p:sp>
        <p:nvSpPr>
          <p:cNvPr id="3" name="">
            <a:extLst xmlns:a="http://schemas.openxmlformats.org/drawingml/2006/main">
              <a:ext uri="{FF2B5EF4-FFF2-40B4-BE49-F238E27FC236}">
                <a16:creationId xmlns:a16="http://schemas.microsoft.com/office/drawing/2014/main" id="{ADE7BA50-47ED-46F1-9088-D5838E8EF046}"/>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70D79545-FDB3-4C6C-842A-7F1F3659D8D3}"/>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202AC86-C4FD-4E6B-B2B1-961EADE48C03}"/>
              </a:ext>
            </a:extLst>
          </p:cNvPr>
          <p:cNvSpPr>
            <a:spLocks xmlns:a="http://schemas.openxmlformats.org/drawingml/2006/main" noGrp="1"/>
          </p:cNvSpPr>
          <p:nvPr/>
        </p:nvSpPr>
        <p:spPr>
          <a:xfrm xmlns:a="http://schemas.openxmlformats.org/drawingml/2006/main">
            <a:off x="609600" y="1714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Interfaces and polymorphism</a:t>
            </a:r>
          </a:p>
        </p:txBody>
      </p:sp>
      <p:sp>
        <p:nvSpPr>
          <p:cNvPr id="6" name="">
            <a:extLst xmlns:a="http://schemas.openxmlformats.org/drawingml/2006/main">
              <a:ext uri="{FF2B5EF4-FFF2-40B4-BE49-F238E27FC236}">
                <a16:creationId xmlns:a16="http://schemas.microsoft.com/office/drawing/2014/main" id="{5784319E-8B41-4FC3-9588-6C14F5669D0B}"/>
              </a:ext>
            </a:extLst>
          </p:cNvPr>
          <p:cNvSpPr>
            <a:spLocks xmlns:a="http://schemas.openxmlformats.org/drawingml/2006/main" noGrp="1"/>
          </p:cNvSpPr>
          <p:nvPr/>
        </p:nvSpPr>
        <p:spPr>
          <a:xfrm xmlns:a="http://schemas.openxmlformats.org/drawingml/2006/main">
            <a:off x="609600" y="209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ScoringPolicy → MultipleChoiceScoringPolicy calculates quiz results.</a:t>
            </a:r>
          </a:p>
        </p:txBody>
      </p:sp>
      <p:sp>
        <p:nvSpPr>
          <p:cNvPr id="7" name="">
            <a:extLst xmlns:a="http://schemas.openxmlformats.org/drawingml/2006/main">
              <a:ext uri="{FF2B5EF4-FFF2-40B4-BE49-F238E27FC236}">
                <a16:creationId xmlns:a16="http://schemas.microsoft.com/office/drawing/2014/main" id="{96B10287-BB84-4849-8BFF-F4B28BB3B576}"/>
              </a:ext>
            </a:extLst>
          </p:cNvPr>
          <p:cNvSpPr>
            <a:spLocks xmlns:a="http://schemas.openxmlformats.org/drawingml/2006/main" noGrp="1"/>
          </p:cNvSpPr>
          <p:nvPr/>
        </p:nvSpPr>
        <p:spPr>
          <a:xfrm xmlns:a="http://schemas.openxmlformats.org/drawingml/2006/main">
            <a:off x="609600" y="27432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Encapsulation and validation</a:t>
            </a:r>
          </a:p>
        </p:txBody>
      </p:sp>
      <p:sp>
        <p:nvSpPr>
          <p:cNvPr id="8" name="">
            <a:extLst xmlns:a="http://schemas.openxmlformats.org/drawingml/2006/main">
              <a:ext uri="{FF2B5EF4-FFF2-40B4-BE49-F238E27FC236}">
                <a16:creationId xmlns:a16="http://schemas.microsoft.com/office/drawing/2014/main" id="{8044581C-657E-4431-8C59-AE7961169CD6}"/>
              </a:ext>
            </a:extLst>
          </p:cNvPr>
          <p:cNvSpPr>
            <a:spLocks xmlns:a="http://schemas.openxmlformats.org/drawingml/2006/main" noGrp="1"/>
          </p:cNvSpPr>
          <p:nvPr/>
        </p:nvSpPr>
        <p:spPr>
          <a:xfrm xmlns:a="http://schemas.openxmlformats.org/drawingml/2006/main">
            <a:off x="609600" y="3124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QuizScore record validates score bounds and computes pass status.</a:t>
            </a:r>
          </a:p>
        </p:txBody>
      </p:sp>
      <p:sp>
        <p:nvSpPr>
          <p:cNvPr id="9" name="">
            <a:extLst xmlns:a="http://schemas.openxmlformats.org/drawingml/2006/main">
              <a:ext uri="{FF2B5EF4-FFF2-40B4-BE49-F238E27FC236}">
                <a16:creationId xmlns:a16="http://schemas.microsoft.com/office/drawing/2014/main" id="{E98F18F9-F5A0-4DC9-8576-0207EDA353B1}"/>
              </a:ext>
            </a:extLst>
          </p:cNvPr>
          <p:cNvSpPr>
            <a:spLocks xmlns:a="http://schemas.openxmlformats.org/drawingml/2006/main" noGrp="1"/>
          </p:cNvSpPr>
          <p:nvPr/>
        </p:nvSpPr>
        <p:spPr>
          <a:xfrm xmlns:a="http://schemas.openxmlformats.org/drawingml/2006/main">
            <a:off x="609600" y="37719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Generics and collections</a:t>
            </a:r>
          </a:p>
        </p:txBody>
      </p:sp>
      <p:sp>
        <p:nvSpPr>
          <p:cNvPr id="10" name="">
            <a:extLst xmlns:a="http://schemas.openxmlformats.org/drawingml/2006/main">
              <a:ext uri="{FF2B5EF4-FFF2-40B4-BE49-F238E27FC236}">
                <a16:creationId xmlns:a16="http://schemas.microsoft.com/office/drawing/2014/main" id="{86E15C1F-995B-4E2D-A751-99A016DA17E9}"/>
              </a:ext>
            </a:extLst>
          </p:cNvPr>
          <p:cNvSpPr>
            <a:spLocks xmlns:a="http://schemas.openxmlformats.org/drawingml/2006/main" noGrp="1"/>
          </p:cNvSpPr>
          <p:nvPr/>
        </p:nvSpPr>
        <p:spPr>
          <a:xfrm xmlns:a="http://schemas.openxmlformats.org/drawingml/2006/main">
            <a:off x="609600" y="4152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ReportFormatter&lt;T&gt;, queryForObject&lt;T&gt;, List&lt;Map&lt;String, Object&gt;&gt;.</a:t>
            </a:r>
          </a:p>
        </p:txBody>
      </p:sp>
      <p:sp>
        <p:nvSpPr>
          <p:cNvPr id="11" name="">
            <a:extLst xmlns:a="http://schemas.openxmlformats.org/drawingml/2006/main">
              <a:ext uri="{FF2B5EF4-FFF2-40B4-BE49-F238E27FC236}">
                <a16:creationId xmlns:a16="http://schemas.microsoft.com/office/drawing/2014/main" id="{D4E6FA61-0590-41F2-B9A6-0F7855F33ED5}"/>
              </a:ext>
            </a:extLst>
          </p:cNvPr>
          <p:cNvSpPr>
            <a:spLocks xmlns:a="http://schemas.openxmlformats.org/drawingml/2006/main" noGrp="1"/>
          </p:cNvSpPr>
          <p:nvPr/>
        </p:nvSpPr>
        <p:spPr>
          <a:xfrm xmlns:a="http://schemas.openxmlformats.org/drawingml/2006/main">
            <a:off x="609600" y="48006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Inheritance and exceptions</a:t>
            </a:r>
          </a:p>
        </p:txBody>
      </p:sp>
      <p:sp>
        <p:nvSpPr>
          <p:cNvPr id="12" name="">
            <a:extLst xmlns:a="http://schemas.openxmlformats.org/drawingml/2006/main">
              <a:ext uri="{FF2B5EF4-FFF2-40B4-BE49-F238E27FC236}">
                <a16:creationId xmlns:a16="http://schemas.microsoft.com/office/drawing/2014/main" id="{A71EDCCD-7AFD-43C0-B33B-8516E136614B}"/>
              </a:ext>
            </a:extLst>
          </p:cNvPr>
          <p:cNvSpPr>
            <a:spLocks xmlns:a="http://schemas.openxmlformats.org/drawingml/2006/main" noGrp="1"/>
          </p:cNvSpPr>
          <p:nvPr/>
        </p:nvSpPr>
        <p:spPr>
          <a:xfrm xmlns:a="http://schemas.openxmlformats.org/drawingml/2006/main">
            <a:off x="609600" y="51816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PerformanceReportServlet extends HttpServlet; controlled HTTP errors.</a:t>
            </a:r>
          </a:p>
        </p:txBody>
      </p:sp>
    </p:spTree>
    <p:extLst>
      <p:ext uri="{BB962C8B-B14F-4D97-AF65-F5344CB8AC3E}">
        <p14:creationId xmlns:p14="http://schemas.microsoft.com/office/powerpoint/2010/main" val="1982180738"/>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A1551E-D326-4516-BB8C-8CBCE5D258A8}"/>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SERVLETS &amp; WEB INTEGRATION</a:t>
            </a:r>
          </a:p>
        </p:txBody>
      </p:sp>
      <p:sp>
        <p:nvSpPr>
          <p:cNvPr id="2" name="">
            <a:extLst xmlns:a="http://schemas.openxmlformats.org/drawingml/2006/main">
              <a:ext uri="{FF2B5EF4-FFF2-40B4-BE49-F238E27FC236}">
                <a16:creationId xmlns:a16="http://schemas.microsoft.com/office/drawing/2014/main" id="{BC56D4B3-029E-4D36-A096-27EA8977ED71}"/>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Servlet report export</a:t>
            </a:r>
          </a:p>
        </p:txBody>
      </p:sp>
      <p:sp>
        <p:nvSpPr>
          <p:cNvPr id="3" name="">
            <a:extLst xmlns:a="http://schemas.openxmlformats.org/drawingml/2006/main">
              <a:ext uri="{FF2B5EF4-FFF2-40B4-BE49-F238E27FC236}">
                <a16:creationId xmlns:a16="http://schemas.microsoft.com/office/drawing/2014/main" id="{F2AF8D57-933E-4478-962C-FC52F3AEC969}"/>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6DDDE0B7-4D5F-403F-AF48-E6E93FEC5F74}"/>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03877D2-973C-48D4-96D9-2BF711862CAB}"/>
              </a:ext>
            </a:extLst>
          </p:cNvPr>
          <p:cNvSpPr>
            <a:spLocks xmlns:a="http://schemas.openxmlformats.org/drawingml/2006/main" noGrp="1"/>
          </p:cNvSpPr>
          <p:nvPr/>
        </p:nvSpPr>
        <p:spPr>
          <a:xfrm xmlns:a="http://schemas.openxmlformats.org/drawingml/2006/main">
            <a:off x="609600" y="171450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D583D"/>
                </a:solidFill>
                <a:latin typeface="Arial"/>
                <a:ea typeface="Arial"/>
                <a:cs typeface="Arial"/>
              </a:defRPr>
            </a:defPPr>
          </a:lstStyle>
          <a:p xmlns:a="http://schemas.openxmlformats.org/drawingml/2006/main">
            <a:pPr>
              <a:defRPr sz="2250" b="1">
                <a:solidFill>
                  <a:srgbClr val="AD583D"/>
                </a:solidFill>
                <a:latin typeface="Arial"/>
                <a:ea typeface="Arial"/>
                <a:cs typeface="Arial"/>
              </a:defRPr>
            </a:pPr>
            <a:r>
              <a:rPr sz="2250" b="1">
                <a:solidFill>
                  <a:srgbClr val="AD583D"/>
                </a:solidFill>
                <a:latin typeface="Arial"/>
                <a:ea typeface="Arial"/>
                <a:cs typeface="Arial"/>
              </a:rPr>
              <a:t>GET /reports/attempts/{id}</a:t>
            </a:r>
          </a:p>
        </p:txBody>
      </p:sp>
      <p:sp>
        <p:nvSpPr>
          <p:cNvPr id="6" name="">
            <a:extLst xmlns:a="http://schemas.openxmlformats.org/drawingml/2006/main">
              <a:ext uri="{FF2B5EF4-FFF2-40B4-BE49-F238E27FC236}">
                <a16:creationId xmlns:a16="http://schemas.microsoft.com/office/drawing/2014/main" id="{F2EE7ED1-5E3F-4D62-9CB7-03BE0C757F34}"/>
              </a:ext>
            </a:extLst>
          </p:cNvPr>
          <p:cNvSpPr>
            <a:spLocks xmlns:a="http://schemas.openxmlformats.org/drawingml/2006/main" noGrp="1"/>
          </p:cNvSpPr>
          <p:nvPr/>
        </p:nvSpPr>
        <p:spPr>
          <a:xfrm xmlns:a="http://schemas.openxmlformats.org/drawingml/2006/main">
            <a:off x="609600" y="2714625"/>
            <a:ext cx="39528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F33"/>
                </a:solidFill>
                <a:latin typeface="Arial"/>
                <a:ea typeface="Arial"/>
                <a:cs typeface="Arial"/>
              </a:defRPr>
            </a:defPPr>
          </a:lstStyle>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Read authenticated principal</a:t>
            </a:r>
          </a:p>
          <a:p xmlns:a="http://schemas.openxmlformats.org/drawingml/2006/main">
            <a:r>
              <a:t/>
            </a:r>
          </a:p>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Validate path and ownership</a:t>
            </a:r>
          </a:p>
          <a:p xmlns:a="http://schemas.openxmlformats.org/drawingml/2006/main">
            <a:r>
              <a:t/>
            </a:r>
          </a:p>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Load a submitted result</a:t>
            </a:r>
          </a:p>
          <a:p xmlns:a="http://schemas.openxmlformats.org/drawingml/2006/main">
            <a:r>
              <a:t/>
            </a:r>
          </a:p>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Write a UTF-8 attachment</a:t>
            </a:r>
          </a:p>
        </p:txBody>
      </p:sp>
      <p:pic>
        <p:nvPicPr>
          <p:cNvPr id="7" name="">
            <a:extLst xmlns:a="http://schemas.openxmlformats.org/drawingml/2006/main">
              <a:ext uri="{FF2B5EF4-FFF2-40B4-BE49-F238E27FC236}">
                <a16:creationId xmlns:a16="http://schemas.microsoft.com/office/drawing/2014/main" id="{B3042F9C-A74B-49B0-86A3-91CFA4700CDC}"/>
              </a:ext>
            </a:extLst>
          </p:cNvPr>
          <p:cNvPicPr>
            <a:picLocks xmlns:a="http://schemas.openxmlformats.org/drawingml/2006/main" noChangeAspect="1"/>
          </p:cNvPicPr>
          <p:nvPr/>
        </p:nvPicPr>
        <p:blipFill>
          <a:blip xmlns:r="http://schemas.openxmlformats.org/officeDocument/2006/relationships" xmlns:a="http://schemas.openxmlformats.org/drawingml/2006/main" r:embed="R6e41881ede3940bf"/>
          <a:stretch xmlns:a="http://schemas.openxmlformats.org/drawingml/2006/main"/>
        </p:blipFill>
        <p:spPr>
          <a:xfrm xmlns:a="http://schemas.openxmlformats.org/drawingml/2006/main">
            <a:off x="4861069" y="1619250"/>
            <a:ext cx="6718011" cy="4667250"/>
          </a:xfrm>
          <a:prstGeom xmlns:a="http://schemas.openxmlformats.org/drawingml/2006/main" prst="rect">
            <a:avLst/>
          </a:prstGeom>
        </p:spPr>
      </p:pic>
    </p:spTree>
    <p:extLst>
      <p:ext uri="{BB962C8B-B14F-4D97-AF65-F5344CB8AC3E}">
        <p14:creationId xmlns:p14="http://schemas.microsoft.com/office/powerpoint/2010/main" val="1170944965"/>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BF33EF-33D8-46EF-AA8A-3F949A16D1AF}"/>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AUTHENTICATION &amp; RESPONSIVE UI</a:t>
            </a:r>
          </a:p>
        </p:txBody>
      </p:sp>
      <p:sp>
        <p:nvSpPr>
          <p:cNvPr id="2" name="">
            <a:extLst xmlns:a="http://schemas.openxmlformats.org/drawingml/2006/main">
              <a:ext uri="{FF2B5EF4-FFF2-40B4-BE49-F238E27FC236}">
                <a16:creationId xmlns:a16="http://schemas.microsoft.com/office/drawing/2014/main" id="{DCB1A01F-B26C-4077-BC25-1670D90E1BD8}"/>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Registration before participation</a:t>
            </a:r>
          </a:p>
        </p:txBody>
      </p:sp>
      <p:sp>
        <p:nvSpPr>
          <p:cNvPr id="3" name="">
            <a:extLst xmlns:a="http://schemas.openxmlformats.org/drawingml/2006/main">
              <a:ext uri="{FF2B5EF4-FFF2-40B4-BE49-F238E27FC236}">
                <a16:creationId xmlns:a16="http://schemas.microsoft.com/office/drawing/2014/main" id="{5C1F3D4B-8529-4559-9651-7864271901D5}"/>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80D64C62-3AD2-4C3A-8DDF-76C1D84FA641}"/>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BC83C81A-3729-435D-97FD-FAF39E97ED7F}"/>
              </a:ext>
            </a:extLst>
          </p:cNvPr>
          <p:cNvPicPr>
            <a:picLocks xmlns:a="http://schemas.openxmlformats.org/drawingml/2006/main" noChangeAspect="1"/>
          </p:cNvPicPr>
          <p:nvPr/>
        </p:nvPicPr>
        <p:blipFill>
          <a:blip xmlns:r="http://schemas.openxmlformats.org/officeDocument/2006/relationships" xmlns:a="http://schemas.openxmlformats.org/drawingml/2006/main" r:embed="Ra0ccbf1734554dd8"/>
          <a:stretch xmlns:a="http://schemas.openxmlformats.org/drawingml/2006/main"/>
        </p:blipFill>
        <p:spPr>
          <a:xfrm xmlns:a="http://schemas.openxmlformats.org/drawingml/2006/main">
            <a:off x="1571625" y="1638300"/>
            <a:ext cx="6172200" cy="4286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063D66C-E577-4C4E-849C-6BF3A357D367}"/>
              </a:ext>
            </a:extLst>
          </p:cNvPr>
          <p:cNvPicPr>
            <a:picLocks xmlns:a="http://schemas.openxmlformats.org/drawingml/2006/main" noChangeAspect="1"/>
          </p:cNvPicPr>
          <p:nvPr/>
        </p:nvPicPr>
        <p:blipFill>
          <a:blip xmlns:r="http://schemas.openxmlformats.org/officeDocument/2006/relationships" xmlns:a="http://schemas.openxmlformats.org/drawingml/2006/main" r:embed="Re2d738a83e5b41a6"/>
          <a:stretch xmlns:a="http://schemas.openxmlformats.org/drawingml/2006/main"/>
        </p:blipFill>
        <p:spPr>
          <a:xfrm xmlns:a="http://schemas.openxmlformats.org/drawingml/2006/main">
            <a:off x="9754819" y="1638300"/>
            <a:ext cx="1216763"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112D853-B39B-42BB-8CE0-E1516893A8BA}"/>
              </a:ext>
            </a:extLst>
          </p:cNvPr>
          <p:cNvSpPr>
            <a:spLocks xmlns:a="http://schemas.openxmlformats.org/drawingml/2006/main" noGrp="1"/>
          </p:cNvSpPr>
          <p:nvPr/>
        </p:nvSpPr>
        <p:spPr>
          <a:xfrm xmlns:a="http://schemas.openxmlformats.org/drawingml/2006/main">
            <a:off x="609600" y="59817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583D"/>
                </a:solidFill>
                <a:latin typeface="Arial"/>
                <a:ea typeface="Arial"/>
                <a:cs typeface="Arial"/>
              </a:defRPr>
            </a:defPPr>
          </a:lstStyle>
          <a:p xmlns:a="http://schemas.openxmlformats.org/drawingml/2006/main">
            <a:pPr>
              <a:defRPr sz="1950" b="1">
                <a:solidFill>
                  <a:srgbClr val="AD583D"/>
                </a:solidFill>
                <a:latin typeface="Arial"/>
                <a:ea typeface="Arial"/>
                <a:cs typeface="Arial"/>
              </a:defRPr>
            </a:pPr>
            <a:r>
              <a:rPr sz="1950" b="1">
                <a:solidFill>
                  <a:srgbClr val="AD583D"/>
                </a:solidFill>
                <a:latin typeface="Arial"/>
                <a:ea typeface="Arial"/>
                <a:cs typeface="Arial"/>
              </a:rPr>
              <a:t>Participant signup → sign in → own workspace</a:t>
            </a:r>
          </a:p>
        </p:txBody>
      </p:sp>
    </p:spTree>
    <p:extLst>
      <p:ext uri="{BB962C8B-B14F-4D97-AF65-F5344CB8AC3E}">
        <p14:creationId xmlns:p14="http://schemas.microsoft.com/office/powerpoint/2010/main" val="148508790"/>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53D4C1-D427-4023-B83D-4C749B795ECE}"/>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RESPONSIVE INTERFACE</a:t>
            </a:r>
          </a:p>
        </p:txBody>
      </p:sp>
      <p:sp>
        <p:nvSpPr>
          <p:cNvPr id="2" name="">
            <a:extLst xmlns:a="http://schemas.openxmlformats.org/drawingml/2006/main">
              <a:ext uri="{FF2B5EF4-FFF2-40B4-BE49-F238E27FC236}">
                <a16:creationId xmlns:a16="http://schemas.microsoft.com/office/drawing/2014/main" id="{2FCCB202-5370-4F0E-A74D-763C8E8BCE89}"/>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Participant workspace</a:t>
            </a:r>
          </a:p>
        </p:txBody>
      </p:sp>
      <p:sp>
        <p:nvSpPr>
          <p:cNvPr id="3" name="">
            <a:extLst xmlns:a="http://schemas.openxmlformats.org/drawingml/2006/main">
              <a:ext uri="{FF2B5EF4-FFF2-40B4-BE49-F238E27FC236}">
                <a16:creationId xmlns:a16="http://schemas.microsoft.com/office/drawing/2014/main" id="{49DA53A5-3E28-41F6-818A-31377AC252C0}"/>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6593A6DF-FD07-459B-BC1B-440BBEA253E5}"/>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BAB372DA-C7BF-42B9-B203-579548395987}"/>
              </a:ext>
            </a:extLst>
          </p:cNvPr>
          <p:cNvPicPr>
            <a:picLocks xmlns:a="http://schemas.openxmlformats.org/drawingml/2006/main" noChangeAspect="1"/>
          </p:cNvPicPr>
          <p:nvPr/>
        </p:nvPicPr>
        <p:blipFill>
          <a:blip xmlns:r="http://schemas.openxmlformats.org/officeDocument/2006/relationships" xmlns:a="http://schemas.openxmlformats.org/drawingml/2006/main" r:embed="R9a4d604e6c054ddf"/>
          <a:stretch xmlns:a="http://schemas.openxmlformats.org/drawingml/2006/main"/>
        </p:blipFill>
        <p:spPr>
          <a:xfrm xmlns:a="http://schemas.openxmlformats.org/drawingml/2006/main">
            <a:off x="1572924" y="1638300"/>
            <a:ext cx="6169602" cy="4286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C3FDA54-2ECC-419A-B6CA-8FBCF971A230}"/>
              </a:ext>
            </a:extLst>
          </p:cNvPr>
          <p:cNvPicPr>
            <a:picLocks xmlns:a="http://schemas.openxmlformats.org/drawingml/2006/main" noChangeAspect="1"/>
          </p:cNvPicPr>
          <p:nvPr/>
        </p:nvPicPr>
        <p:blipFill>
          <a:blip xmlns:r="http://schemas.openxmlformats.org/officeDocument/2006/relationships" xmlns:a="http://schemas.openxmlformats.org/drawingml/2006/main" r:embed="R5c66a171a68d463a"/>
          <a:stretch xmlns:a="http://schemas.openxmlformats.org/drawingml/2006/main"/>
        </p:blipFill>
        <p:spPr>
          <a:xfrm xmlns:a="http://schemas.openxmlformats.org/drawingml/2006/main">
            <a:off x="9367473" y="1638300"/>
            <a:ext cx="1981928"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5E32786-AC06-445C-AC2A-F3ACC575EA08}"/>
              </a:ext>
            </a:extLst>
          </p:cNvPr>
          <p:cNvSpPr>
            <a:spLocks xmlns:a="http://schemas.openxmlformats.org/drawingml/2006/main" noGrp="1"/>
          </p:cNvSpPr>
          <p:nvPr/>
        </p:nvSpPr>
        <p:spPr>
          <a:xfrm xmlns:a="http://schemas.openxmlformats.org/drawingml/2006/main">
            <a:off x="609600" y="59817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D583D"/>
                </a:solidFill>
                <a:latin typeface="Arial"/>
                <a:ea typeface="Arial"/>
                <a:cs typeface="Arial"/>
              </a:defRPr>
            </a:defPPr>
          </a:lstStyle>
          <a:p xmlns:a="http://schemas.openxmlformats.org/drawingml/2006/main">
            <a:pPr>
              <a:defRPr sz="1950" b="1">
                <a:solidFill>
                  <a:srgbClr val="AD583D"/>
                </a:solidFill>
                <a:latin typeface="Arial"/>
                <a:ea typeface="Arial"/>
                <a:cs typeface="Arial"/>
              </a:defRPr>
            </a:pPr>
            <a:r>
              <a:rPr sz="1950" b="1">
                <a:solidFill>
                  <a:srgbClr val="AD583D"/>
                </a:solidFill>
                <a:latin typeface="Arial"/>
                <a:ea typeface="Arial"/>
                <a:cs typeface="Arial"/>
              </a:rPr>
              <a:t>Approved quizzes, recent attempts and personal standing</a:t>
            </a:r>
          </a:p>
        </p:txBody>
      </p:sp>
    </p:spTree>
    <p:extLst>
      <p:ext uri="{BB962C8B-B14F-4D97-AF65-F5344CB8AC3E}">
        <p14:creationId xmlns:p14="http://schemas.microsoft.com/office/powerpoint/2010/main" val="417577643"/>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008365-33E5-4DC0-8679-AF4F0755B16D}"/>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QUIZ CREATOR</a:t>
            </a:r>
          </a:p>
        </p:txBody>
      </p:sp>
      <p:sp>
        <p:nvSpPr>
          <p:cNvPr id="2" name="">
            <a:extLst xmlns:a="http://schemas.openxmlformats.org/drawingml/2006/main">
              <a:ext uri="{FF2B5EF4-FFF2-40B4-BE49-F238E27FC236}">
                <a16:creationId xmlns:a16="http://schemas.microsoft.com/office/drawing/2014/main" id="{BAD85004-1668-4473-85AC-E836D969429D}"/>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Creator content and publication workflow</a:t>
            </a:r>
          </a:p>
        </p:txBody>
      </p:sp>
      <p:sp>
        <p:nvSpPr>
          <p:cNvPr id="3" name="">
            <a:extLst xmlns:a="http://schemas.openxmlformats.org/drawingml/2006/main">
              <a:ext uri="{FF2B5EF4-FFF2-40B4-BE49-F238E27FC236}">
                <a16:creationId xmlns:a16="http://schemas.microsoft.com/office/drawing/2014/main" id="{90D76DA7-35F0-4FD0-AB87-F41FE7009C0F}"/>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D36900B8-543D-43AA-A46A-BC66F363F132}"/>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B3C9A0AB-FC2F-4BE3-814E-03C611463461}"/>
              </a:ext>
            </a:extLst>
          </p:cNvPr>
          <p:cNvPicPr>
            <a:picLocks xmlns:a="http://schemas.openxmlformats.org/drawingml/2006/main" noChangeAspect="1"/>
          </p:cNvPicPr>
          <p:nvPr/>
        </p:nvPicPr>
        <p:blipFill>
          <a:blip xmlns:r="http://schemas.openxmlformats.org/officeDocument/2006/relationships" xmlns:a="http://schemas.openxmlformats.org/drawingml/2006/main" r:embed="Refd5732d24f740c8"/>
          <a:stretch xmlns:a="http://schemas.openxmlformats.org/drawingml/2006/main"/>
        </p:blipFill>
        <p:spPr>
          <a:xfrm xmlns:a="http://schemas.openxmlformats.org/drawingml/2006/main">
            <a:off x="4601337" y="1638300"/>
            <a:ext cx="6665976" cy="4629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485680-15E8-49C8-9B5B-AFE1CA70B092}"/>
              </a:ext>
            </a:extLst>
          </p:cNvPr>
          <p:cNvSpPr>
            <a:spLocks xmlns:a="http://schemas.openxmlformats.org/drawingml/2006/main" noGrp="1"/>
          </p:cNvSpPr>
          <p:nvPr/>
        </p:nvSpPr>
        <p:spPr>
          <a:xfrm xmlns:a="http://schemas.openxmlformats.org/drawingml/2006/main">
            <a:off x="609600" y="1809750"/>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AD583D"/>
                </a:solidFill>
                <a:latin typeface="Georgia"/>
                <a:ea typeface="Georgia"/>
                <a:cs typeface="Georgia"/>
              </a:defRPr>
            </a:defPPr>
          </a:lstStyle>
          <a:p xmlns:a="http://schemas.openxmlformats.org/drawingml/2006/main">
            <a:pPr>
              <a:defRPr sz="2325" b="0">
                <a:solidFill>
                  <a:srgbClr val="AD583D"/>
                </a:solidFill>
                <a:latin typeface="Georgia"/>
                <a:ea typeface="Georgia"/>
                <a:cs typeface="Georgia"/>
              </a:defRPr>
            </a:pPr>
            <a:r>
              <a:rPr sz="2325" b="0">
                <a:solidFill>
                  <a:srgbClr val="AD583D"/>
                </a:solidFill>
                <a:latin typeface="Georgia"/>
                <a:ea typeface="Georgia"/>
                <a:cs typeface="Georgia"/>
              </a:rPr>
              <a:t>Draft</a:t>
            </a:r>
          </a:p>
          <a:p xmlns:a="http://schemas.openxmlformats.org/drawingml/2006/main">
            <a:pPr>
              <a:defRPr sz="2325" b="0">
                <a:solidFill>
                  <a:srgbClr val="AD583D"/>
                </a:solidFill>
                <a:latin typeface="Georgia"/>
                <a:ea typeface="Georgia"/>
                <a:cs typeface="Georgia"/>
              </a:defRPr>
            </a:pPr>
            <a:r>
              <a:rPr sz="2325" b="0">
                <a:solidFill>
                  <a:srgbClr val="AD583D"/>
                </a:solidFill>
                <a:latin typeface="Georgia"/>
                <a:ea typeface="Georgia"/>
                <a:cs typeface="Georgia"/>
              </a:rPr>
              <a:t>↓</a:t>
            </a:r>
          </a:p>
          <a:p xmlns:a="http://schemas.openxmlformats.org/drawingml/2006/main">
            <a:pPr>
              <a:defRPr sz="2325" b="0">
                <a:solidFill>
                  <a:srgbClr val="AD583D"/>
                </a:solidFill>
                <a:latin typeface="Georgia"/>
                <a:ea typeface="Georgia"/>
                <a:cs typeface="Georgia"/>
              </a:defRPr>
            </a:pPr>
            <a:r>
              <a:rPr sz="2325" b="0">
                <a:solidFill>
                  <a:srgbClr val="AD583D"/>
                </a:solidFill>
                <a:latin typeface="Georgia"/>
                <a:ea typeface="Georgia"/>
                <a:cs typeface="Georgia"/>
              </a:rPr>
              <a:t>Pending review</a:t>
            </a:r>
          </a:p>
          <a:p xmlns:a="http://schemas.openxmlformats.org/drawingml/2006/main">
            <a:pPr>
              <a:defRPr sz="2325" b="0">
                <a:solidFill>
                  <a:srgbClr val="AD583D"/>
                </a:solidFill>
                <a:latin typeface="Georgia"/>
                <a:ea typeface="Georgia"/>
                <a:cs typeface="Georgia"/>
              </a:defRPr>
            </a:pPr>
            <a:r>
              <a:rPr sz="2325" b="0">
                <a:solidFill>
                  <a:srgbClr val="AD583D"/>
                </a:solidFill>
                <a:latin typeface="Georgia"/>
                <a:ea typeface="Georgia"/>
                <a:cs typeface="Georgia"/>
              </a:rPr>
              <a:t>↓</a:t>
            </a:r>
          </a:p>
          <a:p xmlns:a="http://schemas.openxmlformats.org/drawingml/2006/main">
            <a:pPr>
              <a:defRPr sz="2325" b="0">
                <a:solidFill>
                  <a:srgbClr val="AD583D"/>
                </a:solidFill>
                <a:latin typeface="Georgia"/>
                <a:ea typeface="Georgia"/>
                <a:cs typeface="Georgia"/>
              </a:defRPr>
            </a:pPr>
            <a:r>
              <a:rPr sz="2325" b="0">
                <a:solidFill>
                  <a:srgbClr val="AD583D"/>
                </a:solidFill>
                <a:latin typeface="Georgia"/>
                <a:ea typeface="Georgia"/>
                <a:cs typeface="Georgia"/>
              </a:rPr>
              <a:t>Approved / rejected</a:t>
            </a:r>
          </a:p>
        </p:txBody>
      </p:sp>
      <p:sp>
        <p:nvSpPr>
          <p:cNvPr id="7" name="">
            <a:extLst xmlns:a="http://schemas.openxmlformats.org/drawingml/2006/main">
              <a:ext uri="{FF2B5EF4-FFF2-40B4-BE49-F238E27FC236}">
                <a16:creationId xmlns:a16="http://schemas.microsoft.com/office/drawing/2014/main" id="{27770F52-95BD-4BF4-98C4-DA9E22ACA7B8}"/>
              </a:ext>
            </a:extLst>
          </p:cNvPr>
          <p:cNvSpPr>
            <a:spLocks xmlns:a="http://schemas.openxmlformats.org/drawingml/2006/main" noGrp="1"/>
          </p:cNvSpPr>
          <p:nvPr/>
        </p:nvSpPr>
        <p:spPr>
          <a:xfrm xmlns:a="http://schemas.openxmlformats.org/drawingml/2006/main">
            <a:off x="609600" y="4476750"/>
            <a:ext cx="328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F33"/>
                </a:solidFill>
                <a:latin typeface="Arial"/>
                <a:ea typeface="Arial"/>
                <a:cs typeface="Arial"/>
              </a:defRPr>
            </a:defPPr>
          </a:lstStyle>
          <a:p xmlns:a="http://schemas.openxmlformats.org/drawingml/2006/main">
            <a:pPr>
              <a:defRPr sz="1875" b="0">
                <a:solidFill>
                  <a:srgbClr val="253F33"/>
                </a:solidFill>
                <a:latin typeface="Arial"/>
                <a:ea typeface="Arial"/>
                <a:cs typeface="Arial"/>
              </a:defRPr>
            </a:pPr>
            <a:r>
              <a:rPr sz="1875" b="0">
                <a:solidFill>
                  <a:srgbClr val="253F33"/>
                </a:solidFill>
                <a:latin typeface="Arial"/>
                <a:ea typeface="Arial"/>
                <a:cs typeface="Arial"/>
              </a:rPr>
              <a:t>Questions include four choices, an answer key and an explanation.</a:t>
            </a:r>
          </a:p>
        </p:txBody>
      </p:sp>
    </p:spTree>
    <p:extLst>
      <p:ext uri="{BB962C8B-B14F-4D97-AF65-F5344CB8AC3E}">
        <p14:creationId xmlns:p14="http://schemas.microsoft.com/office/powerpoint/2010/main" val="402189327"/>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33E233-AAC8-44F8-B40D-90F242D5C2DC}"/>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USER MANAGEMENT &amp; MODERATION</a:t>
            </a:r>
          </a:p>
        </p:txBody>
      </p:sp>
      <p:sp>
        <p:nvSpPr>
          <p:cNvPr id="2" name="">
            <a:extLst xmlns:a="http://schemas.openxmlformats.org/drawingml/2006/main">
              <a:ext uri="{FF2B5EF4-FFF2-40B4-BE49-F238E27FC236}">
                <a16:creationId xmlns:a16="http://schemas.microsoft.com/office/drawing/2014/main" id="{7036EFD0-B10D-4653-8375-AB8EC25BF9F0}"/>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Admin controls</a:t>
            </a:r>
          </a:p>
        </p:txBody>
      </p:sp>
      <p:sp>
        <p:nvSpPr>
          <p:cNvPr id="3" name="">
            <a:extLst xmlns:a="http://schemas.openxmlformats.org/drawingml/2006/main">
              <a:ext uri="{FF2B5EF4-FFF2-40B4-BE49-F238E27FC236}">
                <a16:creationId xmlns:a16="http://schemas.microsoft.com/office/drawing/2014/main" id="{C15DDC6F-7CD3-401A-AA35-BD6165F41DB0}"/>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33CDA81D-4ABC-4BE0-8A60-63C266AB769C}"/>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8BD1A0C4-B1DD-456D-BD1C-C6C42C3E406F}"/>
              </a:ext>
            </a:extLst>
          </p:cNvPr>
          <p:cNvPicPr>
            <a:picLocks xmlns:a="http://schemas.openxmlformats.org/drawingml/2006/main" noChangeAspect="1"/>
          </p:cNvPicPr>
          <p:nvPr/>
        </p:nvPicPr>
        <p:blipFill>
          <a:blip xmlns:r="http://schemas.openxmlformats.org/officeDocument/2006/relationships" xmlns:a="http://schemas.openxmlformats.org/drawingml/2006/main" r:embed="R82aa1fb7572542bd"/>
          <a:stretch xmlns:a="http://schemas.openxmlformats.org/drawingml/2006/main"/>
        </p:blipFill>
        <p:spPr>
          <a:xfrm xmlns:a="http://schemas.openxmlformats.org/drawingml/2006/main">
            <a:off x="4601337" y="1638300"/>
            <a:ext cx="6665976" cy="4629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BF661E-68F9-4D09-8E1B-0F3656D5F06B}"/>
              </a:ext>
            </a:extLst>
          </p:cNvPr>
          <p:cNvSpPr>
            <a:spLocks xmlns:a="http://schemas.openxmlformats.org/drawingml/2006/main" noGrp="1"/>
          </p:cNvSpPr>
          <p:nvPr/>
        </p:nvSpPr>
        <p:spPr>
          <a:xfrm xmlns:a="http://schemas.openxmlformats.org/drawingml/2006/main">
            <a:off x="609600" y="19050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Accounts and roles</a:t>
            </a:r>
          </a:p>
        </p:txBody>
      </p:sp>
      <p:sp>
        <p:nvSpPr>
          <p:cNvPr id="7" name="">
            <a:extLst xmlns:a="http://schemas.openxmlformats.org/drawingml/2006/main">
              <a:ext uri="{FF2B5EF4-FFF2-40B4-BE49-F238E27FC236}">
                <a16:creationId xmlns:a16="http://schemas.microsoft.com/office/drawing/2014/main" id="{C958347F-8889-4A79-8979-9D72F538BD6D}"/>
              </a:ext>
            </a:extLst>
          </p:cNvPr>
          <p:cNvSpPr>
            <a:spLocks xmlns:a="http://schemas.openxmlformats.org/drawingml/2006/main" noGrp="1"/>
          </p:cNvSpPr>
          <p:nvPr/>
        </p:nvSpPr>
        <p:spPr>
          <a:xfrm xmlns:a="http://schemas.openxmlformats.org/drawingml/2006/main">
            <a:off x="609600" y="2286000"/>
            <a:ext cx="3286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Create users, assign creators and deactivate access.</a:t>
            </a:r>
          </a:p>
        </p:txBody>
      </p:sp>
      <p:sp>
        <p:nvSpPr>
          <p:cNvPr id="8" name="">
            <a:extLst xmlns:a="http://schemas.openxmlformats.org/drawingml/2006/main">
              <a:ext uri="{FF2B5EF4-FFF2-40B4-BE49-F238E27FC236}">
                <a16:creationId xmlns:a16="http://schemas.microsoft.com/office/drawing/2014/main" id="{1FF4F931-5EF0-4B98-BE82-DA0EC08B8D5B}"/>
              </a:ext>
            </a:extLst>
          </p:cNvPr>
          <p:cNvSpPr>
            <a:spLocks xmlns:a="http://schemas.openxmlformats.org/drawingml/2006/main" noGrp="1"/>
          </p:cNvSpPr>
          <p:nvPr/>
        </p:nvSpPr>
        <p:spPr>
          <a:xfrm xmlns:a="http://schemas.openxmlformats.org/drawingml/2006/main">
            <a:off x="609600" y="39052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Content and settings</a:t>
            </a:r>
          </a:p>
        </p:txBody>
      </p:sp>
      <p:sp>
        <p:nvSpPr>
          <p:cNvPr id="9" name="">
            <a:extLst xmlns:a="http://schemas.openxmlformats.org/drawingml/2006/main">
              <a:ext uri="{FF2B5EF4-FFF2-40B4-BE49-F238E27FC236}">
                <a16:creationId xmlns:a16="http://schemas.microsoft.com/office/drawing/2014/main" id="{2AD69EA6-B1BC-4ED0-AF55-41D402A68951}"/>
              </a:ext>
            </a:extLst>
          </p:cNvPr>
          <p:cNvSpPr>
            <a:spLocks xmlns:a="http://schemas.openxmlformats.org/drawingml/2006/main" noGrp="1"/>
          </p:cNvSpPr>
          <p:nvPr/>
        </p:nvSpPr>
        <p:spPr>
          <a:xfrm xmlns:a="http://schemas.openxmlformats.org/drawingml/2006/main">
            <a:off x="609600" y="4286250"/>
            <a:ext cx="3286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Approve or return quizzes; manage pass and attempt settings.</a:t>
            </a:r>
          </a:p>
        </p:txBody>
      </p:sp>
    </p:spTree>
    <p:extLst>
      <p:ext uri="{BB962C8B-B14F-4D97-AF65-F5344CB8AC3E}">
        <p14:creationId xmlns:p14="http://schemas.microsoft.com/office/powerpoint/2010/main" val="1928287995"/>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775853-97CB-4B6E-9D8D-61EBBCC00AC2}"/>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REPORTS &amp; FEEDBACK</a:t>
            </a:r>
          </a:p>
        </p:txBody>
      </p:sp>
      <p:sp>
        <p:nvSpPr>
          <p:cNvPr id="2" name="">
            <a:extLst xmlns:a="http://schemas.openxmlformats.org/drawingml/2006/main">
              <a:ext uri="{FF2B5EF4-FFF2-40B4-BE49-F238E27FC236}">
                <a16:creationId xmlns:a16="http://schemas.microsoft.com/office/drawing/2014/main" id="{8A0820C5-90AF-419F-8BA9-A2AD6BFD626F}"/>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Performance across attempts</a:t>
            </a:r>
          </a:p>
        </p:txBody>
      </p:sp>
      <p:sp>
        <p:nvSpPr>
          <p:cNvPr id="3" name="">
            <a:extLst xmlns:a="http://schemas.openxmlformats.org/drawingml/2006/main">
              <a:ext uri="{FF2B5EF4-FFF2-40B4-BE49-F238E27FC236}">
                <a16:creationId xmlns:a16="http://schemas.microsoft.com/office/drawing/2014/main" id="{7526C55D-C75C-4628-98F6-BCC8E4FBC440}"/>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0BC74D24-B8FC-40DD-91D5-35B441FEDEA2}"/>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2E3FD07A-4649-42A2-BA34-CE40D3FDC6BC}"/>
              </a:ext>
            </a:extLst>
          </p:cNvPr>
          <p:cNvPicPr>
            <a:picLocks xmlns:a="http://schemas.openxmlformats.org/drawingml/2006/main" noChangeAspect="1"/>
          </p:cNvPicPr>
          <p:nvPr/>
        </p:nvPicPr>
        <p:blipFill>
          <a:blip xmlns:r="http://schemas.openxmlformats.org/officeDocument/2006/relationships" xmlns:a="http://schemas.openxmlformats.org/drawingml/2006/main" r:embed="R5441e4d06826401b"/>
          <a:stretch xmlns:a="http://schemas.openxmlformats.org/drawingml/2006/main"/>
        </p:blipFill>
        <p:spPr>
          <a:xfrm xmlns:a="http://schemas.openxmlformats.org/drawingml/2006/main">
            <a:off x="4575319" y="1619250"/>
            <a:ext cx="6718011"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F6AB562-8CEF-4466-86E0-77F3DE949322}"/>
              </a:ext>
            </a:extLst>
          </p:cNvPr>
          <p:cNvSpPr>
            <a:spLocks xmlns:a="http://schemas.openxmlformats.org/drawingml/2006/main" noGrp="1"/>
          </p:cNvSpPr>
          <p:nvPr/>
        </p:nvSpPr>
        <p:spPr>
          <a:xfrm xmlns:a="http://schemas.openxmlformats.org/drawingml/2006/main">
            <a:off x="609600" y="1790700"/>
            <a:ext cx="33337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53F33"/>
                </a:solidFill>
                <a:latin typeface="Arial"/>
                <a:ea typeface="Arial"/>
                <a:cs typeface="Arial"/>
              </a:defRPr>
            </a:defPPr>
          </a:lstStyle>
          <a:p xmlns:a="http://schemas.openxmlformats.org/drawingml/2006/main">
            <a:pPr>
              <a:defRPr sz="2100" b="0">
                <a:solidFill>
                  <a:srgbClr val="253F33"/>
                </a:solidFill>
                <a:latin typeface="Arial"/>
                <a:ea typeface="Arial"/>
                <a:cs typeface="Arial"/>
              </a:defRPr>
            </a:pPr>
            <a:r>
              <a:rPr sz="2100" b="0">
                <a:solidFill>
                  <a:srgbClr val="253F33"/>
                </a:solidFill>
                <a:latin typeface="Arial"/>
                <a:ea typeface="Arial"/>
                <a:cs typeface="Arial"/>
              </a:rPr>
              <a:t>Scores over time</a:t>
            </a:r>
          </a:p>
          <a:p xmlns:a="http://schemas.openxmlformats.org/drawingml/2006/main">
            <a:r>
              <a:t/>
            </a:r>
          </a:p>
          <a:p xmlns:a="http://schemas.openxmlformats.org/drawingml/2006/main">
            <a:pPr>
              <a:defRPr sz="2100" b="0">
                <a:solidFill>
                  <a:srgbClr val="253F33"/>
                </a:solidFill>
                <a:latin typeface="Arial"/>
                <a:ea typeface="Arial"/>
                <a:cs typeface="Arial"/>
              </a:defRPr>
            </a:pPr>
            <a:r>
              <a:rPr sz="2100" b="0">
                <a:solidFill>
                  <a:srgbClr val="253F33"/>
                </a:solidFill>
                <a:latin typeface="Arial"/>
                <a:ea typeface="Arial"/>
                <a:cs typeface="Arial"/>
              </a:rPr>
              <a:t>Topic averages</a:t>
            </a:r>
          </a:p>
          <a:p xmlns:a="http://schemas.openxmlformats.org/drawingml/2006/main">
            <a:r>
              <a:t/>
            </a:r>
          </a:p>
          <a:p xmlns:a="http://schemas.openxmlformats.org/drawingml/2006/main">
            <a:pPr>
              <a:defRPr sz="2100" b="0">
                <a:solidFill>
                  <a:srgbClr val="253F33"/>
                </a:solidFill>
                <a:latin typeface="Arial"/>
                <a:ea typeface="Arial"/>
                <a:cs typeface="Arial"/>
              </a:defRPr>
            </a:pPr>
            <a:r>
              <a:rPr sz="2100" b="0">
                <a:solidFill>
                  <a:srgbClr val="253F33"/>
                </a:solidFill>
                <a:latin typeface="Arial"/>
                <a:ea typeface="Arial"/>
                <a:cs typeface="Arial"/>
              </a:rPr>
              <a:t>Pass rate</a:t>
            </a:r>
          </a:p>
          <a:p xmlns:a="http://schemas.openxmlformats.org/drawingml/2006/main">
            <a:r>
              <a:t/>
            </a:r>
          </a:p>
          <a:p xmlns:a="http://schemas.openxmlformats.org/drawingml/2006/main">
            <a:pPr>
              <a:defRPr sz="2100" b="0">
                <a:solidFill>
                  <a:srgbClr val="253F33"/>
                </a:solidFill>
                <a:latin typeface="Arial"/>
                <a:ea typeface="Arial"/>
                <a:cs typeface="Arial"/>
              </a:defRPr>
            </a:pPr>
            <a:r>
              <a:rPr sz="2100" b="0">
                <a:solidFill>
                  <a:srgbClr val="253F33"/>
                </a:solidFill>
                <a:latin typeface="Arial"/>
                <a:ea typeface="Arial"/>
                <a:cs typeface="Arial"/>
              </a:rPr>
              <a:t>Answer explanations</a:t>
            </a:r>
          </a:p>
          <a:p xmlns:a="http://schemas.openxmlformats.org/drawingml/2006/main">
            <a:r>
              <a:t/>
            </a:r>
          </a:p>
          <a:p xmlns:a="http://schemas.openxmlformats.org/drawingml/2006/main">
            <a:pPr>
              <a:defRPr sz="2100" b="0">
                <a:solidFill>
                  <a:srgbClr val="253F33"/>
                </a:solidFill>
                <a:latin typeface="Arial"/>
                <a:ea typeface="Arial"/>
                <a:cs typeface="Arial"/>
              </a:defRPr>
            </a:pPr>
            <a:r>
              <a:rPr sz="2100" b="0">
                <a:solidFill>
                  <a:srgbClr val="253F33"/>
                </a:solidFill>
                <a:latin typeface="Arial"/>
                <a:ea typeface="Arial"/>
                <a:cs typeface="Arial"/>
              </a:rPr>
              <a:t>Creator review feedback</a:t>
            </a:r>
          </a:p>
        </p:txBody>
      </p:sp>
    </p:spTree>
    <p:extLst>
      <p:ext uri="{BB962C8B-B14F-4D97-AF65-F5344CB8AC3E}">
        <p14:creationId xmlns:p14="http://schemas.microsoft.com/office/powerpoint/2010/main" val="1444049765"/>
      </p:ext>
    </p:extLst>
  </p:cSld>
</p:sld>
</file>

<file path=ppt/slides/slide1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F03A49-C633-41A1-B583-1AB75E2F4A4B}"/>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TEST EVIDENCE</a:t>
            </a:r>
          </a:p>
        </p:txBody>
      </p:sp>
      <p:sp>
        <p:nvSpPr>
          <p:cNvPr id="2" name="">
            <a:extLst xmlns:a="http://schemas.openxmlformats.org/drawingml/2006/main">
              <a:ext uri="{FF2B5EF4-FFF2-40B4-BE49-F238E27FC236}">
                <a16:creationId xmlns:a16="http://schemas.microsoft.com/office/drawing/2014/main" id="{0432EE22-0C45-48E3-AB9D-2FE8B2E45AA6}"/>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Timing, concurrency and verification</a:t>
            </a:r>
          </a:p>
        </p:txBody>
      </p:sp>
      <p:sp>
        <p:nvSpPr>
          <p:cNvPr id="3" name="">
            <a:extLst xmlns:a="http://schemas.openxmlformats.org/drawingml/2006/main">
              <a:ext uri="{FF2B5EF4-FFF2-40B4-BE49-F238E27FC236}">
                <a16:creationId xmlns:a16="http://schemas.microsoft.com/office/drawing/2014/main" id="{787F7393-8CED-48DF-82E9-142C23844AD1}"/>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6A3F5DCF-CB79-41F0-A4B7-25BDA395D37A}"/>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19EDCD0-FED0-4B38-9E9A-A4DC74657D29}"/>
              </a:ext>
            </a:extLst>
          </p:cNvPr>
          <p:cNvSpPr>
            <a:spLocks xmlns:a="http://schemas.openxmlformats.org/drawingml/2006/main" noGrp="1"/>
          </p:cNvSpPr>
          <p:nvPr/>
        </p:nvSpPr>
        <p:spPr>
          <a:xfrm xmlns:a="http://schemas.openxmlformats.org/drawingml/2006/main">
            <a:off x="609600" y="1714500"/>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AD583D"/>
                </a:solidFill>
                <a:latin typeface="Georgia"/>
                <a:ea typeface="Georgia"/>
                <a:cs typeface="Georgia"/>
              </a:defRPr>
            </a:defPPr>
          </a:lstStyle>
          <a:p xmlns:a="http://schemas.openxmlformats.org/drawingml/2006/main">
            <a:pPr>
              <a:defRPr sz="4800" b="0">
                <a:solidFill>
                  <a:srgbClr val="AD583D"/>
                </a:solidFill>
                <a:latin typeface="Georgia"/>
                <a:ea typeface="Georgia"/>
                <a:cs typeface="Georgia"/>
              </a:defRPr>
            </a:pPr>
            <a:r>
              <a:rPr sz="4800" b="0">
                <a:solidFill>
                  <a:srgbClr val="AD583D"/>
                </a:solidFill>
                <a:latin typeface="Georgia"/>
                <a:ea typeface="Georgia"/>
                <a:cs typeface="Georgia"/>
              </a:rPr>
              <a:t>21 tests passed</a:t>
            </a:r>
          </a:p>
        </p:txBody>
      </p:sp>
      <p:sp>
        <p:nvSpPr>
          <p:cNvPr id="6" name="">
            <a:extLst xmlns:a="http://schemas.openxmlformats.org/drawingml/2006/main">
              <a:ext uri="{FF2B5EF4-FFF2-40B4-BE49-F238E27FC236}">
                <a16:creationId xmlns:a16="http://schemas.microsoft.com/office/drawing/2014/main" id="{8D0488E6-A674-4268-B1B8-01489369D47C}"/>
              </a:ext>
            </a:extLst>
          </p:cNvPr>
          <p:cNvSpPr>
            <a:spLocks xmlns:a="http://schemas.openxmlformats.org/drawingml/2006/main" noGrp="1"/>
          </p:cNvSpPr>
          <p:nvPr/>
        </p:nvSpPr>
        <p:spPr>
          <a:xfrm xmlns:a="http://schemas.openxmlformats.org/drawingml/2006/main">
            <a:off x="609600" y="2762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53F33"/>
                </a:solidFill>
                <a:latin typeface="Arial"/>
                <a:ea typeface="Arial"/>
                <a:cs typeface="Arial"/>
              </a:defRPr>
            </a:defPPr>
          </a:lstStyle>
          <a:p xmlns:a="http://schemas.openxmlformats.org/drawingml/2006/main">
            <a:pPr>
              <a:defRPr sz="2250" b="0">
                <a:solidFill>
                  <a:srgbClr val="253F33"/>
                </a:solidFill>
                <a:latin typeface="Arial"/>
                <a:ea typeface="Arial"/>
                <a:cs typeface="Arial"/>
              </a:defRPr>
            </a:pPr>
            <a:r>
              <a:rPr sz="2250" b="0">
                <a:solidFill>
                  <a:srgbClr val="253F33"/>
                </a:solidFill>
                <a:latin typeface="Arial"/>
                <a:ea typeface="Arial"/>
                <a:cs typeface="Arial"/>
              </a:rPr>
              <a:t>H2 suite and PostgreSQL CI both passed.</a:t>
            </a:r>
          </a:p>
        </p:txBody>
      </p:sp>
      <p:sp>
        <p:nvSpPr>
          <p:cNvPr id="7" name="">
            <a:extLst xmlns:a="http://schemas.openxmlformats.org/drawingml/2006/main">
              <a:ext uri="{FF2B5EF4-FFF2-40B4-BE49-F238E27FC236}">
                <a16:creationId xmlns:a16="http://schemas.microsoft.com/office/drawing/2014/main" id="{4C35A903-4901-4E00-95FB-9D370A37B864}"/>
              </a:ext>
            </a:extLst>
          </p:cNvPr>
          <p:cNvSpPr>
            <a:spLocks xmlns:a="http://schemas.openxmlformats.org/drawingml/2006/main" noGrp="1"/>
          </p:cNvSpPr>
          <p:nvPr/>
        </p:nvSpPr>
        <p:spPr>
          <a:xfrm xmlns:a="http://schemas.openxmlformats.org/drawingml/2006/main">
            <a:off x="609600" y="3638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Server owns the deadline</a:t>
            </a:r>
          </a:p>
        </p:txBody>
      </p:sp>
      <p:sp>
        <p:nvSpPr>
          <p:cNvPr id="8" name="">
            <a:extLst xmlns:a="http://schemas.openxmlformats.org/drawingml/2006/main">
              <a:ext uri="{FF2B5EF4-FFF2-40B4-BE49-F238E27FC236}">
                <a16:creationId xmlns:a16="http://schemas.microsoft.com/office/drawing/2014/main" id="{2E6C1082-3FA2-4EC6-80B1-32A17866428C}"/>
              </a:ext>
            </a:extLst>
          </p:cNvPr>
          <p:cNvSpPr>
            <a:spLocks xmlns:a="http://schemas.openxmlformats.org/drawingml/2006/main" noGrp="1"/>
          </p:cNvSpPr>
          <p:nvPr/>
        </p:nvSpPr>
        <p:spPr>
          <a:xfrm xmlns:a="http://schemas.openxmlformats.org/drawingml/2006/main">
            <a:off x="609600" y="40195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Saved answers survive refresh; late choices cannot change a settled result.</a:t>
            </a:r>
          </a:p>
        </p:txBody>
      </p:sp>
      <p:sp>
        <p:nvSpPr>
          <p:cNvPr id="9" name="">
            <a:extLst xmlns:a="http://schemas.openxmlformats.org/drawingml/2006/main">
              <a:ext uri="{FF2B5EF4-FFF2-40B4-BE49-F238E27FC236}">
                <a16:creationId xmlns:a16="http://schemas.microsoft.com/office/drawing/2014/main" id="{D43D48DF-F6D9-4559-928A-92A50B62C17D}"/>
              </a:ext>
            </a:extLst>
          </p:cNvPr>
          <p:cNvSpPr>
            <a:spLocks xmlns:a="http://schemas.openxmlformats.org/drawingml/2006/main" noGrp="1"/>
          </p:cNvSpPr>
          <p:nvPr/>
        </p:nvSpPr>
        <p:spPr>
          <a:xfrm xmlns:a="http://schemas.openxmlformats.org/drawingml/2006/main">
            <a:off x="609600" y="44577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Concurrent requests</a:t>
            </a:r>
          </a:p>
        </p:txBody>
      </p:sp>
      <p:sp>
        <p:nvSpPr>
          <p:cNvPr id="10" name="">
            <a:extLst xmlns:a="http://schemas.openxmlformats.org/drawingml/2006/main">
              <a:ext uri="{FF2B5EF4-FFF2-40B4-BE49-F238E27FC236}">
                <a16:creationId xmlns:a16="http://schemas.microsoft.com/office/drawing/2014/main" id="{087402F6-A3BC-4AFD-A614-E75E55844759}"/>
              </a:ext>
            </a:extLst>
          </p:cNvPr>
          <p:cNvSpPr>
            <a:spLocks xmlns:a="http://schemas.openxmlformats.org/drawingml/2006/main" noGrp="1"/>
          </p:cNvSpPr>
          <p:nvPr/>
        </p:nvSpPr>
        <p:spPr>
          <a:xfrm xmlns:a="http://schemas.openxmlformats.org/drawingml/2006/main">
            <a:off x="609600" y="48387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Six simultaneous starts resolve to one active attempt using a database lock.</a:t>
            </a:r>
          </a:p>
        </p:txBody>
      </p:sp>
      <p:sp>
        <p:nvSpPr>
          <p:cNvPr id="11" name="">
            <a:extLst xmlns:a="http://schemas.openxmlformats.org/drawingml/2006/main">
              <a:ext uri="{FF2B5EF4-FFF2-40B4-BE49-F238E27FC236}">
                <a16:creationId xmlns:a16="http://schemas.microsoft.com/office/drawing/2014/main" id="{EC34402A-E6DA-4606-BF13-F58959225174}"/>
              </a:ext>
            </a:extLst>
          </p:cNvPr>
          <p:cNvSpPr>
            <a:spLocks xmlns:a="http://schemas.openxmlformats.org/drawingml/2006/main" noGrp="1"/>
          </p:cNvSpPr>
          <p:nvPr/>
        </p:nvSpPr>
        <p:spPr>
          <a:xfrm xmlns:a="http://schemas.openxmlformats.org/drawingml/2006/main">
            <a:off x="609600" y="52768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Access and lifecycle checks</a:t>
            </a:r>
          </a:p>
        </p:txBody>
      </p:sp>
      <p:sp>
        <p:nvSpPr>
          <p:cNvPr id="12" name="">
            <a:extLst xmlns:a="http://schemas.openxmlformats.org/drawingml/2006/main">
              <a:ext uri="{FF2B5EF4-FFF2-40B4-BE49-F238E27FC236}">
                <a16:creationId xmlns:a16="http://schemas.microsoft.com/office/drawing/2014/main" id="{6B3DBC32-354D-40F8-A7FC-30E63637C00B}"/>
              </a:ext>
            </a:extLst>
          </p:cNvPr>
          <p:cNvSpPr>
            <a:spLocks xmlns:a="http://schemas.openxmlformats.org/drawingml/2006/main" noGrp="1"/>
          </p:cNvSpPr>
          <p:nvPr/>
        </p:nvSpPr>
        <p:spPr>
          <a:xfrm xmlns:a="http://schemas.openxmlformats.org/drawingml/2006/main">
            <a:off x="609600" y="56578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Role/ownership, scoring, expiry, bootstrap and real servlet HTTP tests.</a:t>
            </a:r>
          </a:p>
        </p:txBody>
      </p:sp>
    </p:spTree>
    <p:extLst>
      <p:ext uri="{BB962C8B-B14F-4D97-AF65-F5344CB8AC3E}">
        <p14:creationId xmlns:p14="http://schemas.microsoft.com/office/powerpoint/2010/main" val="1595144439"/>
      </p:ext>
    </p:extLst>
  </p:cSld>
</p:sld>
</file>

<file path=ppt/slides/slide1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C330A-10E7-4B56-8826-2213918A706A}"/>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REVIEW COVERAGE</a:t>
            </a:r>
          </a:p>
        </p:txBody>
      </p:sp>
      <p:sp>
        <p:nvSpPr>
          <p:cNvPr id="2" name="">
            <a:extLst xmlns:a="http://schemas.openxmlformats.org/drawingml/2006/main">
              <a:ext uri="{FF2B5EF4-FFF2-40B4-BE49-F238E27FC236}">
                <a16:creationId xmlns:a16="http://schemas.microsoft.com/office/drawing/2014/main" id="{A87BC61A-2081-485C-B627-5250B6BF5D90}"/>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Java web marking rubric</a:t>
            </a:r>
          </a:p>
        </p:txBody>
      </p:sp>
      <p:sp>
        <p:nvSpPr>
          <p:cNvPr id="3" name="">
            <a:extLst xmlns:a="http://schemas.openxmlformats.org/drawingml/2006/main">
              <a:ext uri="{FF2B5EF4-FFF2-40B4-BE49-F238E27FC236}">
                <a16:creationId xmlns:a16="http://schemas.microsoft.com/office/drawing/2014/main" id="{B3FD5A8C-4770-4AE6-9EB5-5D75E8EC5564}"/>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68EA55A0-DCF9-44CA-83F0-4D59E0EB609A}"/>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5C15AB6B-84D6-4825-9AA7-AD8706FAB11E}"/>
              </a:ext>
            </a:extLst>
          </p:cNvPr>
          <p:cNvGraphicFramePr/>
          <p:nvPr/>
        </p:nvGraphicFramePr>
        <p:xfrm>
          <a:off xmlns:a="http://schemas.openxmlformats.org/drawingml/2006/main" x="609600" y="1714500"/>
          <a:ext xmlns:a="http://schemas.openxmlformats.org/drawingml/2006/main" cx="10972800" cy="3829050"/>
        </p:xfrm>
        <a:graphic xmlns:a="http://schemas.openxmlformats.org/drawingml/2006/main">
          <a:graphicData uri="http://schemas.openxmlformats.org/drawingml/2006/table">
            <a:tbl>
              <a:tblPr/>
              <a:tblGrid>
                <a:gridCol w="3952875"/>
                <a:gridCol w="1571625"/>
                <a:gridCol w="5448300"/>
              </a:tblGrid>
              <a:tr h="638175">
                <a:tc>
                  <a:txBody>
                    <a:bodyPr/>
                    <a:lstStyle/>
                    <a:p>
                      <a:r>
                        <a:rPr sz="1800" b="1">
                          <a:solidFill>
                            <a:srgbClr val="F5F2E9"/>
                          </a:solidFill>
                          <a:latin typeface="Arial"/>
                          <a:ea typeface="Arial"/>
                          <a:cs typeface="Arial"/>
                        </a:rPr>
                        <a:t>Criterion</a:t>
                      </a:r>
                    </a:p>
                  </a:txBody>
                  <a:tcPr marL="133350" marR="133350" marT="114300" marB="114300">
                    <a:lnL w="9525">
                      <a:solidFill>
                        <a:srgbClr val="BBC5B6"/>
                      </a:solidFill>
                    </a:lnL>
                    <a:lnR w="9525">
                      <a:solidFill>
                        <a:srgbClr val="BBC5B6"/>
                      </a:solidFill>
                    </a:lnR>
                    <a:lnT w="9525">
                      <a:solidFill>
                        <a:srgbClr val="BBC5B6"/>
                      </a:solidFill>
                    </a:lnT>
                    <a:lnB w="9525">
                      <a:solidFill>
                        <a:srgbClr val="BBC5B6"/>
                      </a:solidFill>
                    </a:lnB>
                    <a:solidFill>
                      <a:srgbClr val="253F33"/>
                    </a:solidFill>
                  </a:tcPr>
                </a:tc>
                <a:tc>
                  <a:txBody>
                    <a:bodyPr/>
                    <a:lstStyle/>
                    <a:p>
                      <a:r>
                        <a:rPr sz="1800" b="1">
                          <a:solidFill>
                            <a:srgbClr val="F5F2E9"/>
                          </a:solidFill>
                          <a:latin typeface="Arial"/>
                          <a:ea typeface="Arial"/>
                          <a:cs typeface="Arial"/>
                        </a:rPr>
                        <a:t>Maximum</a:t>
                      </a:r>
                    </a:p>
                  </a:txBody>
                  <a:tcPr marL="133350" marR="133350" marT="114300" marB="114300">
                    <a:lnR w="9525">
                      <a:solidFill>
                        <a:srgbClr val="BBC5B6"/>
                      </a:solidFill>
                    </a:lnR>
                    <a:lnT w="9525">
                      <a:solidFill>
                        <a:srgbClr val="BBC5B6"/>
                      </a:solidFill>
                    </a:lnT>
                    <a:lnB w="9525">
                      <a:solidFill>
                        <a:srgbClr val="BBC5B6"/>
                      </a:solidFill>
                    </a:lnB>
                    <a:solidFill>
                      <a:srgbClr val="253F33"/>
                    </a:solidFill>
                  </a:tcPr>
                </a:tc>
                <a:tc>
                  <a:txBody>
                    <a:bodyPr/>
                    <a:lstStyle/>
                    <a:p>
                      <a:r>
                        <a:rPr sz="1800" b="1">
                          <a:solidFill>
                            <a:srgbClr val="F5F2E9"/>
                          </a:solidFill>
                          <a:latin typeface="Arial"/>
                          <a:ea typeface="Arial"/>
                          <a:cs typeface="Arial"/>
                        </a:rPr>
                        <a:t>Evidence in this project</a:t>
                      </a:r>
                    </a:p>
                  </a:txBody>
                  <a:tcPr marL="133350" marR="133350" marT="114300" marB="114300">
                    <a:lnR w="9525">
                      <a:solidFill>
                        <a:srgbClr val="BBC5B6"/>
                      </a:solidFill>
                    </a:lnR>
                    <a:lnT w="9525">
                      <a:solidFill>
                        <a:srgbClr val="BBC5B6"/>
                      </a:solidFill>
                    </a:lnT>
                    <a:lnB w="9525">
                      <a:solidFill>
                        <a:srgbClr val="BBC5B6"/>
                      </a:solidFill>
                    </a:lnB>
                    <a:solidFill>
                      <a:srgbClr val="253F33"/>
                    </a:solidFill>
                  </a:tcPr>
                </a:tc>
              </a:tr>
              <a:tr h="638175">
                <a:tc>
                  <a:txBody>
                    <a:bodyPr/>
                    <a:lstStyle/>
                    <a:p>
                      <a:r>
                        <a:rPr sz="1800">
                          <a:solidFill>
                            <a:srgbClr val="253F33"/>
                          </a:solidFill>
                          <a:latin typeface="Arial"/>
                          <a:ea typeface="Arial"/>
                          <a:cs typeface="Arial"/>
                        </a:rPr>
                        <a:t>Problem understanding &amp; design</a:t>
                      </a:r>
                    </a:p>
                  </a:txBody>
                  <a:tcPr marL="133350" marR="133350" marT="114300" marB="114300">
                    <a:lnL w="9525">
                      <a:solidFill>
                        <a:srgbClr val="BBC5B6"/>
                      </a:solidFill>
                    </a:lnL>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8</a:t>
                      </a:r>
                    </a:p>
                  </a:txBody>
                  <a:tcPr marL="133350" marR="133350" marT="114300" marB="114300">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Roles, architecture and database design</a:t>
                      </a:r>
                    </a:p>
                  </a:txBody>
                  <a:tcPr marL="133350" marR="133350" marT="114300" marB="114300">
                    <a:lnR w="9525">
                      <a:solidFill>
                        <a:srgbClr val="BBC5B6"/>
                      </a:solidFill>
                    </a:lnR>
                    <a:lnB w="9525">
                      <a:solidFill>
                        <a:srgbClr val="BBC5B6"/>
                      </a:solidFill>
                    </a:lnB>
                    <a:solidFill>
                      <a:srgbClr val="F5F2E9"/>
                    </a:solidFill>
                  </a:tcPr>
                </a:tc>
              </a:tr>
              <a:tr h="638175">
                <a:tc>
                  <a:txBody>
                    <a:bodyPr/>
                    <a:lstStyle/>
                    <a:p>
                      <a:r>
                        <a:rPr sz="1800">
                          <a:solidFill>
                            <a:srgbClr val="253F33"/>
                          </a:solidFill>
                          <a:latin typeface="Arial"/>
                          <a:ea typeface="Arial"/>
                          <a:cs typeface="Arial"/>
                        </a:rPr>
                        <a:t>Core Java concepts</a:t>
                      </a:r>
                    </a:p>
                  </a:txBody>
                  <a:tcPr marL="133350" marR="133350" marT="114300" marB="114300">
                    <a:lnL w="9525">
                      <a:solidFill>
                        <a:srgbClr val="BBC5B6"/>
                      </a:solidFill>
                    </a:lnL>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10</a:t>
                      </a:r>
                    </a:p>
                  </a:txBody>
                  <a:tcPr marL="133350" marR="133350" marT="114300" marB="114300">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Interfaces, record, generics, exceptions</a:t>
                      </a:r>
                    </a:p>
                  </a:txBody>
                  <a:tcPr marL="133350" marR="133350" marT="114300" marB="114300">
                    <a:lnR w="9525">
                      <a:solidFill>
                        <a:srgbClr val="BBC5B6"/>
                      </a:solidFill>
                    </a:lnR>
                    <a:lnB w="9525">
                      <a:solidFill>
                        <a:srgbClr val="BBC5B6"/>
                      </a:solidFill>
                    </a:lnB>
                    <a:solidFill>
                      <a:srgbClr val="F5F2E9"/>
                    </a:solidFill>
                  </a:tcPr>
                </a:tc>
              </a:tr>
              <a:tr h="638175">
                <a:tc>
                  <a:txBody>
                    <a:bodyPr/>
                    <a:lstStyle/>
                    <a:p>
                      <a:r>
                        <a:rPr sz="1800">
                          <a:solidFill>
                            <a:srgbClr val="253F33"/>
                          </a:solidFill>
                          <a:latin typeface="Arial"/>
                          <a:ea typeface="Arial"/>
                          <a:cs typeface="Arial"/>
                        </a:rPr>
                        <a:t>Database integration (JDBC)</a:t>
                      </a:r>
                    </a:p>
                  </a:txBody>
                  <a:tcPr marL="133350" marR="133350" marT="114300" marB="114300">
                    <a:lnL w="9525">
                      <a:solidFill>
                        <a:srgbClr val="BBC5B6"/>
                      </a:solidFill>
                    </a:lnL>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8</a:t>
                      </a:r>
                    </a:p>
                  </a:txBody>
                  <a:tcPr marL="133350" marR="133350" marT="114300" marB="114300">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Prepared JDBC, constraints, transactions</a:t>
                      </a:r>
                    </a:p>
                  </a:txBody>
                  <a:tcPr marL="133350" marR="133350" marT="114300" marB="114300">
                    <a:lnR w="9525">
                      <a:solidFill>
                        <a:srgbClr val="BBC5B6"/>
                      </a:solidFill>
                    </a:lnR>
                    <a:lnB w="9525">
                      <a:solidFill>
                        <a:srgbClr val="BBC5B6"/>
                      </a:solidFill>
                    </a:lnB>
                    <a:solidFill>
                      <a:srgbClr val="F5F2E9"/>
                    </a:solidFill>
                  </a:tcPr>
                </a:tc>
              </a:tr>
              <a:tr h="638175">
                <a:tc>
                  <a:txBody>
                    <a:bodyPr/>
                    <a:lstStyle/>
                    <a:p>
                      <a:r>
                        <a:rPr sz="1800">
                          <a:solidFill>
                            <a:srgbClr val="253F33"/>
                          </a:solidFill>
                          <a:latin typeface="Arial"/>
                          <a:ea typeface="Arial"/>
                          <a:cs typeface="Arial"/>
                        </a:rPr>
                        <a:t>Servlets &amp; web integration</a:t>
                      </a:r>
                    </a:p>
                  </a:txBody>
                  <a:tcPr marL="133350" marR="133350" marT="114300" marB="114300">
                    <a:lnL w="9525">
                      <a:solidFill>
                        <a:srgbClr val="BBC5B6"/>
                      </a:solidFill>
                    </a:lnL>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7</a:t>
                      </a:r>
                    </a:p>
                  </a:txBody>
                  <a:tcPr marL="133350" marR="133350" marT="114300" marB="114300">
                    <a:lnR w="9525">
                      <a:solidFill>
                        <a:srgbClr val="BBC5B6"/>
                      </a:solidFill>
                    </a:lnR>
                    <a:lnB w="9525">
                      <a:solidFill>
                        <a:srgbClr val="BBC5B6"/>
                      </a:solidFill>
                    </a:lnB>
                    <a:solidFill>
                      <a:srgbClr val="F5F2E9"/>
                    </a:solidFill>
                  </a:tcPr>
                </a:tc>
                <a:tc>
                  <a:txBody>
                    <a:bodyPr/>
                    <a:lstStyle/>
                    <a:p>
                      <a:r>
                        <a:rPr sz="1800">
                          <a:solidFill>
                            <a:srgbClr val="253F33"/>
                          </a:solidFill>
                          <a:latin typeface="Arial"/>
                          <a:ea typeface="Arial"/>
                          <a:cs typeface="Arial"/>
                        </a:rPr>
                        <a:t>REST routes and native report servlet</a:t>
                      </a:r>
                    </a:p>
                  </a:txBody>
                  <a:tcPr marL="133350" marR="133350" marT="114300" marB="114300">
                    <a:lnR w="9525">
                      <a:solidFill>
                        <a:srgbClr val="BBC5B6"/>
                      </a:solidFill>
                    </a:lnR>
                    <a:lnB w="9525">
                      <a:solidFill>
                        <a:srgbClr val="BBC5B6"/>
                      </a:solidFill>
                    </a:lnB>
                    <a:solidFill>
                      <a:srgbClr val="F5F2E9"/>
                    </a:solidFill>
                  </a:tcPr>
                </a:tc>
              </a:tr>
              <a:tr h="638175">
                <a:tc>
                  <a:txBody>
                    <a:bodyPr/>
                    <a:lstStyle/>
                    <a:p>
                      <a:r>
                        <a:rPr sz="1800" b="1">
                          <a:solidFill>
                            <a:srgbClr val="253F33"/>
                          </a:solidFill>
                          <a:latin typeface="Arial"/>
                          <a:ea typeface="Arial"/>
                          <a:cs typeface="Arial"/>
                        </a:rPr>
                        <a:t>Total available</a:t>
                      </a:r>
                    </a:p>
                  </a:txBody>
                  <a:tcPr marL="133350" marR="133350" marT="114300" marB="114300">
                    <a:lnL w="9525">
                      <a:solidFill>
                        <a:srgbClr val="BBC5B6"/>
                      </a:solidFill>
                    </a:lnL>
                    <a:lnR w="9525">
                      <a:solidFill>
                        <a:srgbClr val="BBC5B6"/>
                      </a:solidFill>
                    </a:lnR>
                    <a:lnB w="9525">
                      <a:solidFill>
                        <a:srgbClr val="BBC5B6"/>
                      </a:solidFill>
                    </a:lnB>
                    <a:solidFill>
                      <a:srgbClr val="E2E8D8"/>
                    </a:solidFill>
                  </a:tcPr>
                </a:tc>
                <a:tc>
                  <a:txBody>
                    <a:bodyPr/>
                    <a:lstStyle/>
                    <a:p>
                      <a:r>
                        <a:rPr sz="1800" b="1">
                          <a:solidFill>
                            <a:srgbClr val="253F33"/>
                          </a:solidFill>
                          <a:latin typeface="Arial"/>
                          <a:ea typeface="Arial"/>
                          <a:cs typeface="Arial"/>
                        </a:rPr>
                        <a:t>33</a:t>
                      </a:r>
                    </a:p>
                  </a:txBody>
                  <a:tcPr marL="133350" marR="133350" marT="114300" marB="114300">
                    <a:lnR w="9525">
                      <a:solidFill>
                        <a:srgbClr val="BBC5B6"/>
                      </a:solidFill>
                    </a:lnR>
                    <a:lnB w="9525">
                      <a:solidFill>
                        <a:srgbClr val="BBC5B6"/>
                      </a:solidFill>
                    </a:lnB>
                    <a:solidFill>
                      <a:srgbClr val="E2E8D8"/>
                    </a:solidFill>
                  </a:tcPr>
                </a:tc>
                <a:tc>
                  <a:txBody>
                    <a:bodyPr/>
                    <a:lstStyle/>
                    <a:p>
                      <a:r>
                        <a:rPr sz="1800" b="1">
                          <a:solidFill>
                            <a:srgbClr val="253F33"/>
                          </a:solidFill>
                          <a:latin typeface="Arial"/>
                          <a:ea typeface="Arial"/>
                          <a:cs typeface="Arial"/>
                        </a:rPr>
                        <a:t>Reviewer awards the final score</a:t>
                      </a:r>
                    </a:p>
                  </a:txBody>
                  <a:tcPr marL="133350" marR="133350" marT="114300" marB="114300">
                    <a:lnR w="9525">
                      <a:solidFill>
                        <a:srgbClr val="BBC5B6"/>
                      </a:solidFill>
                    </a:lnR>
                    <a:lnB w="9525">
                      <a:solidFill>
                        <a:srgbClr val="BBC5B6"/>
                      </a:solidFill>
                    </a:lnB>
                    <a:solidFill>
                      <a:srgbClr val="E2E8D8"/>
                    </a:solidFill>
                  </a:tcPr>
                </a:tc>
              </a:tr>
            </a:tbl>
          </a:graphicData>
        </a:graphic>
      </p:graphicFrame>
      <p:sp>
        <p:nvSpPr>
          <p:cNvPr id="6" name="">
            <a:extLst xmlns:a="http://schemas.openxmlformats.org/drawingml/2006/main">
              <a:ext uri="{FF2B5EF4-FFF2-40B4-BE49-F238E27FC236}">
                <a16:creationId xmlns:a16="http://schemas.microsoft.com/office/drawing/2014/main" id="{0FF34829-377D-44F8-96DA-F6AB16421EDD}"/>
              </a:ext>
            </a:extLst>
          </p:cNvPr>
          <p:cNvSpPr>
            <a:spLocks xmlns:a="http://schemas.openxmlformats.org/drawingml/2006/main" noGrp="1"/>
          </p:cNvSpPr>
          <p:nvPr/>
        </p:nvSpPr>
        <p:spPr>
          <a:xfrm xmlns:a="http://schemas.openxmlformats.org/drawingml/2006/main">
            <a:off x="609600" y="58293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D583D"/>
                </a:solidFill>
                <a:latin typeface="Arial"/>
                <a:ea typeface="Arial"/>
                <a:cs typeface="Arial"/>
              </a:defRPr>
            </a:defPPr>
          </a:lstStyle>
          <a:p xmlns:a="http://schemas.openxmlformats.org/drawingml/2006/main">
            <a:pPr>
              <a:defRPr sz="1800" b="0">
                <a:solidFill>
                  <a:srgbClr val="AD583D"/>
                </a:solidFill>
                <a:latin typeface="Arial"/>
                <a:ea typeface="Arial"/>
                <a:cs typeface="Arial"/>
              </a:defRPr>
            </a:pPr>
            <a:r>
              <a:rPr sz="1800" b="0">
                <a:solidFill>
                  <a:srgbClr val="AD583D"/>
                </a:solidFill>
                <a:latin typeface="Arial"/>
                <a:ea typeface="Arial"/>
                <a:cs typeface="Arial"/>
              </a:rPr>
              <a:t>This is the web rubric. The separate GUI rubric is a different category.</a:t>
            </a:r>
          </a:p>
        </p:txBody>
      </p:sp>
    </p:spTree>
    <p:extLst>
      <p:ext uri="{BB962C8B-B14F-4D97-AF65-F5344CB8AC3E}">
        <p14:creationId xmlns:p14="http://schemas.microsoft.com/office/powerpoint/2010/main" val="1571530152"/>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C72842-50A2-4892-93E7-373C9D03C855}"/>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DEMO &amp; REPOSITORY</a:t>
            </a:r>
          </a:p>
        </p:txBody>
      </p:sp>
      <p:sp>
        <p:nvSpPr>
          <p:cNvPr id="2" name="">
            <a:extLst xmlns:a="http://schemas.openxmlformats.org/drawingml/2006/main">
              <a:ext uri="{FF2B5EF4-FFF2-40B4-BE49-F238E27FC236}">
                <a16:creationId xmlns:a16="http://schemas.microsoft.com/office/drawing/2014/main" id="{30DBFB3F-E9F2-409E-9D68-DCBC8F945877}"/>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Run and review the project</a:t>
            </a:r>
          </a:p>
        </p:txBody>
      </p:sp>
      <p:sp>
        <p:nvSpPr>
          <p:cNvPr id="3" name="">
            <a:extLst xmlns:a="http://schemas.openxmlformats.org/drawingml/2006/main">
              <a:ext uri="{FF2B5EF4-FFF2-40B4-BE49-F238E27FC236}">
                <a16:creationId xmlns:a16="http://schemas.microsoft.com/office/drawing/2014/main" id="{BE2E6FA8-1FA1-4C42-9B1C-74A74307F696}"/>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23816DBF-1127-4E4E-8ED1-078CE06ED40B}"/>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A4B3F65-834E-413B-B568-E7B63F4DEA42}"/>
              </a:ext>
            </a:extLst>
          </p:cNvPr>
          <p:cNvSpPr>
            <a:spLocks xmlns:a="http://schemas.openxmlformats.org/drawingml/2006/main" noGrp="1"/>
          </p:cNvSpPr>
          <p:nvPr/>
        </p:nvSpPr>
        <p:spPr>
          <a:xfrm xmlns:a="http://schemas.openxmlformats.org/drawingml/2006/main">
            <a:off x="609600" y="1714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Local requirements</a:t>
            </a:r>
          </a:p>
        </p:txBody>
      </p:sp>
      <p:sp>
        <p:nvSpPr>
          <p:cNvPr id="6" name="">
            <a:extLst xmlns:a="http://schemas.openxmlformats.org/drawingml/2006/main">
              <a:ext uri="{FF2B5EF4-FFF2-40B4-BE49-F238E27FC236}">
                <a16:creationId xmlns:a16="http://schemas.microsoft.com/office/drawing/2014/main" id="{A18BC4B3-6F6A-4909-97CA-3FF585A62C47}"/>
              </a:ext>
            </a:extLst>
          </p:cNvPr>
          <p:cNvSpPr>
            <a:spLocks xmlns:a="http://schemas.openxmlformats.org/drawingml/2006/main" noGrp="1"/>
          </p:cNvSpPr>
          <p:nvPr/>
        </p:nvSpPr>
        <p:spPr>
          <a:xfrm xmlns:a="http://schemas.openxmlformats.org/drawingml/2006/main">
            <a:off x="609600" y="2095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Java 17 and Maven 3.9+; run mvn spring-boot:run.</a:t>
            </a:r>
          </a:p>
        </p:txBody>
      </p:sp>
      <p:sp>
        <p:nvSpPr>
          <p:cNvPr id="7" name="">
            <a:extLst xmlns:a="http://schemas.openxmlformats.org/drawingml/2006/main">
              <a:ext uri="{FF2B5EF4-FFF2-40B4-BE49-F238E27FC236}">
                <a16:creationId xmlns:a16="http://schemas.microsoft.com/office/drawing/2014/main" id="{CAC895BF-3035-4A89-B305-806CD65963FB}"/>
              </a:ext>
            </a:extLst>
          </p:cNvPr>
          <p:cNvSpPr>
            <a:spLocks xmlns:a="http://schemas.openxmlformats.org/drawingml/2006/main" noGrp="1"/>
          </p:cNvSpPr>
          <p:nvPr/>
        </p:nvSpPr>
        <p:spPr>
          <a:xfrm xmlns:a="http://schemas.openxmlformats.org/drawingml/2006/main">
            <a:off x="609600" y="2809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Demo walkthrough</a:t>
            </a:r>
          </a:p>
        </p:txBody>
      </p:sp>
      <p:sp>
        <p:nvSpPr>
          <p:cNvPr id="8" name="">
            <a:extLst xmlns:a="http://schemas.openxmlformats.org/drawingml/2006/main">
              <a:ext uri="{FF2B5EF4-FFF2-40B4-BE49-F238E27FC236}">
                <a16:creationId xmlns:a16="http://schemas.microsoft.com/office/drawing/2014/main" id="{DA0D2AD1-4F7D-4C0E-9756-68D6FCE6ABCF}"/>
              </a:ext>
            </a:extLst>
          </p:cNvPr>
          <p:cNvSpPr>
            <a:spLocks xmlns:a="http://schemas.openxmlformats.org/drawingml/2006/main" noGrp="1"/>
          </p:cNvSpPr>
          <p:nvPr/>
        </p:nvSpPr>
        <p:spPr>
          <a:xfrm xmlns:a="http://schemas.openxmlformats.org/drawingml/2006/main">
            <a:off x="609600" y="3190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Register → sign in → take quiz → report → creator → admin approval.</a:t>
            </a:r>
          </a:p>
        </p:txBody>
      </p:sp>
      <p:sp>
        <p:nvSpPr>
          <p:cNvPr id="9" name="">
            <a:extLst xmlns:a="http://schemas.openxmlformats.org/drawingml/2006/main">
              <a:ext uri="{FF2B5EF4-FFF2-40B4-BE49-F238E27FC236}">
                <a16:creationId xmlns:a16="http://schemas.microsoft.com/office/drawing/2014/main" id="{0634AFFB-9B0D-4FB2-BCFA-772B804801EF}"/>
              </a:ext>
            </a:extLst>
          </p:cNvPr>
          <p:cNvSpPr>
            <a:spLocks xmlns:a="http://schemas.openxmlformats.org/drawingml/2006/main" noGrp="1"/>
          </p:cNvSpPr>
          <p:nvPr/>
        </p:nvSpPr>
        <p:spPr>
          <a:xfrm xmlns:a="http://schemas.openxmlformats.org/drawingml/2006/main">
            <a:off x="609600" y="3905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Repository documentation</a:t>
            </a:r>
          </a:p>
        </p:txBody>
      </p:sp>
      <p:sp>
        <p:nvSpPr>
          <p:cNvPr id="10" name="">
            <a:extLst xmlns:a="http://schemas.openxmlformats.org/drawingml/2006/main">
              <a:ext uri="{FF2B5EF4-FFF2-40B4-BE49-F238E27FC236}">
                <a16:creationId xmlns:a16="http://schemas.microsoft.com/office/drawing/2014/main" id="{DF2F7FFD-1466-4774-8A6B-9F4C60660CB8}"/>
              </a:ext>
            </a:extLst>
          </p:cNvPr>
          <p:cNvSpPr>
            <a:spLocks xmlns:a="http://schemas.openxmlformats.org/drawingml/2006/main" noGrp="1"/>
          </p:cNvSpPr>
          <p:nvPr/>
        </p:nvSpPr>
        <p:spPr>
          <a:xfrm xmlns:a="http://schemas.openxmlformats.org/drawingml/2006/main">
            <a:off x="609600" y="4286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README, architecture, Review 1 evidence, deployment guide and viva notes.</a:t>
            </a:r>
          </a:p>
        </p:txBody>
      </p:sp>
      <p:sp>
        <p:nvSpPr>
          <p:cNvPr id="11" name="">
            <a:extLst xmlns:a="http://schemas.openxmlformats.org/drawingml/2006/main">
              <a:ext uri="{FF2B5EF4-FFF2-40B4-BE49-F238E27FC236}">
                <a16:creationId xmlns:a16="http://schemas.microsoft.com/office/drawing/2014/main" id="{06072862-851F-44FB-AA1E-D64FAD833A51}"/>
              </a:ext>
            </a:extLst>
          </p:cNvPr>
          <p:cNvSpPr>
            <a:spLocks xmlns:a="http://schemas.openxmlformats.org/drawingml/2006/main" noGrp="1"/>
          </p:cNvSpPr>
          <p:nvPr/>
        </p:nvSpPr>
        <p:spPr>
          <a:xfrm xmlns:a="http://schemas.openxmlformats.org/drawingml/2006/main">
            <a:off x="609600" y="5248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D583D"/>
                </a:solidFill>
                <a:latin typeface="Arial"/>
                <a:ea typeface="Arial"/>
                <a:cs typeface="Arial"/>
              </a:defRPr>
            </a:defPPr>
          </a:lstStyle>
          <a:p xmlns:a="http://schemas.openxmlformats.org/drawingml/2006/main">
            <a:pPr>
              <a:defRPr sz="2250" b="1">
                <a:solidFill>
                  <a:srgbClr val="AD583D"/>
                </a:solidFill>
                <a:latin typeface="Arial"/>
                <a:ea typeface="Arial"/>
                <a:cs typeface="Arial"/>
              </a:defRPr>
            </a:pPr>
            <a:r>
              <a:rPr sz="2250" b="1">
                <a:solidFill>
                  <a:srgbClr val="AD583D"/>
                </a:solidFill>
                <a:latin typeface="Arial"/>
                <a:ea typeface="Arial"/>
                <a:cs typeface="Arial"/>
              </a:rPr>
              <a:t>github.com/muskanbuilds11/</a:t>
            </a:r>
          </a:p>
          <a:p xmlns:a="http://schemas.openxmlformats.org/drawingml/2006/main">
            <a:pPr>
              <a:defRPr sz="2250" b="1">
                <a:solidFill>
                  <a:srgbClr val="AD583D"/>
                </a:solidFill>
                <a:latin typeface="Arial"/>
                <a:ea typeface="Arial"/>
                <a:cs typeface="Arial"/>
              </a:defRPr>
            </a:pPr>
            <a:r>
              <a:rPr sz="2250" b="1">
                <a:solidFill>
                  <a:srgbClr val="AD583D"/>
                </a:solidFill>
                <a:latin typeface="Arial"/>
                <a:ea typeface="Arial"/>
                <a:cs typeface="Arial"/>
              </a:rPr>
              <a:t>java-online-quiz-platform</a:t>
            </a:r>
          </a:p>
        </p:txBody>
      </p:sp>
    </p:spTree>
    <p:extLst>
      <p:ext uri="{BB962C8B-B14F-4D97-AF65-F5344CB8AC3E}">
        <p14:creationId xmlns:p14="http://schemas.microsoft.com/office/powerpoint/2010/main" val="1010739324"/>
      </p:ext>
    </p:extLst>
  </p:cSld>
</p:sld>
</file>

<file path=ppt/slides/slide1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75C5D9-8795-47E8-B8E1-B4F4E2EA9116}"/>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DEMONSTRATION ACCESS</a:t>
            </a:r>
          </a:p>
        </p:txBody>
      </p:sp>
      <p:sp>
        <p:nvSpPr>
          <p:cNvPr id="2" name="">
            <a:extLst xmlns:a="http://schemas.openxmlformats.org/drawingml/2006/main">
              <a:ext uri="{FF2B5EF4-FFF2-40B4-BE49-F238E27FC236}">
                <a16:creationId xmlns:a16="http://schemas.microsoft.com/office/drawing/2014/main" id="{FCC43C81-3ED7-4E94-9622-28B39AFC978A}"/>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Local demo login credentials</a:t>
            </a:r>
          </a:p>
        </p:txBody>
      </p:sp>
      <p:sp>
        <p:nvSpPr>
          <p:cNvPr id="3" name="">
            <a:extLst xmlns:a="http://schemas.openxmlformats.org/drawingml/2006/main">
              <a:ext uri="{FF2B5EF4-FFF2-40B4-BE49-F238E27FC236}">
                <a16:creationId xmlns:a16="http://schemas.microsoft.com/office/drawing/2014/main" id="{ABF26330-E5B2-4B36-A851-C81F633B0729}"/>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17C82ED5-1D00-4E18-94CD-1F33E2E205E9}"/>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1EEDB10E-62B1-478F-B98E-5D8767AF1351}"/>
              </a:ext>
            </a:extLst>
          </p:cNvPr>
          <p:cNvGraphicFramePr/>
          <p:nvPr/>
        </p:nvGraphicFramePr>
        <p:xfrm>
          <a:off xmlns:a="http://schemas.openxmlformats.org/drawingml/2006/main" x="609600" y="1743075"/>
          <a:ext xmlns:a="http://schemas.openxmlformats.org/drawingml/2006/main" cx="10972800" cy="2857500"/>
        </p:xfrm>
        <a:graphic xmlns:a="http://schemas.openxmlformats.org/drawingml/2006/main">
          <a:graphicData uri="http://schemas.openxmlformats.org/drawingml/2006/table">
            <a:tbl>
              <a:tblPr/>
              <a:tblGrid>
                <a:gridCol w="4000500"/>
                <a:gridCol w="6972300"/>
              </a:tblGrid>
              <a:tr h="714375">
                <a:tc>
                  <a:txBody>
                    <a:bodyPr/>
                    <a:lstStyle/>
                    <a:p>
                      <a:r>
                        <a:rPr sz="2175" b="1">
                          <a:solidFill>
                            <a:srgbClr val="F5F2E9"/>
                          </a:solidFill>
                          <a:latin typeface="Arial"/>
                          <a:ea typeface="Arial"/>
                          <a:cs typeface="Arial"/>
                        </a:rPr>
                        <a:t>Role</a:t>
                      </a:r>
                    </a:p>
                  </a:txBody>
                  <a:tcPr marL="171450" marR="171450" marT="161925" marB="161925">
                    <a:lnL w="9525">
                      <a:solidFill>
                        <a:srgbClr val="BBC5B6"/>
                      </a:solidFill>
                    </a:lnL>
                    <a:lnR w="9525">
                      <a:solidFill>
                        <a:srgbClr val="BBC5B6"/>
                      </a:solidFill>
                    </a:lnR>
                    <a:lnT w="9525">
                      <a:solidFill>
                        <a:srgbClr val="BBC5B6"/>
                      </a:solidFill>
                    </a:lnT>
                    <a:lnB w="9525">
                      <a:solidFill>
                        <a:srgbClr val="BBC5B6"/>
                      </a:solidFill>
                    </a:lnB>
                    <a:solidFill>
                      <a:srgbClr val="253F33"/>
                    </a:solidFill>
                  </a:tcPr>
                </a:tc>
                <a:tc>
                  <a:txBody>
                    <a:bodyPr/>
                    <a:lstStyle/>
                    <a:p>
                      <a:r>
                        <a:rPr sz="2175" b="1">
                          <a:solidFill>
                            <a:srgbClr val="F5F2E9"/>
                          </a:solidFill>
                          <a:latin typeface="Arial"/>
                          <a:ea typeface="Arial"/>
                          <a:cs typeface="Arial"/>
                        </a:rPr>
                        <a:t>Email address</a:t>
                      </a:r>
                    </a:p>
                  </a:txBody>
                  <a:tcPr marL="171450" marR="171450" marT="161925" marB="161925">
                    <a:lnR w="9525">
                      <a:solidFill>
                        <a:srgbClr val="BBC5B6"/>
                      </a:solidFill>
                    </a:lnR>
                    <a:lnT w="9525">
                      <a:solidFill>
                        <a:srgbClr val="BBC5B6"/>
                      </a:solidFill>
                    </a:lnT>
                    <a:lnB w="9525">
                      <a:solidFill>
                        <a:srgbClr val="BBC5B6"/>
                      </a:solidFill>
                    </a:lnB>
                    <a:solidFill>
                      <a:srgbClr val="253F33"/>
                    </a:solidFill>
                  </a:tcPr>
                </a:tc>
              </a:tr>
              <a:tr h="714375">
                <a:tc>
                  <a:txBody>
                    <a:bodyPr/>
                    <a:lstStyle/>
                    <a:p>
                      <a:r>
                        <a:rPr sz="2175">
                          <a:solidFill>
                            <a:srgbClr val="253F33"/>
                          </a:solidFill>
                          <a:latin typeface="Arial"/>
                          <a:ea typeface="Arial"/>
                          <a:cs typeface="Arial"/>
                        </a:rPr>
                        <a:t>Administrator</a:t>
                      </a:r>
                    </a:p>
                  </a:txBody>
                  <a:tcPr marL="171450" marR="171450" marT="161925" marB="161925">
                    <a:lnL w="9525">
                      <a:solidFill>
                        <a:srgbClr val="BBC5B6"/>
                      </a:solidFill>
                    </a:lnL>
                    <a:lnR w="9525">
                      <a:solidFill>
                        <a:srgbClr val="BBC5B6"/>
                      </a:solidFill>
                    </a:lnR>
                    <a:lnB w="9525">
                      <a:solidFill>
                        <a:srgbClr val="BBC5B6"/>
                      </a:solidFill>
                    </a:lnB>
                    <a:solidFill>
                      <a:srgbClr val="F5F2E9"/>
                    </a:solidFill>
                  </a:tcPr>
                </a:tc>
                <a:tc>
                  <a:txBody>
                    <a:bodyPr/>
                    <a:lstStyle/>
                    <a:p>
                      <a:r>
                        <a:rPr sz="2175">
                          <a:solidFill>
                            <a:srgbClr val="253F33"/>
                          </a:solidFill>
                          <a:latin typeface="Arial"/>
                          <a:ea typeface="Arial"/>
                          <a:cs typeface="Arial"/>
                        </a:rPr>
                        <a:t>admin@quizcraft.dev</a:t>
                      </a:r>
                    </a:p>
                  </a:txBody>
                  <a:tcPr marL="171450" marR="171450" marT="161925" marB="161925">
                    <a:lnR w="9525">
                      <a:solidFill>
                        <a:srgbClr val="BBC5B6"/>
                      </a:solidFill>
                    </a:lnR>
                    <a:lnB w="9525">
                      <a:solidFill>
                        <a:srgbClr val="BBC5B6"/>
                      </a:solidFill>
                    </a:lnB>
                    <a:solidFill>
                      <a:srgbClr val="F5F2E9"/>
                    </a:solidFill>
                  </a:tcPr>
                </a:tc>
              </a:tr>
              <a:tr h="714375">
                <a:tc>
                  <a:txBody>
                    <a:bodyPr/>
                    <a:lstStyle/>
                    <a:p>
                      <a:r>
                        <a:rPr sz="2175">
                          <a:solidFill>
                            <a:srgbClr val="253F33"/>
                          </a:solidFill>
                          <a:latin typeface="Arial"/>
                          <a:ea typeface="Arial"/>
                          <a:cs typeface="Arial"/>
                        </a:rPr>
                        <a:t>Quiz creator</a:t>
                      </a:r>
                    </a:p>
                  </a:txBody>
                  <a:tcPr marL="171450" marR="171450" marT="161925" marB="161925">
                    <a:lnL w="9525">
                      <a:solidFill>
                        <a:srgbClr val="BBC5B6"/>
                      </a:solidFill>
                    </a:lnL>
                    <a:lnR w="9525">
                      <a:solidFill>
                        <a:srgbClr val="BBC5B6"/>
                      </a:solidFill>
                    </a:lnR>
                    <a:lnB w="9525">
                      <a:solidFill>
                        <a:srgbClr val="BBC5B6"/>
                      </a:solidFill>
                    </a:lnB>
                    <a:solidFill>
                      <a:srgbClr val="F5F2E9"/>
                    </a:solidFill>
                  </a:tcPr>
                </a:tc>
                <a:tc>
                  <a:txBody>
                    <a:bodyPr/>
                    <a:lstStyle/>
                    <a:p>
                      <a:r>
                        <a:rPr sz="2175">
                          <a:solidFill>
                            <a:srgbClr val="253F33"/>
                          </a:solidFill>
                          <a:latin typeface="Arial"/>
                          <a:ea typeface="Arial"/>
                          <a:cs typeface="Arial"/>
                        </a:rPr>
                        <a:t>creator@quizcraft.dev</a:t>
                      </a:r>
                    </a:p>
                  </a:txBody>
                  <a:tcPr marL="171450" marR="171450" marT="161925" marB="161925">
                    <a:lnR w="9525">
                      <a:solidFill>
                        <a:srgbClr val="BBC5B6"/>
                      </a:solidFill>
                    </a:lnR>
                    <a:lnB w="9525">
                      <a:solidFill>
                        <a:srgbClr val="BBC5B6"/>
                      </a:solidFill>
                    </a:lnB>
                    <a:solidFill>
                      <a:srgbClr val="F5F2E9"/>
                    </a:solidFill>
                  </a:tcPr>
                </a:tc>
              </a:tr>
              <a:tr h="714375">
                <a:tc>
                  <a:txBody>
                    <a:bodyPr/>
                    <a:lstStyle/>
                    <a:p>
                      <a:r>
                        <a:rPr sz="2175">
                          <a:solidFill>
                            <a:srgbClr val="253F33"/>
                          </a:solidFill>
                          <a:latin typeface="Arial"/>
                          <a:ea typeface="Arial"/>
                          <a:cs typeface="Arial"/>
                        </a:rPr>
                        <a:t>Participant</a:t>
                      </a:r>
                    </a:p>
                  </a:txBody>
                  <a:tcPr marL="171450" marR="171450" marT="161925" marB="161925">
                    <a:lnL w="9525">
                      <a:solidFill>
                        <a:srgbClr val="BBC5B6"/>
                      </a:solidFill>
                    </a:lnL>
                    <a:lnR w="9525">
                      <a:solidFill>
                        <a:srgbClr val="BBC5B6"/>
                      </a:solidFill>
                    </a:lnR>
                    <a:lnB w="9525">
                      <a:solidFill>
                        <a:srgbClr val="BBC5B6"/>
                      </a:solidFill>
                    </a:lnB>
                    <a:solidFill>
                      <a:srgbClr val="F5F2E9"/>
                    </a:solidFill>
                  </a:tcPr>
                </a:tc>
                <a:tc>
                  <a:txBody>
                    <a:bodyPr/>
                    <a:lstStyle/>
                    <a:p>
                      <a:r>
                        <a:rPr sz="2175">
                          <a:solidFill>
                            <a:srgbClr val="253F33"/>
                          </a:solidFill>
                          <a:latin typeface="Arial"/>
                          <a:ea typeface="Arial"/>
                          <a:cs typeface="Arial"/>
                        </a:rPr>
                        <a:t>participant@quizcraft.dev</a:t>
                      </a:r>
                    </a:p>
                  </a:txBody>
                  <a:tcPr marL="171450" marR="171450" marT="161925" marB="161925">
                    <a:lnR w="9525">
                      <a:solidFill>
                        <a:srgbClr val="BBC5B6"/>
                      </a:solidFill>
                    </a:lnR>
                    <a:lnB w="9525">
                      <a:solidFill>
                        <a:srgbClr val="BBC5B6"/>
                      </a:solidFill>
                    </a:lnB>
                    <a:solidFill>
                      <a:srgbClr val="F5F2E9"/>
                    </a:solidFill>
                  </a:tcPr>
                </a:tc>
              </a:tr>
            </a:tbl>
          </a:graphicData>
        </a:graphic>
      </p:graphicFrame>
      <p:sp>
        <p:nvSpPr>
          <p:cNvPr id="6" name="">
            <a:extLst xmlns:a="http://schemas.openxmlformats.org/drawingml/2006/main">
              <a:ext uri="{FF2B5EF4-FFF2-40B4-BE49-F238E27FC236}">
                <a16:creationId xmlns:a16="http://schemas.microsoft.com/office/drawing/2014/main" id="{52B1193B-9709-4728-AE8E-F7575011A3D5}"/>
              </a:ext>
            </a:extLst>
          </p:cNvPr>
          <p:cNvSpPr>
            <a:spLocks xmlns:a="http://schemas.openxmlformats.org/drawingml/2006/main" noGrp="1"/>
          </p:cNvSpPr>
          <p:nvPr/>
        </p:nvSpPr>
        <p:spPr>
          <a:xfrm xmlns:a="http://schemas.openxmlformats.org/drawingml/2006/main">
            <a:off x="609600" y="4953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AD583D"/>
                </a:solidFill>
                <a:latin typeface="Arial"/>
                <a:ea typeface="Arial"/>
                <a:cs typeface="Arial"/>
              </a:defRPr>
            </a:defPPr>
          </a:lstStyle>
          <a:p xmlns:a="http://schemas.openxmlformats.org/drawingml/2006/main">
            <a:pPr>
              <a:defRPr sz="2550" b="1">
                <a:solidFill>
                  <a:srgbClr val="AD583D"/>
                </a:solidFill>
                <a:latin typeface="Arial"/>
                <a:ea typeface="Arial"/>
                <a:cs typeface="Arial"/>
              </a:defRPr>
            </a:pPr>
            <a:r>
              <a:rPr sz="2550" b="1">
                <a:solidFill>
                  <a:srgbClr val="AD583D"/>
                </a:solidFill>
                <a:latin typeface="Arial"/>
                <a:ea typeface="Arial"/>
                <a:cs typeface="Arial"/>
              </a:rPr>
              <a:t>Password for all three: JavaLab@123</a:t>
            </a:r>
          </a:p>
        </p:txBody>
      </p:sp>
      <p:sp>
        <p:nvSpPr>
          <p:cNvPr id="7" name="">
            <a:extLst xmlns:a="http://schemas.openxmlformats.org/drawingml/2006/main">
              <a:ext uri="{FF2B5EF4-FFF2-40B4-BE49-F238E27FC236}">
                <a16:creationId xmlns:a16="http://schemas.microsoft.com/office/drawing/2014/main" id="{FE65C4FB-34F7-4095-BD1B-CD976CEBA85C}"/>
              </a:ext>
            </a:extLst>
          </p:cNvPr>
          <p:cNvSpPr>
            <a:spLocks xmlns:a="http://schemas.openxmlformats.org/drawingml/2006/main" noGrp="1"/>
          </p:cNvSpPr>
          <p:nvPr/>
        </p:nvSpPr>
        <p:spPr>
          <a:xfrm xmlns:a="http://schemas.openxmlformats.org/drawingml/2006/main">
            <a:off x="609600" y="57721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Normal users create an account first. Admin creates creator accounts.</a:t>
            </a:r>
          </a:p>
        </p:txBody>
      </p:sp>
    </p:spTree>
    <p:extLst>
      <p:ext uri="{BB962C8B-B14F-4D97-AF65-F5344CB8AC3E}">
        <p14:creationId xmlns:p14="http://schemas.microsoft.com/office/powerpoint/2010/main" val="1355623438"/>
      </p:ext>
    </p:extLst>
  </p:cSld>
</p:sld>
</file>

<file path=ppt/slides/slide1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3B1A3A-A0E6-4039-A813-AB0D9FB28B3E}"/>
              </a:ext>
            </a:extLst>
          </p:cNvPr>
          <p:cNvSpPr>
            <a:spLocks xmlns:a="http://schemas.openxmlformats.org/drawingml/2006/main" noGrp="1"/>
          </p:cNvSpPr>
          <p:nvPr/>
        </p:nvSpPr>
        <p:spPr>
          <a:xfrm xmlns:a="http://schemas.openxmlformats.org/drawingml/2006/main">
            <a:off x="609600" y="323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AD583D"/>
                </a:solidFill>
                <a:latin typeface="Arial"/>
                <a:ea typeface="Arial"/>
                <a:cs typeface="Arial"/>
              </a:defRPr>
            </a:defPPr>
          </a:lstStyle>
          <a:p xmlns:a="http://schemas.openxmlformats.org/drawingml/2006/main">
            <a:pPr>
              <a:defRPr sz="1425" b="1">
                <a:solidFill>
                  <a:srgbClr val="AD583D"/>
                </a:solidFill>
                <a:latin typeface="Arial"/>
                <a:ea typeface="Arial"/>
                <a:cs typeface="Arial"/>
              </a:defRPr>
            </a:pPr>
            <a:r>
              <a:rPr sz="1425" b="1">
                <a:solidFill>
                  <a:srgbClr val="AD583D"/>
                </a:solidFill>
                <a:latin typeface="Arial"/>
                <a:ea typeface="Arial"/>
                <a:cs typeface="Arial"/>
              </a:rPr>
              <a:t>HOSTING</a:t>
            </a:r>
          </a:p>
        </p:txBody>
      </p:sp>
      <p:sp>
        <p:nvSpPr>
          <p:cNvPr id="2" name="">
            <a:extLst xmlns:a="http://schemas.openxmlformats.org/drawingml/2006/main">
              <a:ext uri="{FF2B5EF4-FFF2-40B4-BE49-F238E27FC236}">
                <a16:creationId xmlns:a16="http://schemas.microsoft.com/office/drawing/2014/main" id="{D604AD7B-9EAB-48AD-B31C-BDCA4672CB23}"/>
              </a:ext>
            </a:extLst>
          </p:cNvPr>
          <p:cNvSpPr>
            <a:spLocks xmlns:a="http://schemas.openxmlformats.org/drawingml/2006/main" noGrp="1"/>
          </p:cNvSpPr>
          <p:nvPr/>
        </p:nvSpPr>
        <p:spPr>
          <a:xfrm xmlns:a="http://schemas.openxmlformats.org/drawingml/2006/main">
            <a:off x="609600" y="790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253F33"/>
                </a:solidFill>
                <a:latin typeface="Georgia"/>
                <a:ea typeface="Georgia"/>
                <a:cs typeface="Georgia"/>
              </a:defRPr>
            </a:defPPr>
          </a:lstStyle>
          <a:p xmlns:a="http://schemas.openxmlformats.org/drawingml/2006/main">
            <a:pPr>
              <a:defRPr sz="3450" b="0">
                <a:solidFill>
                  <a:srgbClr val="253F33"/>
                </a:solidFill>
                <a:latin typeface="Georgia"/>
                <a:ea typeface="Georgia"/>
                <a:cs typeface="Georgia"/>
              </a:defRPr>
            </a:pPr>
            <a:r>
              <a:rPr sz="3450" b="0">
                <a:solidFill>
                  <a:srgbClr val="253F33"/>
                </a:solidFill>
                <a:latin typeface="Georgia"/>
                <a:ea typeface="Georgia"/>
                <a:cs typeface="Georgia"/>
              </a:rPr>
              <a:t>Cloud deployment</a:t>
            </a:r>
          </a:p>
        </p:txBody>
      </p:sp>
      <p:sp>
        <p:nvSpPr>
          <p:cNvPr id="3" name="">
            <a:extLst xmlns:a="http://schemas.openxmlformats.org/drawingml/2006/main">
              <a:ext uri="{FF2B5EF4-FFF2-40B4-BE49-F238E27FC236}">
                <a16:creationId xmlns:a16="http://schemas.microsoft.com/office/drawing/2014/main" id="{5255E50A-E22A-4CFB-BFC9-2DFB7CCC3DB7}"/>
              </a:ext>
            </a:extLst>
          </p:cNvPr>
          <p:cNvSpPr>
            <a:spLocks xmlns:a="http://schemas.openxmlformats.org/drawingml/2006/main" noGrp="1"/>
          </p:cNvSpPr>
          <p:nvPr/>
        </p:nvSpPr>
        <p:spPr>
          <a:xfrm xmlns:a="http://schemas.openxmlformats.org/drawingml/2006/main">
            <a:off x="609600" y="64579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QUIZNOVA  /  JAVA PRACTICE STUDIO</a:t>
            </a:r>
          </a:p>
        </p:txBody>
      </p:sp>
      <p:sp>
        <p:nvSpPr>
          <p:cNvPr id="4" name="">
            <a:extLst xmlns:a="http://schemas.openxmlformats.org/drawingml/2006/main">
              <a:ext uri="{FF2B5EF4-FFF2-40B4-BE49-F238E27FC236}">
                <a16:creationId xmlns:a16="http://schemas.microsoft.com/office/drawing/2014/main" id="{8BB741FC-A07F-40D8-AD40-7593D8A67C7F}"/>
              </a:ext>
            </a:extLst>
          </p:cNvPr>
          <p:cNvSpPr>
            <a:spLocks xmlns:a="http://schemas.openxmlformats.org/drawingml/2006/main" noGrp="1"/>
          </p:cNvSpPr>
          <p:nvPr/>
        </p:nvSpPr>
        <p:spPr>
          <a:xfrm xmlns:a="http://schemas.openxmlformats.org/drawingml/2006/main">
            <a:off x="11049000" y="64579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695F"/>
                </a:solidFill>
                <a:latin typeface="Arial"/>
                <a:ea typeface="Arial"/>
                <a:cs typeface="Arial"/>
              </a:defRPr>
            </a:defPPr>
          </a:lstStyle>
          <a:p xmlns:a="http://schemas.openxmlformats.org/drawingml/2006/main">
            <a:pPr>
              <a:defRPr sz="1200" b="0">
                <a:solidFill>
                  <a:srgbClr val="5E695F"/>
                </a:solidFill>
                <a:latin typeface="Arial"/>
                <a:ea typeface="Arial"/>
                <a:cs typeface="Arial"/>
              </a:defRPr>
            </a:pPr>
            <a:r>
              <a:rPr sz="1200" b="0">
                <a:solidFill>
                  <a:srgbClr val="5E695F"/>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EF3B05EF-3A26-4814-AD84-89ACBBA86846}"/>
              </a:ext>
            </a:extLst>
          </p:cNvPr>
          <p:cNvSpPr>
            <a:spLocks xmlns:a="http://schemas.openxmlformats.org/drawingml/2006/main" noGrp="1"/>
          </p:cNvSpPr>
          <p:nvPr/>
        </p:nvSpPr>
        <p:spPr>
          <a:xfrm xmlns:a="http://schemas.openxmlformats.org/drawingml/2006/main">
            <a:off x="609600" y="1714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Render Free + Neon PostgreSQL</a:t>
            </a:r>
          </a:p>
        </p:txBody>
      </p:sp>
      <p:sp>
        <p:nvSpPr>
          <p:cNvPr id="6" name="">
            <a:extLst xmlns:a="http://schemas.openxmlformats.org/drawingml/2006/main">
              <a:ext uri="{FF2B5EF4-FFF2-40B4-BE49-F238E27FC236}">
                <a16:creationId xmlns:a16="http://schemas.microsoft.com/office/drawing/2014/main" id="{FBF13A5E-6A95-45ED-96B0-8B3CB9767829}"/>
              </a:ext>
            </a:extLst>
          </p:cNvPr>
          <p:cNvSpPr>
            <a:spLocks xmlns:a="http://schemas.openxmlformats.org/drawingml/2006/main" noGrp="1"/>
          </p:cNvSpPr>
          <p:nvPr/>
        </p:nvSpPr>
        <p:spPr>
          <a:xfrm xmlns:a="http://schemas.openxmlformats.org/drawingml/2006/main">
            <a:off x="609600" y="2095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Java Docker service and a persistent PostgreSQL database in Singapore.</a:t>
            </a:r>
          </a:p>
        </p:txBody>
      </p:sp>
      <p:sp>
        <p:nvSpPr>
          <p:cNvPr id="7" name="">
            <a:extLst xmlns:a="http://schemas.openxmlformats.org/drawingml/2006/main">
              <a:ext uri="{FF2B5EF4-FFF2-40B4-BE49-F238E27FC236}">
                <a16:creationId xmlns:a16="http://schemas.microsoft.com/office/drawing/2014/main" id="{91712309-A384-4B57-8A70-FD3DF6E4F8BB}"/>
              </a:ext>
            </a:extLst>
          </p:cNvPr>
          <p:cNvSpPr>
            <a:spLocks xmlns:a="http://schemas.openxmlformats.org/drawingml/2006/main" noGrp="1"/>
          </p:cNvSpPr>
          <p:nvPr/>
        </p:nvSpPr>
        <p:spPr>
          <a:xfrm xmlns:a="http://schemas.openxmlformats.org/drawingml/2006/main">
            <a:off x="609600" y="28194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Private administrator access</a:t>
            </a:r>
          </a:p>
        </p:txBody>
      </p:sp>
      <p:sp>
        <p:nvSpPr>
          <p:cNvPr id="8" name="">
            <a:extLst xmlns:a="http://schemas.openxmlformats.org/drawingml/2006/main">
              <a:ext uri="{FF2B5EF4-FFF2-40B4-BE49-F238E27FC236}">
                <a16:creationId xmlns:a16="http://schemas.microsoft.com/office/drawing/2014/main" id="{A0F390AF-4DED-4DD1-96BF-1B5CFB5FC37D}"/>
              </a:ext>
            </a:extLst>
          </p:cNvPr>
          <p:cNvSpPr>
            <a:spLocks xmlns:a="http://schemas.openxmlformats.org/drawingml/2006/main" noGrp="1"/>
          </p:cNvSpPr>
          <p:nvPr/>
        </p:nvSpPr>
        <p:spPr>
          <a:xfrm xmlns:a="http://schemas.openxmlformats.org/drawingml/2006/main">
            <a:off x="609600" y="3200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Use the configured admin email and private password. Local demo logins stay local.</a:t>
            </a:r>
          </a:p>
        </p:txBody>
      </p:sp>
      <p:sp>
        <p:nvSpPr>
          <p:cNvPr id="9" name="">
            <a:extLst xmlns:a="http://schemas.openxmlformats.org/drawingml/2006/main">
              <a:ext uri="{FF2B5EF4-FFF2-40B4-BE49-F238E27FC236}">
                <a16:creationId xmlns:a16="http://schemas.microsoft.com/office/drawing/2014/main" id="{598A8E44-C627-41E2-9C70-06DCF6B4EE9A}"/>
              </a:ext>
            </a:extLst>
          </p:cNvPr>
          <p:cNvSpPr>
            <a:spLocks xmlns:a="http://schemas.openxmlformats.org/drawingml/2006/main" noGrp="1"/>
          </p:cNvSpPr>
          <p:nvPr/>
        </p:nvSpPr>
        <p:spPr>
          <a:xfrm xmlns:a="http://schemas.openxmlformats.org/drawingml/2006/main">
            <a:off x="609600" y="3924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Free hosting behavior</a:t>
            </a:r>
          </a:p>
        </p:txBody>
      </p:sp>
      <p:sp>
        <p:nvSpPr>
          <p:cNvPr id="10" name="">
            <a:extLst xmlns:a="http://schemas.openxmlformats.org/drawingml/2006/main">
              <a:ext uri="{FF2B5EF4-FFF2-40B4-BE49-F238E27FC236}">
                <a16:creationId xmlns:a16="http://schemas.microsoft.com/office/drawing/2014/main" id="{B790AA26-A274-4220-A066-2F1F5EB9D9BE}"/>
              </a:ext>
            </a:extLst>
          </p:cNvPr>
          <p:cNvSpPr>
            <a:spLocks xmlns:a="http://schemas.openxmlformats.org/drawingml/2006/main" noGrp="1"/>
          </p:cNvSpPr>
          <p:nvPr/>
        </p:nvSpPr>
        <p:spPr>
          <a:xfrm xmlns:a="http://schemas.openxmlformats.org/drawingml/2006/main">
            <a:off x="609600" y="4305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53F33"/>
                </a:solidFill>
                <a:latin typeface="Arial"/>
                <a:ea typeface="Arial"/>
                <a:cs typeface="Arial"/>
              </a:defRPr>
            </a:defPPr>
          </a:lstStyle>
          <a:p xmlns:a="http://schemas.openxmlformats.org/drawingml/2006/main">
            <a:pPr>
              <a:defRPr sz="1800" b="0">
                <a:solidFill>
                  <a:srgbClr val="253F33"/>
                </a:solidFill>
                <a:latin typeface="Arial"/>
                <a:ea typeface="Arial"/>
                <a:cs typeface="Arial"/>
              </a:defRPr>
            </a:pPr>
            <a:r>
              <a:rPr sz="1800" b="0">
                <a:solidFill>
                  <a:srgbClr val="253F33"/>
                </a:solidFill>
                <a:latin typeface="Arial"/>
                <a:ea typeface="Arial"/>
                <a:cs typeface="Arial"/>
              </a:rPr>
              <a:t>The service sleeps after inactivity. Allow 50 seconds or more for a cold start.</a:t>
            </a:r>
          </a:p>
        </p:txBody>
      </p:sp>
      <p:sp>
        <p:nvSpPr>
          <p:cNvPr id="11" name="">
            <a:extLst xmlns:a="http://schemas.openxmlformats.org/drawingml/2006/main">
              <a:ext uri="{FF2B5EF4-FFF2-40B4-BE49-F238E27FC236}">
                <a16:creationId xmlns:a16="http://schemas.microsoft.com/office/drawing/2014/main" id="{C72F0374-BA83-459E-92BA-4DDA43FA176A}"/>
              </a:ext>
            </a:extLst>
          </p:cNvPr>
          <p:cNvSpPr>
            <a:spLocks xmlns:a="http://schemas.openxmlformats.org/drawingml/2006/main" noGrp="1"/>
          </p:cNvSpPr>
          <p:nvPr/>
        </p:nvSpPr>
        <p:spPr>
          <a:xfrm xmlns:a="http://schemas.openxmlformats.org/drawingml/2006/main">
            <a:off x="609600" y="5410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AD583D"/>
                </a:solidFill>
                <a:latin typeface="Arial"/>
                <a:ea typeface="Arial"/>
                <a:cs typeface="Arial"/>
              </a:defRPr>
            </a:defPPr>
          </a:lstStyle>
          <a:p xmlns:a="http://schemas.openxmlformats.org/drawingml/2006/main">
            <a:pPr>
              <a:defRPr sz="2100" b="1">
                <a:solidFill>
                  <a:srgbClr val="AD583D"/>
                </a:solidFill>
                <a:latin typeface="Arial"/>
                <a:ea typeface="Arial"/>
                <a:cs typeface="Arial"/>
              </a:defRPr>
            </a:pPr>
            <a:r>
              <a:rPr sz="2100" b="1">
                <a:solidFill>
                  <a:srgbClr val="AD583D"/>
                </a:solidFill>
                <a:latin typeface="Arial"/>
                <a:ea typeface="Arial"/>
                <a:cs typeface="Arial"/>
              </a:rPr>
              <a:t>https://quiznova-muskanbuilds11.onrender.com</a:t>
            </a:r>
          </a:p>
        </p:txBody>
      </p:sp>
    </p:spTree>
    <p:extLst>
      <p:ext uri="{BB962C8B-B14F-4D97-AF65-F5344CB8AC3E}">
        <p14:creationId xmlns:p14="http://schemas.microsoft.com/office/powerpoint/2010/main" val="1816796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2026-10-15T17:37:02.1700000Z</dcterms:created>
  <dcterms:modified xsi:type="dcterms:W3CDTF">2026-10-15T17:37:02.1700000Z</dcterms:modified>
</coreProperties>
</file>